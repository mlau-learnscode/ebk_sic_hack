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[0:00-0:08] "This is Groundwork. It gets first-time founders through funding applications they've never written before." Do not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[0:08-0:40 — 78 words. Slowest slide in the deck.]
"Ren is 24 and visually impaired. She runs a peer-support group for young adults losing their sight, and she wants to turn it into training she sells to employers.
At nineteen she registered a tutoring company. It never traded. It was struck off. She doesn't know that permanently disqualifies her from Startup SG Founder.
Right now she finds that out five months in, from a rejection email.
Three things are broken. Eligibility is invisible. One funder makes you retell your venture five times. And the whole pipeline assumes you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spoken in the 4 minutes. This slide exists so a judge reading the deck cold can see the work behind the rules engine.
If asked in Q&amp;A: "Every criterion in the engine came off the funder's own page, and each one carries the URL and the date we checked it. Where we couldn't verify a number, it doesn't block anyone — it shows up as a note telling the founder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[0:40-1:00 — part of the 74-word block with slide 5.]
"Every AI grant tool starts by asking you to upload your past proposals, your annual report, your logic model. Ren has none of those. That's the cold-start gap.
And every one of them is built to fill one form, once. Ren's funder makes her retell the same venture five times over four to six months. You can dodge the first gap by picking one funder. You cannot dodge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[1:00-1:10]
"The third row is the one that matters — following a single funder across every stage. Nobody else solves it.
Grantable helps organisations that have already written things write more things faster. Our founders have never written anything."
If pressed on competitors: say "according to industry reviews". Never assert their pricing as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[1:10-1:32 — 52 words]
"Three parts. A readiness check that tells you where you stand before you spend the hours. One profile that feeds every funder and every stage. And an intake built for someone using a screen reader.
One line to remember: AI drafts, extracts and translates. It never decides eligibility, and it never submits."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[1:32-3:02 — 90 SECONDS. THE MOST HEAVILY SCORED PART OF THE PITCH.]
Open already mid-conversation. Do NOT type questions live.
BEAT 1 (20s) — "Ren has been talking for two minutes. Notice it doesn't just take what she said, it says it back: 'So you'd be training employers, and you help around forty people a year. Have I got that right?' She corrects it here, not five months later."
BEAT 2 (25s) — "Three grants. Three different answers. Young ChangeMakers: apply now. VentureForGood: after two steps. Startup SG Founder: not a fit, and we tell her why — that struck-off company from when she was nineteen. Five months of work she now doesn't do."
BEAT 3 (25s) — "And it's not a checklist, it's an order. ACRA first, then raiSE, because raiSE won't accept an unregistered business. Reverse those and you've told her to do something impossible."
BEAT 4 (20s) — "Here's her answer in the funder's format. This highlight is the seam — that number came from us, not her. She confirms it before it goes near a funder."
IF IT BREAKS: talk the four beats off this slide, say "the engine behind it runs offline — I'll show you after", and move on. Do not debug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[3:02-3:22 — 48 words]
"The obvious question is what happens when the AI gets eligibility wrong. It can't. Eligibility isn't generated — it's a lookup against rules we wrote by hand, each carrying the funder's own URL and the date we checked it.
The screen you just saw works with the wifi switched off. That's the same design decision that makes it free to run."
IF ASKED whether the demo is live: "The eligibility engine you saw IS live — deterministic by design, which is why it can't hallucinate. The drafting outputs are pre-generated so the demo doesn't depend on venue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spoken in the 4 minutes — this is for the reader, and it is the answer to "did you actually think about this, or did you just generate it?"
If asked in Q&amp;A why no credit scoring: "Real problem. But we can't demo a lender agreeing to underwrite on it, and it puts a student prototype inside credit regulation. It's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spoken unless there is time or a judge asks how we know the rules are right.
Strong Q&amp;A answer: "Our own brief had three errors in it. We caught them by going back to the funders' pages. That's why every rule in the engine carries its source URL and the date we checked it — so the next error is findable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[3:22-3:40 — 44 words]
"We built for the hardest case on purpose. Design that works for a founder using a screen reader works for everyone behind her.
Persons with disabilities in Singapore have a 32.7% employment rate. Employment is being worked on. Self-employment isn't — we found no dedicated track."
Always "we found no", never "there is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[3:40-4:05 — 60 words]
"Founders never pay. The intermediaries do — raiSE, SG Enable, the mentor partners who screen these applications by hand today. They get pre-qualified, complete applications instead of half-finished ones.
To be straight with you: that's a pathway to revenue, not confirmed revenue. Nobody has told us they'd pay yet.
Three of us, three days, and every rule in the engine cites its source."
Say the "not confirmed revenue" line out loud. It defuses the obvious question and judges reward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[4:05-4:15 — 24 words. Land it and stop.]
"Singapore already built both halves of this for people who already have a company. Ren doesn't have one yet. That's the gap we sit in.
She finds out on day one, not month five."
Stop talking. Take the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Not presented. Exists so a judge reading the deck can audit any claim we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Strong Q&amp;A material — this is the clearest example of analysis a directory cannot do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Use the middle column if a judge asks what is real — being first to say what is mocked is much stronger than being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If a judge opens with a hard question, it is probably on this slide — answer from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A47"/>
        </a:solidFill>
      </p:bgPr>
    </p:bg>
    <p:spTree>
      <p:nvGrpSpPr>
        <p:cNvPr id="1" name=""/>
        <p:cNvGrpSpPr/>
        <p:nvPr/>
      </p:nvGrpSpPr>
      <p:grpSpPr>
        <a:xfrm>
          <a:off x="0" y="0"/>
          <a:ext cx="0" cy="0"/>
          <a:chOff x="0" y="0"/>
          <a:chExt cx="0" cy="0"/>
        </a:xfrm>
      </p:grpSpPr>
      <p:sp>
        <p:nvSpPr>
          <p:cNvPr id="2" name="Text 0"/>
          <p:cNvSpPr txBox="1"/>
          <p:nvPr/>
        </p:nvSpPr>
        <p:spPr>
          <a:xfrm>
            <a:off x="566928" y="1481328"/>
            <a:ext cx="8595360" cy="96012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Groundwork</a:t>
            </a:r>
            <a:endParaRPr lang="en-US" sz="5600" dirty="0"/>
          </a:p>
        </p:txBody>
      </p:sp>
      <p:sp>
        <p:nvSpPr>
          <p:cNvPr id="3" name="Text 1"/>
          <p:cNvSpPr txBox="1"/>
          <p:nvPr/>
        </p:nvSpPr>
        <p:spPr>
          <a:xfrm>
            <a:off x="566928" y="2505456"/>
            <a:ext cx="9509760" cy="457200"/>
          </a:xfrm>
          <a:prstGeom prst="rect">
            <a:avLst/>
          </a:prstGeom>
          <a:noFill/>
          <a:ln/>
        </p:spPr>
        <p:txBody>
          <a:bodyPr wrap="square" lIns="0" tIns="0" rIns="0" bIns="0" rtlCol="0" anchor="ctr"/>
          <a:lstStyle/>
          <a:p>
            <a:pPr indent="0" marL="0">
              <a:buNone/>
            </a:pPr>
            <a:r>
              <a:rPr lang="en-US" sz="1800" dirty="0">
                <a:solidFill>
                  <a:srgbClr val="BFD3D9"/>
                </a:solidFill>
                <a:latin typeface="Calibri" pitchFamily="34" charset="0"/>
                <a:ea typeface="Calibri" pitchFamily="34" charset="-122"/>
                <a:cs typeface="Calibri" pitchFamily="34" charset="-120"/>
              </a:rPr>
              <a:t>The first funding application, for founders who have never written one.</a:t>
            </a:r>
            <a:endParaRPr lang="en-US" sz="1800" dirty="0"/>
          </a:p>
        </p:txBody>
      </p:sp>
      <p:sp>
        <p:nvSpPr>
          <p:cNvPr id="4" name="Shape 2"/>
          <p:cNvSpPr/>
          <p:nvPr/>
        </p:nvSpPr>
        <p:spPr>
          <a:xfrm>
            <a:off x="566928" y="3200400"/>
            <a:ext cx="2011680" cy="0"/>
          </a:xfrm>
          <a:prstGeom prst="line">
            <a:avLst/>
          </a:prstGeom>
          <a:noFill/>
          <a:ln w="28575">
            <a:solidFill>
              <a:srgbClr val="1C7293"/>
            </a:solidFill>
            <a:prstDash val="solid"/>
          </a:ln>
        </p:spPr>
      </p:sp>
      <p:sp>
        <p:nvSpPr>
          <p:cNvPr id="5" name="Text 3"/>
          <p:cNvSpPr txBox="1"/>
          <p:nvPr/>
        </p:nvSpPr>
        <p:spPr>
          <a:xfrm>
            <a:off x="566928" y="3493008"/>
            <a:ext cx="2286000" cy="27432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Who it is for</a:t>
            </a:r>
            <a:endParaRPr lang="en-US" sz="1100" dirty="0"/>
          </a:p>
        </p:txBody>
      </p:sp>
      <p:sp>
        <p:nvSpPr>
          <p:cNvPr id="6" name="Text 4"/>
          <p:cNvSpPr txBox="1"/>
          <p:nvPr/>
        </p:nvSpPr>
        <p:spPr>
          <a:xfrm>
            <a:off x="2944368" y="3493008"/>
            <a:ext cx="7680960" cy="548640"/>
          </a:xfrm>
          <a:prstGeom prst="rect">
            <a:avLst/>
          </a:prstGeom>
          <a:noFill/>
          <a:ln/>
        </p:spPr>
        <p:txBody>
          <a:bodyPr wrap="square" lIns="0" tIns="0" rIns="0" bIns="0" rtlCol="0" anchor="ctr"/>
          <a:lstStyle/>
          <a:p>
            <a:pPr indent="0" marL="0">
              <a:lnSpc>
                <a:spcPts val="1600"/>
              </a:lnSpc>
              <a:buNone/>
            </a:pPr>
            <a:r>
              <a:rPr lang="en-US" sz="1250" dirty="0">
                <a:solidFill>
                  <a:srgbClr val="BFD3D9"/>
                </a:solidFill>
                <a:latin typeface="Calibri" pitchFamily="34" charset="0"/>
                <a:ea typeface="Calibri" pitchFamily="34" charset="-122"/>
                <a:cs typeface="Calibri" pitchFamily="34" charset="-120"/>
              </a:rPr>
              <a:t>Singapore youth, 18–35, with a disability, pre-incorporation, applying for the first time</a:t>
            </a:r>
            <a:endParaRPr lang="en-US" sz="1250" dirty="0"/>
          </a:p>
        </p:txBody>
      </p:sp>
      <p:sp>
        <p:nvSpPr>
          <p:cNvPr id="7" name="Text 5"/>
          <p:cNvSpPr txBox="1"/>
          <p:nvPr/>
        </p:nvSpPr>
        <p:spPr>
          <a:xfrm>
            <a:off x="566928" y="4151376"/>
            <a:ext cx="2286000" cy="27432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What it does</a:t>
            </a:r>
            <a:endParaRPr lang="en-US" sz="1100" dirty="0"/>
          </a:p>
        </p:txBody>
      </p:sp>
      <p:sp>
        <p:nvSpPr>
          <p:cNvPr id="8" name="Text 6"/>
          <p:cNvSpPr txBox="1"/>
          <p:nvPr/>
        </p:nvSpPr>
        <p:spPr>
          <a:xfrm>
            <a:off x="2944368" y="4151376"/>
            <a:ext cx="7680960" cy="548640"/>
          </a:xfrm>
          <a:prstGeom prst="rect">
            <a:avLst/>
          </a:prstGeom>
          <a:noFill/>
          <a:ln/>
        </p:spPr>
        <p:txBody>
          <a:bodyPr wrap="square" lIns="0" tIns="0" rIns="0" bIns="0" rtlCol="0" anchor="ctr"/>
          <a:lstStyle/>
          <a:p>
            <a:pPr indent="0" marL="0">
              <a:lnSpc>
                <a:spcPts val="1600"/>
              </a:lnSpc>
              <a:buNone/>
            </a:pPr>
            <a:r>
              <a:rPr lang="en-US" sz="1250" dirty="0">
                <a:solidFill>
                  <a:srgbClr val="BFD3D9"/>
                </a:solidFill>
                <a:latin typeface="Calibri" pitchFamily="34" charset="0"/>
                <a:ea typeface="Calibri" pitchFamily="34" charset="-122"/>
                <a:cs typeface="Calibri" pitchFamily="34" charset="-120"/>
              </a:rPr>
              <a:t>Tells you what you qualify for before you spend the hours, then drafts the application with you</a:t>
            </a:r>
            <a:endParaRPr lang="en-US" sz="1250" dirty="0"/>
          </a:p>
        </p:txBody>
      </p:sp>
      <p:sp>
        <p:nvSpPr>
          <p:cNvPr id="9" name="Text 7"/>
          <p:cNvSpPr txBox="1"/>
          <p:nvPr/>
        </p:nvSpPr>
        <p:spPr>
          <a:xfrm>
            <a:off x="566928" y="4809744"/>
            <a:ext cx="2286000" cy="27432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Why it is different</a:t>
            </a:r>
            <a:endParaRPr lang="en-US" sz="1100" dirty="0"/>
          </a:p>
        </p:txBody>
      </p:sp>
      <p:sp>
        <p:nvSpPr>
          <p:cNvPr id="10" name="Text 8"/>
          <p:cNvSpPr txBox="1"/>
          <p:nvPr/>
        </p:nvSpPr>
        <p:spPr>
          <a:xfrm>
            <a:off x="2944368" y="4809744"/>
            <a:ext cx="7680960" cy="548640"/>
          </a:xfrm>
          <a:prstGeom prst="rect">
            <a:avLst/>
          </a:prstGeom>
          <a:noFill/>
          <a:ln/>
        </p:spPr>
        <p:txBody>
          <a:bodyPr wrap="square" lIns="0" tIns="0" rIns="0" bIns="0" rtlCol="0" anchor="ctr"/>
          <a:lstStyle/>
          <a:p>
            <a:pPr indent="0" marL="0">
              <a:lnSpc>
                <a:spcPts val="1600"/>
              </a:lnSpc>
              <a:buNone/>
            </a:pPr>
            <a:r>
              <a:rPr lang="en-US" sz="1250" dirty="0">
                <a:solidFill>
                  <a:srgbClr val="BFD3D9"/>
                </a:solidFill>
                <a:latin typeface="Calibri" pitchFamily="34" charset="0"/>
                <a:ea typeface="Calibri" pitchFamily="34" charset="-122"/>
                <a:cs typeface="Calibri" pitchFamily="34" charset="-120"/>
              </a:rPr>
              <a:t>It assumes you have no documents to upload, and follows one funder across all five of its stages</a:t>
            </a:r>
            <a:endParaRPr lang="en-US" sz="1250" dirty="0"/>
          </a:p>
        </p:txBody>
      </p:sp>
      <p:sp>
        <p:nvSpPr>
          <p:cNvPr id="11" name="Text 9"/>
          <p:cNvSpPr txBox="1"/>
          <p:nvPr/>
        </p:nvSpPr>
        <p:spPr>
          <a:xfrm>
            <a:off x="566928" y="5797296"/>
            <a:ext cx="10972800" cy="274320"/>
          </a:xfrm>
          <a:prstGeom prst="rect">
            <a:avLst/>
          </a:prstGeom>
          <a:noFill/>
          <a:ln/>
        </p:spPr>
        <p:txBody>
          <a:bodyPr wrap="square" lIns="0" tIns="0" rIns="0" bIns="0" rtlCol="0" anchor="ctr"/>
          <a:lstStyle/>
          <a:p>
            <a:pPr indent="0" marL="0">
              <a:buNone/>
            </a:pPr>
            <a:r>
              <a:rPr lang="en-US" sz="1050" dirty="0">
                <a:solidFill>
                  <a:srgbClr val="7B9EAA"/>
                </a:solidFill>
                <a:latin typeface="Calibri" pitchFamily="34" charset="0"/>
                <a:ea typeface="Calibri" pitchFamily="34" charset="-122"/>
                <a:cs typeface="Calibri" pitchFamily="34" charset="-120"/>
              </a:rPr>
              <a:t>Vibe For Good 2026  ·  Challenge Statement #3, Social Impact Catalyst</a:t>
            </a:r>
            <a:endParaRPr lang="en-US" sz="1050" dirty="0"/>
          </a:p>
        </p:txBody>
      </p:sp>
      <p:sp>
        <p:nvSpPr>
          <p:cNvPr id="12" name="Text 10"/>
          <p:cNvSpPr txBox="1"/>
          <p:nvPr/>
        </p:nvSpPr>
        <p:spPr>
          <a:xfrm>
            <a:off x="566928" y="6089904"/>
            <a:ext cx="10972800" cy="274320"/>
          </a:xfrm>
          <a:prstGeom prst="rect">
            <a:avLst/>
          </a:prstGeom>
          <a:noFill/>
          <a:ln/>
        </p:spPr>
        <p:txBody>
          <a:bodyPr wrap="square" lIns="0" tIns="0" rIns="0" bIns="0" rtlCol="0" anchor="ctr"/>
          <a:lstStyle/>
          <a:p>
            <a:pPr indent="0" marL="0">
              <a:buNone/>
            </a:pPr>
            <a:r>
              <a:rPr lang="en-US" sz="1000" i="1" dirty="0">
                <a:solidFill>
                  <a:srgbClr val="5E8593"/>
                </a:solidFill>
                <a:latin typeface="Calibri" pitchFamily="34" charset="0"/>
                <a:ea typeface="Calibri" pitchFamily="34" charset="-122"/>
                <a:cs typeface="Calibri" pitchFamily="34" charset="-120"/>
              </a:rPr>
              <a:t>13 slides and a 4-slide appendix. Slides 3, 9 and 10 document how we researched the problem and what we chose not to build; they are written to be read, not presented.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THE FOUNDER WE BUILT FOR</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Problem</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Ren finds out five months in.</a:t>
            </a:r>
            <a:endParaRPr lang="en-US" sz="2700" dirty="0"/>
          </a:p>
        </p:txBody>
      </p:sp>
      <p:sp>
        <p:nvSpPr>
          <p:cNvPr id="6" name="Shape 4"/>
          <p:cNvSpPr/>
          <p:nvPr/>
        </p:nvSpPr>
        <p:spPr>
          <a:xfrm>
            <a:off x="566928" y="1335024"/>
            <a:ext cx="4480560" cy="4114800"/>
          </a:xfrm>
          <a:prstGeom prst="roundRect">
            <a:avLst>
              <a:gd name="adj" fmla="val 1556"/>
            </a:avLst>
          </a:prstGeom>
          <a:solidFill>
            <a:srgbClr val="EDF2F3"/>
          </a:solidFill>
          <a:ln w="9525">
            <a:solidFill>
              <a:srgbClr val="D5DFE2"/>
            </a:solidFill>
            <a:prstDash val="solid"/>
          </a:ln>
        </p:spPr>
      </p:sp>
      <p:sp>
        <p:nvSpPr>
          <p:cNvPr id="7" name="Text 5"/>
          <p:cNvSpPr txBox="1"/>
          <p:nvPr/>
        </p:nvSpPr>
        <p:spPr>
          <a:xfrm>
            <a:off x="841248" y="1572768"/>
            <a:ext cx="3931920" cy="384048"/>
          </a:xfrm>
          <a:prstGeom prst="rect">
            <a:avLst/>
          </a:prstGeom>
          <a:noFill/>
          <a:ln/>
        </p:spPr>
        <p:txBody>
          <a:bodyPr wrap="square" lIns="0" tIns="0" rIns="0" bIns="0" rtlCol="0" anchor="ctr"/>
          <a:lstStyle/>
          <a:p>
            <a:pPr indent="0" marL="0">
              <a:buNone/>
            </a:pPr>
            <a:r>
              <a:rPr lang="en-US" sz="2100" b="1" dirty="0">
                <a:solidFill>
                  <a:srgbClr val="123A47"/>
                </a:solidFill>
                <a:latin typeface="Cambria" pitchFamily="34" charset="0"/>
                <a:ea typeface="Cambria" pitchFamily="34" charset="-122"/>
                <a:cs typeface="Cambria" pitchFamily="34" charset="-120"/>
              </a:rPr>
              <a:t>Ren, 24</a:t>
            </a:r>
            <a:endParaRPr lang="en-US" sz="2100" dirty="0"/>
          </a:p>
        </p:txBody>
      </p:sp>
      <p:sp>
        <p:nvSpPr>
          <p:cNvPr id="8" name="Text 6"/>
          <p:cNvSpPr txBox="1"/>
          <p:nvPr/>
        </p:nvSpPr>
        <p:spPr>
          <a:xfrm>
            <a:off x="841248" y="2121408"/>
            <a:ext cx="3931920" cy="3108960"/>
          </a:xfrm>
          <a:prstGeom prst="rect">
            <a:avLst/>
          </a:prstGeom>
          <a:noFill/>
          <a:ln/>
        </p:spPr>
        <p:txBody>
          <a:bodyPr wrap="square" lIns="0" tIns="0" rIns="0" bIns="0" rtlCol="0" anchor="t"/>
          <a:lstStyle/>
          <a:p>
            <a:pPr indent="0" marL="0">
              <a:lnSpc>
                <a:spcPts val="1750"/>
              </a:lnSpc>
              <a:buNone/>
            </a:pPr>
            <a:r>
              <a:rPr lang="en-US" sz="1250" dirty="0">
                <a:solidFill>
                  <a:srgbClr val="2C5566"/>
                </a:solidFill>
                <a:latin typeface="Calibri" pitchFamily="34" charset="0"/>
                <a:ea typeface="Calibri" pitchFamily="34" charset="-122"/>
                <a:cs typeface="Calibri" pitchFamily="34" charset="-120"/>
              </a:rPr>
              <a:t>Visually impaired. Runs a peer-support group for young adults newly diagnosed with sight loss.</a:t>
            </a:r>
            <a:endParaRPr lang="en-US" sz="1250" dirty="0"/>
          </a:p>
          <a:p>
            <a:pPr indent="0" marL="0">
              <a:lnSpc>
                <a:spcPts val="1750"/>
              </a:lnSpc>
              <a:buNone/>
            </a:pPr>
            <a:endParaRPr lang="en-US" sz="1250" dirty="0"/>
          </a:p>
          <a:p>
            <a:pPr indent="0" marL="0">
              <a:lnSpc>
                <a:spcPts val="1750"/>
              </a:lnSpc>
              <a:buNone/>
            </a:pPr>
            <a:r>
              <a:rPr lang="en-US" sz="1250" dirty="0">
                <a:solidFill>
                  <a:srgbClr val="2C5566"/>
                </a:solidFill>
                <a:latin typeface="Calibri" pitchFamily="34" charset="0"/>
                <a:ea typeface="Calibri" pitchFamily="34" charset="-122"/>
                <a:cs typeface="Calibri" pitchFamily="34" charset="-120"/>
              </a:rPr>
              <a:t>Wants to turn it into disability-awareness training she sells to employers.</a:t>
            </a:r>
            <a:endParaRPr lang="en-US" sz="1250" dirty="0"/>
          </a:p>
          <a:p>
            <a:pPr indent="0" marL="0">
              <a:lnSpc>
                <a:spcPts val="1750"/>
              </a:lnSpc>
              <a:buNone/>
            </a:pPr>
            <a:endParaRPr lang="en-US" sz="1250" dirty="0"/>
          </a:p>
          <a:p>
            <a:pPr indent="0" marL="0">
              <a:lnSpc>
                <a:spcPts val="1750"/>
              </a:lnSpc>
              <a:buNone/>
            </a:pPr>
            <a:r>
              <a:rPr lang="en-US" sz="1250" b="1" dirty="0">
                <a:solidFill>
                  <a:srgbClr val="123A47"/>
                </a:solidFill>
                <a:latin typeface="Calibri" pitchFamily="34" charset="0"/>
                <a:ea typeface="Calibri" pitchFamily="34" charset="-122"/>
                <a:cs typeface="Calibri" pitchFamily="34" charset="-120"/>
              </a:rPr>
              <a:t>At 19 she registered a tutoring company. It never traded. It was struck off.</a:t>
            </a:r>
            <a:endParaRPr lang="en-US" sz="1250" dirty="0"/>
          </a:p>
          <a:p>
            <a:pPr indent="0" marL="0">
              <a:lnSpc>
                <a:spcPts val="1750"/>
              </a:lnSpc>
              <a:buNone/>
            </a:pPr>
            <a:endParaRPr lang="en-US" sz="1250" dirty="0"/>
          </a:p>
          <a:p>
            <a:pPr indent="0" marL="0">
              <a:lnSpc>
                <a:spcPts val="1750"/>
              </a:lnSpc>
              <a:buNone/>
            </a:pPr>
            <a:r>
              <a:rPr lang="en-US" sz="1250" dirty="0">
                <a:solidFill>
                  <a:srgbClr val="2C5566"/>
                </a:solidFill>
                <a:latin typeface="Calibri" pitchFamily="34" charset="0"/>
                <a:ea typeface="Calibri" pitchFamily="34" charset="-122"/>
                <a:cs typeface="Calibri" pitchFamily="34" charset="-120"/>
              </a:rPr>
              <a:t>She has no idea that permanently disqualifies her from Startup SG Founder — a scheme she would otherwise be a textbook fit for.</a:t>
            </a:r>
            <a:endParaRPr lang="en-US" sz="1250" dirty="0"/>
          </a:p>
          <a:p>
            <a:pPr indent="0" marL="0">
              <a:lnSpc>
                <a:spcPts val="1750"/>
              </a:lnSpc>
              <a:buNone/>
            </a:pPr>
            <a:endParaRPr lang="en-US" sz="1250" dirty="0"/>
          </a:p>
          <a:p>
            <a:pPr indent="0" marL="0">
              <a:lnSpc>
                <a:spcPts val="1750"/>
              </a:lnSpc>
              <a:buNone/>
            </a:pPr>
            <a:r>
              <a:rPr lang="en-US" sz="1250" i="1" dirty="0">
                <a:solidFill>
                  <a:srgbClr val="2C5566"/>
                </a:solidFill>
                <a:latin typeface="Calibri" pitchFamily="34" charset="0"/>
                <a:ea typeface="Calibri" pitchFamily="34" charset="-122"/>
                <a:cs typeface="Calibri" pitchFamily="34" charset="-120"/>
              </a:rPr>
              <a:t>Today she learns this from a rejection, after months of work.</a:t>
            </a:r>
            <a:endParaRPr lang="en-US" sz="1250" dirty="0"/>
          </a:p>
        </p:txBody>
      </p:sp>
      <p:sp>
        <p:nvSpPr>
          <p:cNvPr id="9" name="Shape 7"/>
          <p:cNvSpPr/>
          <p:nvPr/>
        </p:nvSpPr>
        <p:spPr>
          <a:xfrm>
            <a:off x="5413248" y="1389888"/>
            <a:ext cx="292608" cy="292608"/>
          </a:xfrm>
          <a:prstGeom prst="ellipse">
            <a:avLst/>
          </a:prstGeom>
          <a:solidFill>
            <a:srgbClr val="1C7293"/>
          </a:solidFill>
          <a:ln w="12700">
            <a:solidFill>
              <a:srgbClr val="1C7293"/>
            </a:solidFill>
            <a:prstDash val="solid"/>
          </a:ln>
        </p:spPr>
      </p:sp>
      <p:sp>
        <p:nvSpPr>
          <p:cNvPr id="10" name="Text 8"/>
          <p:cNvSpPr txBox="1"/>
          <p:nvPr/>
        </p:nvSpPr>
        <p:spPr>
          <a:xfrm>
            <a:off x="5413248" y="138988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1" name="Text 9"/>
          <p:cNvSpPr txBox="1"/>
          <p:nvPr/>
        </p:nvSpPr>
        <p:spPr>
          <a:xfrm>
            <a:off x="5833872" y="1371600"/>
            <a:ext cx="5943600" cy="548640"/>
          </a:xfrm>
          <a:prstGeom prst="rect">
            <a:avLst/>
          </a:prstGeom>
          <a:noFill/>
          <a:ln/>
        </p:spPr>
        <p:txBody>
          <a:bodyPr wrap="square" lIns="0" tIns="0" rIns="0" bIns="0" rtlCol="0" anchor="ctr"/>
          <a:lstStyle/>
          <a:p>
            <a:pPr indent="0" marL="0">
              <a:lnSpc>
                <a:spcPts val="1800"/>
              </a:lnSpc>
              <a:buNone/>
            </a:pPr>
            <a:r>
              <a:rPr lang="en-US" sz="1450" b="1" dirty="0">
                <a:solidFill>
                  <a:srgbClr val="123A47"/>
                </a:solidFill>
                <a:latin typeface="Calibri" pitchFamily="34" charset="0"/>
                <a:ea typeface="Calibri" pitchFamily="34" charset="-122"/>
                <a:cs typeface="Calibri" pitchFamily="34" charset="-120"/>
              </a:rPr>
              <a:t>Eligibility is invisible until you have already spent the hours</a:t>
            </a:r>
            <a:endParaRPr lang="en-US" sz="1450" dirty="0"/>
          </a:p>
        </p:txBody>
      </p:sp>
      <p:sp>
        <p:nvSpPr>
          <p:cNvPr id="12" name="Text 10"/>
          <p:cNvSpPr txBox="1"/>
          <p:nvPr/>
        </p:nvSpPr>
        <p:spPr>
          <a:xfrm>
            <a:off x="5833872" y="1938528"/>
            <a:ext cx="5943600" cy="786384"/>
          </a:xfrm>
          <a:prstGeom prst="rect">
            <a:avLst/>
          </a:prstGeom>
          <a:noFill/>
          <a:ln/>
        </p:spPr>
        <p:txBody>
          <a:bodyPr wrap="square" lIns="0" tIns="0" rIns="0" bIns="0" rtlCol="0" anchor="t"/>
          <a:lstStyle/>
          <a:p>
            <a:pPr indent="0" marL="0">
              <a:lnSpc>
                <a:spcPts val="1500"/>
              </a:lnSpc>
              <a:buNone/>
            </a:pPr>
            <a:r>
              <a:rPr lang="en-US" sz="1150" dirty="0">
                <a:solidFill>
                  <a:srgbClr val="6B7C83"/>
                </a:solidFill>
                <a:latin typeface="Calibri" pitchFamily="34" charset="0"/>
                <a:ea typeface="Calibri" pitchFamily="34" charset="-122"/>
                <a:cs typeface="Calibri" pitchFamily="34" charset="-120"/>
              </a:rPr>
              <a:t>Criteria sit on separate raiSE, EnterpriseSG and NYC pages, in different formats, none cross-referenced. Nothing tells a founder upfront that they already do not qualify.</a:t>
            </a:r>
            <a:endParaRPr lang="en-US" sz="1150" dirty="0"/>
          </a:p>
        </p:txBody>
      </p:sp>
      <p:sp>
        <p:nvSpPr>
          <p:cNvPr id="13" name="Shape 11"/>
          <p:cNvSpPr/>
          <p:nvPr/>
        </p:nvSpPr>
        <p:spPr>
          <a:xfrm>
            <a:off x="5413248" y="2779776"/>
            <a:ext cx="292608" cy="292608"/>
          </a:xfrm>
          <a:prstGeom prst="ellipse">
            <a:avLst/>
          </a:prstGeom>
          <a:solidFill>
            <a:srgbClr val="1C7293"/>
          </a:solidFill>
          <a:ln w="12700">
            <a:solidFill>
              <a:srgbClr val="1C7293"/>
            </a:solidFill>
            <a:prstDash val="solid"/>
          </a:ln>
        </p:spPr>
      </p:sp>
      <p:sp>
        <p:nvSpPr>
          <p:cNvPr id="14" name="Text 12"/>
          <p:cNvSpPr txBox="1"/>
          <p:nvPr/>
        </p:nvSpPr>
        <p:spPr>
          <a:xfrm>
            <a:off x="5413248" y="277977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3"/>
          <p:cNvSpPr txBox="1"/>
          <p:nvPr/>
        </p:nvSpPr>
        <p:spPr>
          <a:xfrm>
            <a:off x="5833872" y="2761488"/>
            <a:ext cx="5943600" cy="548640"/>
          </a:xfrm>
          <a:prstGeom prst="rect">
            <a:avLst/>
          </a:prstGeom>
          <a:noFill/>
          <a:ln/>
        </p:spPr>
        <p:txBody>
          <a:bodyPr wrap="square" lIns="0" tIns="0" rIns="0" bIns="0" rtlCol="0" anchor="ctr"/>
          <a:lstStyle/>
          <a:p>
            <a:pPr indent="0" marL="0">
              <a:lnSpc>
                <a:spcPts val="1800"/>
              </a:lnSpc>
              <a:buNone/>
            </a:pPr>
            <a:r>
              <a:rPr lang="en-US" sz="1450" b="1" dirty="0">
                <a:solidFill>
                  <a:srgbClr val="123A47"/>
                </a:solidFill>
                <a:latin typeface="Calibri" pitchFamily="34" charset="0"/>
                <a:ea typeface="Calibri" pitchFamily="34" charset="-122"/>
                <a:cs typeface="Calibri" pitchFamily="34" charset="-120"/>
              </a:rPr>
              <a:t>One funder makes you retell the venture five times</a:t>
            </a:r>
            <a:endParaRPr lang="en-US" sz="1450" dirty="0"/>
          </a:p>
        </p:txBody>
      </p:sp>
      <p:sp>
        <p:nvSpPr>
          <p:cNvPr id="16" name="Text 14"/>
          <p:cNvSpPr txBox="1"/>
          <p:nvPr/>
        </p:nvSpPr>
        <p:spPr>
          <a:xfrm>
            <a:off x="5833872" y="3328416"/>
            <a:ext cx="5943600" cy="786384"/>
          </a:xfrm>
          <a:prstGeom prst="rect">
            <a:avLst/>
          </a:prstGeom>
          <a:noFill/>
          <a:ln/>
        </p:spPr>
        <p:txBody>
          <a:bodyPr wrap="square" lIns="0" tIns="0" rIns="0" bIns="0" rtlCol="0" anchor="t"/>
          <a:lstStyle/>
          <a:p>
            <a:pPr indent="0" marL="0">
              <a:lnSpc>
                <a:spcPts val="1500"/>
              </a:lnSpc>
              <a:buNone/>
            </a:pPr>
            <a:r>
              <a:rPr lang="en-US" sz="1150" dirty="0">
                <a:solidFill>
                  <a:srgbClr val="6B7C83"/>
                </a:solidFill>
                <a:latin typeface="Calibri" pitchFamily="34" charset="0"/>
                <a:ea typeface="Calibri" pitchFamily="34" charset="-122"/>
                <a:cs typeface="Calibri" pitchFamily="34" charset="-120"/>
              </a:rPr>
              <a:t>raiSE VentureForGood is five stages over four to six months, each demanding the same venture described at greater depth. You cannot avoid this by choosing a different funder.</a:t>
            </a:r>
            <a:endParaRPr lang="en-US" sz="1150" dirty="0"/>
          </a:p>
        </p:txBody>
      </p:sp>
      <p:sp>
        <p:nvSpPr>
          <p:cNvPr id="17" name="Shape 15"/>
          <p:cNvSpPr/>
          <p:nvPr/>
        </p:nvSpPr>
        <p:spPr>
          <a:xfrm>
            <a:off x="5413248" y="4169664"/>
            <a:ext cx="292608" cy="292608"/>
          </a:xfrm>
          <a:prstGeom prst="ellipse">
            <a:avLst/>
          </a:prstGeom>
          <a:solidFill>
            <a:srgbClr val="1C7293"/>
          </a:solidFill>
          <a:ln w="12700">
            <a:solidFill>
              <a:srgbClr val="1C7293"/>
            </a:solidFill>
            <a:prstDash val="solid"/>
          </a:ln>
        </p:spPr>
      </p:sp>
      <p:sp>
        <p:nvSpPr>
          <p:cNvPr id="18" name="Text 16"/>
          <p:cNvSpPr txBox="1"/>
          <p:nvPr/>
        </p:nvSpPr>
        <p:spPr>
          <a:xfrm>
            <a:off x="5413248" y="416966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9" name="Text 17"/>
          <p:cNvSpPr txBox="1"/>
          <p:nvPr/>
        </p:nvSpPr>
        <p:spPr>
          <a:xfrm>
            <a:off x="5833872" y="4151376"/>
            <a:ext cx="5943600" cy="548640"/>
          </a:xfrm>
          <a:prstGeom prst="rect">
            <a:avLst/>
          </a:prstGeom>
          <a:noFill/>
          <a:ln/>
        </p:spPr>
        <p:txBody>
          <a:bodyPr wrap="square" lIns="0" tIns="0" rIns="0" bIns="0" rtlCol="0" anchor="ctr"/>
          <a:lstStyle/>
          <a:p>
            <a:pPr indent="0" marL="0">
              <a:lnSpc>
                <a:spcPts val="1800"/>
              </a:lnSpc>
              <a:buNone/>
            </a:pPr>
            <a:r>
              <a:rPr lang="en-US" sz="1450" b="1" dirty="0">
                <a:solidFill>
                  <a:srgbClr val="123A47"/>
                </a:solidFill>
                <a:latin typeface="Calibri" pitchFamily="34" charset="0"/>
                <a:ea typeface="Calibri" pitchFamily="34" charset="-122"/>
                <a:cs typeface="Calibri" pitchFamily="34" charset="-120"/>
              </a:rPr>
              <a:t>The pipeline assumes a sighted, admin-fluent applicant</a:t>
            </a:r>
            <a:endParaRPr lang="en-US" sz="1450" dirty="0"/>
          </a:p>
        </p:txBody>
      </p:sp>
      <p:sp>
        <p:nvSpPr>
          <p:cNvPr id="20" name="Text 18"/>
          <p:cNvSpPr txBox="1"/>
          <p:nvPr/>
        </p:nvSpPr>
        <p:spPr>
          <a:xfrm>
            <a:off x="5833872" y="4718304"/>
            <a:ext cx="5943600" cy="786384"/>
          </a:xfrm>
          <a:prstGeom prst="rect">
            <a:avLst/>
          </a:prstGeom>
          <a:noFill/>
          <a:ln/>
        </p:spPr>
        <p:txBody>
          <a:bodyPr wrap="square" lIns="0" tIns="0" rIns="0" bIns="0" rtlCol="0" anchor="t"/>
          <a:lstStyle/>
          <a:p>
            <a:pPr indent="0" marL="0">
              <a:lnSpc>
                <a:spcPts val="1500"/>
              </a:lnSpc>
              <a:buNone/>
            </a:pPr>
            <a:r>
              <a:rPr lang="en-US" sz="1150" dirty="0">
                <a:solidFill>
                  <a:srgbClr val="6B7C83"/>
                </a:solidFill>
                <a:latin typeface="Calibri" pitchFamily="34" charset="0"/>
                <a:ea typeface="Calibri" pitchFamily="34" charset="-122"/>
                <a:cs typeface="Calibri" pitchFamily="34" charset="-120"/>
              </a:rPr>
              <a:t>Dense PDFs, portals that break screen readers, and an expectation that you produce a two-year financial projection and a formatted deck unaided.</a:t>
            </a:r>
            <a:endParaRPr lang="en-US" sz="1150" dirty="0"/>
          </a:p>
        </p:txBody>
      </p:sp>
      <p:sp>
        <p:nvSpPr>
          <p:cNvPr id="21" name="Text 19"/>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Sources: raise.sg/ventureforgood-grant (five stages and their stated durations) · enterprisesg.gov.sg and Accredited Mentor Partner pages · nyc.gov.sg. Full register at A1.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METHOD</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Research</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We read the funders’ own pages, not summaries of them.</a:t>
            </a:r>
            <a:endParaRPr lang="en-US" sz="2700" dirty="0"/>
          </a:p>
        </p:txBody>
      </p:sp>
      <p:sp>
        <p:nvSpPr>
          <p:cNvPr id="6" name="Shape 4"/>
          <p:cNvSpPr/>
          <p:nvPr/>
        </p:nvSpPr>
        <p:spPr>
          <a:xfrm>
            <a:off x="566928" y="1316736"/>
            <a:ext cx="3529584" cy="4114800"/>
          </a:xfrm>
          <a:prstGeom prst="roundRect">
            <a:avLst>
              <a:gd name="adj" fmla="val 1813"/>
            </a:avLst>
          </a:prstGeom>
          <a:solidFill>
            <a:srgbClr val="EDF2F3"/>
          </a:solidFill>
          <a:ln w="9525">
            <a:solidFill>
              <a:srgbClr val="D5DFE2"/>
            </a:solidFill>
            <a:prstDash val="solid"/>
          </a:ln>
        </p:spPr>
      </p:sp>
      <p:sp>
        <p:nvSpPr>
          <p:cNvPr id="7" name="Shape 5"/>
          <p:cNvSpPr/>
          <p:nvPr/>
        </p:nvSpPr>
        <p:spPr>
          <a:xfrm>
            <a:off x="804672" y="1536192"/>
            <a:ext cx="1700784" cy="274320"/>
          </a:xfrm>
          <a:prstGeom prst="roundRect">
            <a:avLst>
              <a:gd name="adj" fmla="val 50000"/>
            </a:avLst>
          </a:prstGeom>
          <a:solidFill>
            <a:srgbClr val="1C7293"/>
          </a:solidFill>
          <a:ln w="12700">
            <a:solidFill>
              <a:srgbClr val="1C7293"/>
            </a:solidFill>
            <a:prstDash val="solid"/>
          </a:ln>
        </p:spPr>
      </p:sp>
      <p:sp>
        <p:nvSpPr>
          <p:cNvPr id="8" name="Text 6"/>
          <p:cNvSpPr txBox="1"/>
          <p:nvPr/>
        </p:nvSpPr>
        <p:spPr>
          <a:xfrm>
            <a:off x="804672" y="1536192"/>
            <a:ext cx="170078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What we did</a:t>
            </a:r>
            <a:endParaRPr lang="en-US" sz="1000" dirty="0"/>
          </a:p>
        </p:txBody>
      </p:sp>
      <p:sp>
        <p:nvSpPr>
          <p:cNvPr id="9" name="Text 7"/>
          <p:cNvSpPr txBox="1"/>
          <p:nvPr/>
        </p:nvSpPr>
        <p:spPr>
          <a:xfrm>
            <a:off x="804672" y="1938528"/>
            <a:ext cx="3054096" cy="3291840"/>
          </a:xfrm>
          <a:prstGeom prst="rect">
            <a:avLst/>
          </a:prstGeom>
          <a:noFill/>
          <a:ln/>
        </p:spPr>
        <p:txBody>
          <a:bodyPr wrap="square" lIns="0" tIns="0" rIns="0" bIns="0" rtlCol="0" anchor="t"/>
          <a:lstStyle/>
          <a:p>
            <a:pPr marL="342900" indent="-342900">
              <a:lnSpc>
                <a:spcPts val="1450"/>
              </a:lnSpc>
              <a:spcAft>
                <a:spcPts val="900"/>
              </a:spcAft>
              <a:buSzPct val="100000"/>
              <a:buChar char="•"/>
            </a:pPr>
            <a:r>
              <a:rPr lang="en-US" sz="1100" dirty="0">
                <a:solidFill>
                  <a:srgbClr val="2C5566"/>
                </a:solidFill>
                <a:latin typeface="Calibri" pitchFamily="34" charset="0"/>
                <a:ea typeface="Calibri" pitchFamily="34" charset="-122"/>
                <a:cs typeface="Calibri" pitchFamily="34" charset="-120"/>
              </a:rPr>
              <a:t>Read the primary scheme pages for raiSE VentureForGood, Startup SG Founder and NYC Young ChangeMakers, and encoded each criterion separately</a:t>
            </a:r>
            <a:endParaRPr lang="en-US" sz="1100" dirty="0"/>
          </a:p>
          <a:p>
            <a:pPr marL="342900" indent="-342900">
              <a:lnSpc>
                <a:spcPts val="1450"/>
              </a:lnSpc>
              <a:spcAft>
                <a:spcPts val="900"/>
              </a:spcAft>
              <a:buSzPct val="100000"/>
              <a:buChar char="•"/>
            </a:pPr>
            <a:r>
              <a:rPr lang="en-US" sz="1100" dirty="0">
                <a:solidFill>
                  <a:srgbClr val="2C5566"/>
                </a:solidFill>
                <a:latin typeface="Calibri" pitchFamily="34" charset="0"/>
                <a:ea typeface="Calibri" pitchFamily="34" charset="-122"/>
                <a:cs typeface="Calibri" pitchFamily="34" charset="-120"/>
              </a:rPr>
              <a:t>Traced dependencies between schemes rather than treating them as a flat list</a:t>
            </a:r>
            <a:endParaRPr lang="en-US" sz="1100" dirty="0"/>
          </a:p>
          <a:p>
            <a:pPr marL="342900" indent="-342900">
              <a:lnSpc>
                <a:spcPts val="1450"/>
              </a:lnSpc>
              <a:spcAft>
                <a:spcPts val="900"/>
              </a:spcAft>
              <a:buSzPct val="100000"/>
              <a:buChar char="•"/>
            </a:pPr>
            <a:r>
              <a:rPr lang="en-US" sz="1100" dirty="0">
                <a:solidFill>
                  <a:srgbClr val="2C5566"/>
                </a:solidFill>
                <a:latin typeface="Calibri" pitchFamily="34" charset="0"/>
                <a:ea typeface="Calibri" pitchFamily="34" charset="-122"/>
                <a:cs typeface="Calibri" pitchFamily="34" charset="-120"/>
              </a:rPr>
              <a:t>Tagged every fact primary (a .gov.sg page), secondary, or unverified — and recorded the URL and the date checked</a:t>
            </a:r>
            <a:endParaRPr lang="en-US" sz="1100" dirty="0"/>
          </a:p>
          <a:p>
            <a:pPr marL="342900" indent="-342900">
              <a:lnSpc>
                <a:spcPts val="1450"/>
              </a:lnSpc>
              <a:spcAft>
                <a:spcPts val="900"/>
              </a:spcAft>
              <a:buSzPct val="100000"/>
              <a:buChar char="•"/>
            </a:pPr>
            <a:r>
              <a:rPr lang="en-US" sz="1100" dirty="0">
                <a:solidFill>
                  <a:srgbClr val="2C5566"/>
                </a:solidFill>
                <a:latin typeface="Calibri" pitchFamily="34" charset="0"/>
                <a:ea typeface="Calibri" pitchFamily="34" charset="-122"/>
                <a:cs typeface="Calibri" pitchFamily="34" charset="-120"/>
              </a:rPr>
              <a:t>Tested our own brief against the sources, and corrected it three times (slide 10)</a:t>
            </a:r>
            <a:endParaRPr lang="en-US" sz="1100" dirty="0"/>
          </a:p>
        </p:txBody>
      </p:sp>
      <p:sp>
        <p:nvSpPr>
          <p:cNvPr id="10" name="Shape 8"/>
          <p:cNvSpPr/>
          <p:nvPr/>
        </p:nvSpPr>
        <p:spPr>
          <a:xfrm>
            <a:off x="4334256" y="1316736"/>
            <a:ext cx="3529584" cy="4114800"/>
          </a:xfrm>
          <a:prstGeom prst="roundRect">
            <a:avLst>
              <a:gd name="adj" fmla="val 1813"/>
            </a:avLst>
          </a:prstGeom>
          <a:solidFill>
            <a:srgbClr val="F7EEE1"/>
          </a:solidFill>
          <a:ln w="9525">
            <a:solidFill>
              <a:srgbClr val="D5DFE2"/>
            </a:solidFill>
            <a:prstDash val="solid"/>
          </a:ln>
        </p:spPr>
      </p:sp>
      <p:sp>
        <p:nvSpPr>
          <p:cNvPr id="11" name="Shape 9"/>
          <p:cNvSpPr/>
          <p:nvPr/>
        </p:nvSpPr>
        <p:spPr>
          <a:xfrm>
            <a:off x="4572000" y="1536192"/>
            <a:ext cx="1700784" cy="274320"/>
          </a:xfrm>
          <a:prstGeom prst="roundRect">
            <a:avLst>
              <a:gd name="adj" fmla="val 50000"/>
            </a:avLst>
          </a:prstGeom>
          <a:solidFill>
            <a:srgbClr val="C77D22"/>
          </a:solidFill>
          <a:ln w="12700">
            <a:solidFill>
              <a:srgbClr val="C77D22"/>
            </a:solidFill>
            <a:prstDash val="solid"/>
          </a:ln>
        </p:spPr>
      </p:sp>
      <p:sp>
        <p:nvSpPr>
          <p:cNvPr id="12" name="Text 10"/>
          <p:cNvSpPr txBox="1"/>
          <p:nvPr/>
        </p:nvSpPr>
        <p:spPr>
          <a:xfrm>
            <a:off x="4572000" y="1536192"/>
            <a:ext cx="170078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What we could not confirm</a:t>
            </a:r>
            <a:endParaRPr lang="en-US" sz="1000" dirty="0"/>
          </a:p>
        </p:txBody>
      </p:sp>
      <p:sp>
        <p:nvSpPr>
          <p:cNvPr id="13" name="Text 11"/>
          <p:cNvSpPr txBox="1"/>
          <p:nvPr/>
        </p:nvSpPr>
        <p:spPr>
          <a:xfrm>
            <a:off x="4572000" y="1938528"/>
            <a:ext cx="3054096" cy="3291840"/>
          </a:xfrm>
          <a:prstGeom prst="rect">
            <a:avLst/>
          </a:prstGeom>
          <a:noFill/>
          <a:ln/>
        </p:spPr>
        <p:txBody>
          <a:bodyPr wrap="square" lIns="0" tIns="0" rIns="0" bIns="0" rtlCol="0" anchor="t"/>
          <a:lstStyle/>
          <a:p>
            <a:pPr marL="342900" indent="-342900">
              <a:lnSpc>
                <a:spcPts val="1450"/>
              </a:lnSpc>
              <a:spcAft>
                <a:spcPts val="900"/>
              </a:spcAft>
              <a:buSzPct val="100000"/>
              <a:buChar char="•"/>
            </a:pPr>
            <a:r>
              <a:rPr lang="en-US" sz="1100" dirty="0">
                <a:solidFill>
                  <a:srgbClr val="2C5566"/>
                </a:solidFill>
                <a:latin typeface="Calibri" pitchFamily="34" charset="0"/>
                <a:ea typeface="Calibri" pitchFamily="34" charset="-122"/>
                <a:cs typeface="Calibri" pitchFamily="34" charset="-120"/>
              </a:rPr>
              <a:t>Startup SG Founder’s current grant quantum and matching ratio — figures differ across sources and EnterpriseSG’s own page did not resolve</a:t>
            </a:r>
            <a:endParaRPr lang="en-US" sz="1100" dirty="0"/>
          </a:p>
          <a:p>
            <a:pPr marL="342900" indent="-342900">
              <a:lnSpc>
                <a:spcPts val="1450"/>
              </a:lnSpc>
              <a:spcAft>
                <a:spcPts val="900"/>
              </a:spcAft>
              <a:buSzPct val="100000"/>
              <a:buChar char="•"/>
            </a:pPr>
            <a:r>
              <a:rPr lang="en-US" sz="1100" dirty="0">
                <a:solidFill>
                  <a:srgbClr val="2C5566"/>
                </a:solidFill>
                <a:latin typeface="Calibri" pitchFamily="34" charset="0"/>
                <a:ea typeface="Calibri" pitchFamily="34" charset="-122"/>
                <a:cs typeface="Calibri" pitchFamily="34" charset="-120"/>
              </a:rPr>
              <a:t>Whether accepting a small grant formally closes off a later one. We surface it as a question to ask the funder, never as fact</a:t>
            </a:r>
            <a:endParaRPr lang="en-US" sz="1100" dirty="0"/>
          </a:p>
          <a:p>
            <a:pPr marL="342900" indent="-342900">
              <a:lnSpc>
                <a:spcPts val="1450"/>
              </a:lnSpc>
              <a:spcAft>
                <a:spcPts val="900"/>
              </a:spcAft>
              <a:buSzPct val="100000"/>
              <a:buChar char="•"/>
            </a:pPr>
            <a:r>
              <a:rPr lang="en-US" sz="1100" dirty="0">
                <a:solidFill>
                  <a:srgbClr val="2C5566"/>
                </a:solidFill>
                <a:latin typeface="Calibri" pitchFamily="34" charset="0"/>
                <a:ea typeface="Calibri" pitchFamily="34" charset="-122"/>
                <a:cs typeface="Calibri" pitchFamily="34" charset="-120"/>
              </a:rPr>
              <a:t>Any dedicated entrepreneurship track for disabled founders in Singapore. We found none — which is not the same as proving none exists</a:t>
            </a:r>
            <a:endParaRPr lang="en-US" sz="1100" dirty="0"/>
          </a:p>
        </p:txBody>
      </p:sp>
      <p:sp>
        <p:nvSpPr>
          <p:cNvPr id="14" name="Shape 12"/>
          <p:cNvSpPr/>
          <p:nvPr/>
        </p:nvSpPr>
        <p:spPr>
          <a:xfrm>
            <a:off x="8101584" y="1316736"/>
            <a:ext cx="3529584" cy="4114800"/>
          </a:xfrm>
          <a:prstGeom prst="roundRect">
            <a:avLst>
              <a:gd name="adj" fmla="val 1813"/>
            </a:avLst>
          </a:prstGeom>
          <a:solidFill>
            <a:srgbClr val="E4EFEA"/>
          </a:solidFill>
          <a:ln w="9525">
            <a:solidFill>
              <a:srgbClr val="D5DFE2"/>
            </a:solidFill>
            <a:prstDash val="solid"/>
          </a:ln>
        </p:spPr>
      </p:sp>
      <p:sp>
        <p:nvSpPr>
          <p:cNvPr id="15" name="Shape 13"/>
          <p:cNvSpPr/>
          <p:nvPr/>
        </p:nvSpPr>
        <p:spPr>
          <a:xfrm>
            <a:off x="8339328" y="1536192"/>
            <a:ext cx="1700784" cy="274320"/>
          </a:xfrm>
          <a:prstGeom prst="roundRect">
            <a:avLst>
              <a:gd name="adj" fmla="val 50000"/>
            </a:avLst>
          </a:prstGeom>
          <a:solidFill>
            <a:srgbClr val="2E7D5B"/>
          </a:solidFill>
          <a:ln w="12700">
            <a:solidFill>
              <a:srgbClr val="2E7D5B"/>
            </a:solidFill>
            <a:prstDash val="solid"/>
          </a:ln>
        </p:spPr>
      </p:sp>
      <p:sp>
        <p:nvSpPr>
          <p:cNvPr id="16" name="Text 14"/>
          <p:cNvSpPr txBox="1"/>
          <p:nvPr/>
        </p:nvSpPr>
        <p:spPr>
          <a:xfrm>
            <a:off x="8339328" y="1536192"/>
            <a:ext cx="170078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What that changed</a:t>
            </a:r>
            <a:endParaRPr lang="en-US" sz="1000" dirty="0"/>
          </a:p>
        </p:txBody>
      </p:sp>
      <p:sp>
        <p:nvSpPr>
          <p:cNvPr id="17" name="Text 15"/>
          <p:cNvSpPr txBox="1"/>
          <p:nvPr/>
        </p:nvSpPr>
        <p:spPr>
          <a:xfrm>
            <a:off x="8339328" y="1938528"/>
            <a:ext cx="3054096" cy="3291840"/>
          </a:xfrm>
          <a:prstGeom prst="rect">
            <a:avLst/>
          </a:prstGeom>
          <a:noFill/>
          <a:ln/>
        </p:spPr>
        <p:txBody>
          <a:bodyPr wrap="square" lIns="0" tIns="0" rIns="0" bIns="0" rtlCol="0" anchor="t"/>
          <a:lstStyle/>
          <a:p>
            <a:pPr marL="342900" indent="-342900">
              <a:lnSpc>
                <a:spcPts val="1450"/>
              </a:lnSpc>
              <a:spcAft>
                <a:spcPts val="900"/>
              </a:spcAft>
              <a:buSzPct val="100000"/>
              <a:buChar char="•"/>
            </a:pPr>
            <a:r>
              <a:rPr lang="en-US" sz="1100" dirty="0">
                <a:solidFill>
                  <a:srgbClr val="2C5566"/>
                </a:solidFill>
                <a:latin typeface="Calibri" pitchFamily="34" charset="0"/>
                <a:ea typeface="Calibri" pitchFamily="34" charset="-122"/>
                <a:cs typeface="Calibri" pitchFamily="34" charset="-120"/>
              </a:rPr>
              <a:t>Unverified figures are never allowed to block a founder. They appear as advisory notes only</a:t>
            </a:r>
            <a:endParaRPr lang="en-US" sz="1100" dirty="0"/>
          </a:p>
          <a:p>
            <a:pPr marL="342900" indent="-342900">
              <a:lnSpc>
                <a:spcPts val="1450"/>
              </a:lnSpc>
              <a:spcAft>
                <a:spcPts val="900"/>
              </a:spcAft>
              <a:buSzPct val="100000"/>
              <a:buChar char="•"/>
            </a:pPr>
            <a:r>
              <a:rPr lang="en-US" sz="1100" dirty="0">
                <a:solidFill>
                  <a:srgbClr val="2C5566"/>
                </a:solidFill>
                <a:latin typeface="Calibri" pitchFamily="34" charset="0"/>
                <a:ea typeface="Calibri" pitchFamily="34" charset="-122"/>
                <a:cs typeface="Calibri" pitchFamily="34" charset="-120"/>
              </a:rPr>
              <a:t>Every rule ships with its source URL and last-checked date, visible in the product, not just in our notes</a:t>
            </a:r>
            <a:endParaRPr lang="en-US" sz="1100" dirty="0"/>
          </a:p>
          <a:p>
            <a:pPr marL="342900" indent="-342900">
              <a:lnSpc>
                <a:spcPts val="1450"/>
              </a:lnSpc>
              <a:spcAft>
                <a:spcPts val="900"/>
              </a:spcAft>
              <a:buSzPct val="100000"/>
              <a:buChar char="•"/>
            </a:pPr>
            <a:r>
              <a:rPr lang="en-US" sz="1100" dirty="0">
                <a:solidFill>
                  <a:srgbClr val="2C5566"/>
                </a:solidFill>
                <a:latin typeface="Calibri" pitchFamily="34" charset="0"/>
                <a:ea typeface="Calibri" pitchFamily="34" charset="-122"/>
                <a:cs typeface="Calibri" pitchFamily="34" charset="-120"/>
              </a:rPr>
              <a:t>Claims about competitors are attributed to industry reviews, never asserted as our own findings</a:t>
            </a:r>
            <a:endParaRPr lang="en-US" sz="1100" dirty="0"/>
          </a:p>
        </p:txBody>
      </p:sp>
      <p:sp>
        <p:nvSpPr>
          <p:cNvPr id="18" name="Text 16"/>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We did not use any figure we could not trace to a page we had read. Where the number mattered and the page did not resolve, the figure is absent from this deck.</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ANALYSIS</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Problem</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Two gaps, and only one of them is avoidable.</a:t>
            </a:r>
            <a:endParaRPr lang="en-US" sz="2700" dirty="0"/>
          </a:p>
        </p:txBody>
      </p:sp>
      <p:sp>
        <p:nvSpPr>
          <p:cNvPr id="6" name="Shape 4"/>
          <p:cNvSpPr/>
          <p:nvPr/>
        </p:nvSpPr>
        <p:spPr>
          <a:xfrm>
            <a:off x="566928" y="1280160"/>
            <a:ext cx="5541264" cy="1883664"/>
          </a:xfrm>
          <a:prstGeom prst="roundRect">
            <a:avLst>
              <a:gd name="adj" fmla="val 3398"/>
            </a:avLst>
          </a:prstGeom>
          <a:solidFill>
            <a:srgbClr val="EDF2F3"/>
          </a:solidFill>
          <a:ln w="9525">
            <a:solidFill>
              <a:srgbClr val="D5DFE2"/>
            </a:solidFill>
            <a:prstDash val="solid"/>
          </a:ln>
        </p:spPr>
      </p:sp>
      <p:sp>
        <p:nvSpPr>
          <p:cNvPr id="7" name="Shape 5"/>
          <p:cNvSpPr/>
          <p:nvPr/>
        </p:nvSpPr>
        <p:spPr>
          <a:xfrm>
            <a:off x="804672" y="1481328"/>
            <a:ext cx="1371600" cy="256032"/>
          </a:xfrm>
          <a:prstGeom prst="roundRect">
            <a:avLst>
              <a:gd name="adj" fmla="val 50000"/>
            </a:avLst>
          </a:prstGeom>
          <a:solidFill>
            <a:srgbClr val="1C7293"/>
          </a:solidFill>
          <a:ln w="12700">
            <a:solidFill>
              <a:srgbClr val="1C7293"/>
            </a:solidFill>
            <a:prstDash val="solid"/>
          </a:ln>
        </p:spPr>
      </p:sp>
      <p:sp>
        <p:nvSpPr>
          <p:cNvPr id="8" name="Text 6"/>
          <p:cNvSpPr txBox="1"/>
          <p:nvPr/>
        </p:nvSpPr>
        <p:spPr>
          <a:xfrm>
            <a:off x="804672" y="1481328"/>
            <a:ext cx="13716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Cold start</a:t>
            </a:r>
            <a:endParaRPr lang="en-US" sz="950" dirty="0"/>
          </a:p>
        </p:txBody>
      </p:sp>
      <p:sp>
        <p:nvSpPr>
          <p:cNvPr id="9" name="Text 7"/>
          <p:cNvSpPr txBox="1"/>
          <p:nvPr/>
        </p:nvSpPr>
        <p:spPr>
          <a:xfrm>
            <a:off x="804672" y="1865376"/>
            <a:ext cx="5065776" cy="1152144"/>
          </a:xfrm>
          <a:prstGeom prst="rect">
            <a:avLst/>
          </a:prstGeom>
          <a:noFill/>
          <a:ln/>
        </p:spPr>
        <p:txBody>
          <a:bodyPr wrap="square" lIns="0" tIns="0" rIns="0" bIns="0" rtlCol="0" anchor="t"/>
          <a:lstStyle/>
          <a:p>
            <a:pPr indent="0" marL="0">
              <a:lnSpc>
                <a:spcPts val="1600"/>
              </a:lnSpc>
              <a:buNone/>
            </a:pPr>
            <a:r>
              <a:rPr lang="en-US" sz="1200" dirty="0">
                <a:solidFill>
                  <a:srgbClr val="2C5566"/>
                </a:solidFill>
                <a:latin typeface="Calibri" pitchFamily="34" charset="0"/>
                <a:ea typeface="Calibri" pitchFamily="34" charset="-122"/>
                <a:cs typeface="Calibri" pitchFamily="34" charset="-120"/>
              </a:rPr>
              <a:t>Every AI grant tool begins by ingesting what you have already written — past proposals, annual reports, logic models, outcome reports. A pre-incorporation founder has produced none of these. The tools are not badly built; they are built for organisations that already exist.</a:t>
            </a:r>
            <a:endParaRPr lang="en-US" sz="1200" dirty="0"/>
          </a:p>
        </p:txBody>
      </p:sp>
      <p:sp>
        <p:nvSpPr>
          <p:cNvPr id="10" name="Shape 8"/>
          <p:cNvSpPr/>
          <p:nvPr/>
        </p:nvSpPr>
        <p:spPr>
          <a:xfrm>
            <a:off x="6437376" y="1280160"/>
            <a:ext cx="5541264" cy="1883664"/>
          </a:xfrm>
          <a:prstGeom prst="roundRect">
            <a:avLst>
              <a:gd name="adj" fmla="val 3398"/>
            </a:avLst>
          </a:prstGeom>
          <a:solidFill>
            <a:srgbClr val="E4EFEA"/>
          </a:solidFill>
          <a:ln w="9525">
            <a:solidFill>
              <a:srgbClr val="2E7D5B"/>
            </a:solidFill>
            <a:prstDash val="solid"/>
          </a:ln>
        </p:spPr>
      </p:sp>
      <p:sp>
        <p:nvSpPr>
          <p:cNvPr id="11" name="Shape 9"/>
          <p:cNvSpPr/>
          <p:nvPr/>
        </p:nvSpPr>
        <p:spPr>
          <a:xfrm>
            <a:off x="6675120" y="1481328"/>
            <a:ext cx="2194560" cy="256032"/>
          </a:xfrm>
          <a:prstGeom prst="roundRect">
            <a:avLst>
              <a:gd name="adj" fmla="val 50000"/>
            </a:avLst>
          </a:prstGeom>
          <a:solidFill>
            <a:srgbClr val="2E7D5B"/>
          </a:solidFill>
          <a:ln w="12700">
            <a:solidFill>
              <a:srgbClr val="2E7D5B"/>
            </a:solidFill>
            <a:prstDash val="solid"/>
          </a:ln>
        </p:spPr>
      </p:sp>
      <p:sp>
        <p:nvSpPr>
          <p:cNvPr id="12" name="Text 10"/>
          <p:cNvSpPr txBox="1"/>
          <p:nvPr/>
        </p:nvSpPr>
        <p:spPr>
          <a:xfrm>
            <a:off x="6675120" y="1481328"/>
            <a:ext cx="219456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Vertical progression</a:t>
            </a:r>
            <a:endParaRPr lang="en-US" sz="950" dirty="0"/>
          </a:p>
        </p:txBody>
      </p:sp>
      <p:sp>
        <p:nvSpPr>
          <p:cNvPr id="13" name="Text 11"/>
          <p:cNvSpPr txBox="1"/>
          <p:nvPr/>
        </p:nvSpPr>
        <p:spPr>
          <a:xfrm>
            <a:off x="6675120" y="1865376"/>
            <a:ext cx="5065776" cy="1152144"/>
          </a:xfrm>
          <a:prstGeom prst="rect">
            <a:avLst/>
          </a:prstGeom>
          <a:noFill/>
          <a:ln/>
        </p:spPr>
        <p:txBody>
          <a:bodyPr wrap="square" lIns="0" tIns="0" rIns="0" bIns="0" rtlCol="0" anchor="t"/>
          <a:lstStyle/>
          <a:p>
            <a:pPr indent="0" marL="0">
              <a:lnSpc>
                <a:spcPts val="1600"/>
              </a:lnSpc>
              <a:buNone/>
            </a:pPr>
            <a:r>
              <a:rPr lang="en-US" sz="1200" dirty="0">
                <a:solidFill>
                  <a:srgbClr val="1F4A38"/>
                </a:solidFill>
                <a:latin typeface="Calibri" pitchFamily="34" charset="0"/>
                <a:ea typeface="Calibri" pitchFamily="34" charset="-122"/>
                <a:cs typeface="Calibri" pitchFamily="34" charset="-120"/>
              </a:rPr>
              <a:t>Every tool is built to fill one form, once. One funder makes you narrate the same venture five times, each at greater depth, over four to six months. A founder can dodge the first gap by picking a single funder. Nobody can dodge this one — which is why we treat it as the sharper claim.</a:t>
            </a:r>
            <a:endParaRPr lang="en-US" sz="1200" dirty="0"/>
          </a:p>
        </p:txBody>
      </p:sp>
      <p:sp>
        <p:nvSpPr>
          <p:cNvPr id="14" name="Text 12"/>
          <p:cNvSpPr txBox="1"/>
          <p:nvPr/>
        </p:nvSpPr>
        <p:spPr>
          <a:xfrm>
            <a:off x="566928" y="3364992"/>
            <a:ext cx="7315200" cy="274320"/>
          </a:xfrm>
          <a:prstGeom prst="rect">
            <a:avLst/>
          </a:prstGeom>
          <a:noFill/>
          <a:ln/>
        </p:spPr>
        <p:txBody>
          <a:bodyPr wrap="square" lIns="0" tIns="0" rIns="0" bIns="0" rtlCol="0" anchor="ctr"/>
          <a:lstStyle/>
          <a:p>
            <a:pPr indent="0" marL="0">
              <a:buNone/>
            </a:pPr>
            <a:r>
              <a:rPr lang="en-US" sz="1100" b="1" spc="100" kern="0" dirty="0">
                <a:solidFill>
                  <a:srgbClr val="6B7C83"/>
                </a:solidFill>
                <a:latin typeface="Calibri" pitchFamily="34" charset="0"/>
                <a:ea typeface="Calibri" pitchFamily="34" charset="-122"/>
                <a:cs typeface="Calibri" pitchFamily="34" charset="-120"/>
              </a:rPr>
              <a:t>raiSE VentureForGood, as raiSE describes it</a:t>
            </a:r>
            <a:endParaRPr lang="en-US" sz="1100" dirty="0"/>
          </a:p>
        </p:txBody>
      </p:sp>
      <p:sp>
        <p:nvSpPr>
          <p:cNvPr id="15" name="Shape 13"/>
          <p:cNvSpPr/>
          <p:nvPr/>
        </p:nvSpPr>
        <p:spPr>
          <a:xfrm>
            <a:off x="566928" y="3712464"/>
            <a:ext cx="2084832" cy="1572768"/>
          </a:xfrm>
          <a:prstGeom prst="roundRect">
            <a:avLst>
              <a:gd name="adj" fmla="val 4070"/>
            </a:avLst>
          </a:prstGeom>
          <a:solidFill>
            <a:srgbClr val="FFFFFF"/>
          </a:solidFill>
          <a:ln w="9525">
            <a:solidFill>
              <a:srgbClr val="D5DFE2"/>
            </a:solidFill>
            <a:prstDash val="solid"/>
          </a:ln>
        </p:spPr>
      </p:sp>
      <p:sp>
        <p:nvSpPr>
          <p:cNvPr id="16" name="Text 14"/>
          <p:cNvSpPr txBox="1"/>
          <p:nvPr/>
        </p:nvSpPr>
        <p:spPr>
          <a:xfrm>
            <a:off x="731520" y="3840480"/>
            <a:ext cx="1792224" cy="274320"/>
          </a:xfrm>
          <a:prstGeom prst="rect">
            <a:avLst/>
          </a:prstGeom>
          <a:noFill/>
          <a:ln/>
        </p:spPr>
        <p:txBody>
          <a:bodyPr wrap="square" lIns="0" tIns="0" rIns="0" bIns="0" rtlCol="0" anchor="ctr"/>
          <a:lstStyle/>
          <a:p>
            <a:pPr indent="0" marL="0">
              <a:buNone/>
            </a:pPr>
            <a:r>
              <a:rPr lang="en-US" sz="1200" b="1" dirty="0">
                <a:solidFill>
                  <a:srgbClr val="123A47"/>
                </a:solidFill>
                <a:latin typeface="Calibri" pitchFamily="34" charset="0"/>
                <a:ea typeface="Calibri" pitchFamily="34" charset="-122"/>
                <a:cs typeface="Calibri" pitchFamily="34" charset="-120"/>
              </a:rPr>
              <a:t>1. Submit</a:t>
            </a:r>
            <a:endParaRPr lang="en-US" sz="1200" dirty="0"/>
          </a:p>
        </p:txBody>
      </p:sp>
      <p:sp>
        <p:nvSpPr>
          <p:cNvPr id="17" name="Text 15"/>
          <p:cNvSpPr txBox="1"/>
          <p:nvPr/>
        </p:nvSpPr>
        <p:spPr>
          <a:xfrm>
            <a:off x="731520" y="4133088"/>
            <a:ext cx="1792224" cy="640080"/>
          </a:xfrm>
          <a:prstGeom prst="rect">
            <a:avLst/>
          </a:prstGeom>
          <a:noFill/>
          <a:ln/>
        </p:spPr>
        <p:txBody>
          <a:bodyPr wrap="square" lIns="0" tIns="0" rIns="0" bIns="0" rtlCol="0" anchor="t"/>
          <a:lstStyle/>
          <a:p>
            <a:pPr indent="0" marL="0">
              <a:lnSpc>
                <a:spcPts val="1350"/>
              </a:lnSpc>
              <a:buNone/>
            </a:pPr>
            <a:r>
              <a:rPr lang="en-US" sz="1050" dirty="0">
                <a:solidFill>
                  <a:srgbClr val="6B7C83"/>
                </a:solidFill>
                <a:latin typeface="Calibri" pitchFamily="34" charset="0"/>
                <a:ea typeface="Calibri" pitchFamily="34" charset="-122"/>
                <a:cs typeface="Calibri" pitchFamily="34" charset="-120"/>
              </a:rPr>
              <a:t>Pitch deck +</a:t>
            </a:r>
            <a:endParaRPr lang="en-US" sz="1050" dirty="0"/>
          </a:p>
          <a:p>
            <a:pPr indent="0" marL="0">
              <a:lnSpc>
                <a:spcPts val="1350"/>
              </a:lnSpc>
              <a:buNone/>
            </a:pPr>
            <a:r>
              <a:rPr lang="en-US" sz="1050" dirty="0">
                <a:solidFill>
                  <a:srgbClr val="6B7C83"/>
                </a:solidFill>
                <a:latin typeface="Calibri" pitchFamily="34" charset="0"/>
                <a:ea typeface="Calibri" pitchFamily="34" charset="-122"/>
                <a:cs typeface="Calibri" pitchFamily="34" charset="-120"/>
              </a:rPr>
              <a:t>management accounts</a:t>
            </a:r>
            <a:endParaRPr lang="en-US" sz="1050" dirty="0"/>
          </a:p>
        </p:txBody>
      </p:sp>
      <p:sp>
        <p:nvSpPr>
          <p:cNvPr id="18" name="Text 16"/>
          <p:cNvSpPr txBox="1"/>
          <p:nvPr/>
        </p:nvSpPr>
        <p:spPr>
          <a:xfrm>
            <a:off x="731520" y="4864608"/>
            <a:ext cx="1792224" cy="256032"/>
          </a:xfrm>
          <a:prstGeom prst="rect">
            <a:avLst/>
          </a:prstGeom>
          <a:noFill/>
          <a:ln/>
        </p:spPr>
        <p:txBody>
          <a:bodyPr wrap="square" lIns="0" tIns="0" rIns="0" bIns="0" rtlCol="0" anchor="ctr"/>
          <a:lstStyle/>
          <a:p>
            <a:pPr indent="0" marL="0">
              <a:buNone/>
            </a:pPr>
            <a:r>
              <a:rPr lang="en-US" sz="1100" b="1" dirty="0">
                <a:solidFill>
                  <a:srgbClr val="123A47"/>
                </a:solidFill>
                <a:latin typeface="Calibri" pitchFamily="34" charset="0"/>
                <a:ea typeface="Calibri" pitchFamily="34" charset="-122"/>
                <a:cs typeface="Calibri" pitchFamily="34" charset="-120"/>
              </a:rPr>
              <a:t>3 weeks</a:t>
            </a:r>
            <a:endParaRPr lang="en-US" sz="1100" dirty="0"/>
          </a:p>
        </p:txBody>
      </p:sp>
      <p:sp>
        <p:nvSpPr>
          <p:cNvPr id="19" name="Shape 17"/>
          <p:cNvSpPr/>
          <p:nvPr/>
        </p:nvSpPr>
        <p:spPr>
          <a:xfrm>
            <a:off x="2834640" y="3712464"/>
            <a:ext cx="2084832" cy="1572768"/>
          </a:xfrm>
          <a:prstGeom prst="roundRect">
            <a:avLst>
              <a:gd name="adj" fmla="val 4070"/>
            </a:avLst>
          </a:prstGeom>
          <a:solidFill>
            <a:srgbClr val="FFFFFF"/>
          </a:solidFill>
          <a:ln w="9525">
            <a:solidFill>
              <a:srgbClr val="D5DFE2"/>
            </a:solidFill>
            <a:prstDash val="solid"/>
          </a:ln>
        </p:spPr>
      </p:sp>
      <p:sp>
        <p:nvSpPr>
          <p:cNvPr id="20" name="Text 18"/>
          <p:cNvSpPr txBox="1"/>
          <p:nvPr/>
        </p:nvSpPr>
        <p:spPr>
          <a:xfrm>
            <a:off x="2999232" y="3840480"/>
            <a:ext cx="1792224" cy="274320"/>
          </a:xfrm>
          <a:prstGeom prst="rect">
            <a:avLst/>
          </a:prstGeom>
          <a:noFill/>
          <a:ln/>
        </p:spPr>
        <p:txBody>
          <a:bodyPr wrap="square" lIns="0" tIns="0" rIns="0" bIns="0" rtlCol="0" anchor="ctr"/>
          <a:lstStyle/>
          <a:p>
            <a:pPr indent="0" marL="0">
              <a:buNone/>
            </a:pPr>
            <a:r>
              <a:rPr lang="en-US" sz="1200" b="1" dirty="0">
                <a:solidFill>
                  <a:srgbClr val="123A47"/>
                </a:solidFill>
                <a:latin typeface="Calibri" pitchFamily="34" charset="0"/>
                <a:ea typeface="Calibri" pitchFamily="34" charset="-122"/>
                <a:cs typeface="Calibri" pitchFamily="34" charset="-120"/>
              </a:rPr>
              <a:t>2. First meeting</a:t>
            </a:r>
            <a:endParaRPr lang="en-US" sz="1200" dirty="0"/>
          </a:p>
        </p:txBody>
      </p:sp>
      <p:sp>
        <p:nvSpPr>
          <p:cNvPr id="21" name="Text 19"/>
          <p:cNvSpPr txBox="1"/>
          <p:nvPr/>
        </p:nvSpPr>
        <p:spPr>
          <a:xfrm>
            <a:off x="2999232" y="4133088"/>
            <a:ext cx="1792224" cy="640080"/>
          </a:xfrm>
          <a:prstGeom prst="rect">
            <a:avLst/>
          </a:prstGeom>
          <a:noFill/>
          <a:ln/>
        </p:spPr>
        <p:txBody>
          <a:bodyPr wrap="square" lIns="0" tIns="0" rIns="0" bIns="0" rtlCol="0" anchor="t"/>
          <a:lstStyle/>
          <a:p>
            <a:pPr indent="0" marL="0">
              <a:lnSpc>
                <a:spcPts val="1350"/>
              </a:lnSpc>
              <a:buNone/>
            </a:pPr>
            <a:r>
              <a:rPr lang="en-US" sz="1050" dirty="0">
                <a:solidFill>
                  <a:srgbClr val="6B7C83"/>
                </a:solidFill>
                <a:latin typeface="Calibri" pitchFamily="34" charset="0"/>
                <a:ea typeface="Calibri" pitchFamily="34" charset="-122"/>
                <a:cs typeface="Calibri" pitchFamily="34" charset="-120"/>
              </a:rPr>
              <a:t>One-to-one with a</a:t>
            </a:r>
            <a:endParaRPr lang="en-US" sz="1050" dirty="0"/>
          </a:p>
          <a:p>
            <a:pPr indent="0" marL="0">
              <a:lnSpc>
                <a:spcPts val="1350"/>
              </a:lnSpc>
              <a:buNone/>
            </a:pPr>
            <a:r>
              <a:rPr lang="en-US" sz="1050" dirty="0">
                <a:solidFill>
                  <a:srgbClr val="6B7C83"/>
                </a:solidFill>
                <a:latin typeface="Calibri" pitchFamily="34" charset="0"/>
                <a:ea typeface="Calibri" pitchFamily="34" charset="-122"/>
                <a:cs typeface="Calibri" pitchFamily="34" charset="-120"/>
              </a:rPr>
              <a:t>portfolio manager</a:t>
            </a:r>
            <a:endParaRPr lang="en-US" sz="1050" dirty="0"/>
          </a:p>
        </p:txBody>
      </p:sp>
      <p:sp>
        <p:nvSpPr>
          <p:cNvPr id="22" name="Text 20"/>
          <p:cNvSpPr txBox="1"/>
          <p:nvPr/>
        </p:nvSpPr>
        <p:spPr>
          <a:xfrm>
            <a:off x="2999232" y="4864608"/>
            <a:ext cx="1792224" cy="256032"/>
          </a:xfrm>
          <a:prstGeom prst="rect">
            <a:avLst/>
          </a:prstGeom>
          <a:noFill/>
          <a:ln/>
        </p:spPr>
        <p:txBody>
          <a:bodyPr wrap="square" lIns="0" tIns="0" rIns="0" bIns="0" rtlCol="0" anchor="ctr"/>
          <a:lstStyle/>
          <a:p>
            <a:pPr indent="0" marL="0">
              <a:buNone/>
            </a:pPr>
            <a:r>
              <a:rPr lang="en-US" sz="1100" b="1" dirty="0">
                <a:solidFill>
                  <a:srgbClr val="123A47"/>
                </a:solidFill>
                <a:latin typeface="Calibri" pitchFamily="34" charset="0"/>
                <a:ea typeface="Calibri" pitchFamily="34" charset="-122"/>
                <a:cs typeface="Calibri" pitchFamily="34" charset="-120"/>
              </a:rPr>
              <a:t>3 weeks</a:t>
            </a:r>
            <a:endParaRPr lang="en-US" sz="1100" dirty="0"/>
          </a:p>
        </p:txBody>
      </p:sp>
      <p:sp>
        <p:nvSpPr>
          <p:cNvPr id="23" name="Shape 21"/>
          <p:cNvSpPr/>
          <p:nvPr/>
        </p:nvSpPr>
        <p:spPr>
          <a:xfrm>
            <a:off x="5102352" y="3712464"/>
            <a:ext cx="2084832" cy="1572768"/>
          </a:xfrm>
          <a:prstGeom prst="roundRect">
            <a:avLst>
              <a:gd name="adj" fmla="val 4070"/>
            </a:avLst>
          </a:prstGeom>
          <a:solidFill>
            <a:srgbClr val="F7EEE1"/>
          </a:solidFill>
          <a:ln w="9525">
            <a:solidFill>
              <a:srgbClr val="C77D22"/>
            </a:solidFill>
            <a:prstDash val="solid"/>
          </a:ln>
        </p:spPr>
      </p:sp>
      <p:sp>
        <p:nvSpPr>
          <p:cNvPr id="24" name="Text 22"/>
          <p:cNvSpPr txBox="1"/>
          <p:nvPr/>
        </p:nvSpPr>
        <p:spPr>
          <a:xfrm>
            <a:off x="5266944" y="3840480"/>
            <a:ext cx="1792224" cy="274320"/>
          </a:xfrm>
          <a:prstGeom prst="rect">
            <a:avLst/>
          </a:prstGeom>
          <a:noFill/>
          <a:ln/>
        </p:spPr>
        <p:txBody>
          <a:bodyPr wrap="square" lIns="0" tIns="0" rIns="0" bIns="0" rtlCol="0" anchor="ctr"/>
          <a:lstStyle/>
          <a:p>
            <a:pPr indent="0" marL="0">
              <a:buNone/>
            </a:pPr>
            <a:r>
              <a:rPr lang="en-US" sz="1200" b="1" dirty="0">
                <a:solidFill>
                  <a:srgbClr val="C77D22"/>
                </a:solidFill>
                <a:latin typeface="Calibri" pitchFamily="34" charset="0"/>
                <a:ea typeface="Calibri" pitchFamily="34" charset="-122"/>
                <a:cs typeface="Calibri" pitchFamily="34" charset="-120"/>
              </a:rPr>
              <a:t>3. Shortlisting</a:t>
            </a:r>
            <a:endParaRPr lang="en-US" sz="1200" dirty="0"/>
          </a:p>
        </p:txBody>
      </p:sp>
      <p:sp>
        <p:nvSpPr>
          <p:cNvPr id="25" name="Text 23"/>
          <p:cNvSpPr txBox="1"/>
          <p:nvPr/>
        </p:nvSpPr>
        <p:spPr>
          <a:xfrm>
            <a:off x="5266944" y="4133088"/>
            <a:ext cx="1792224" cy="640080"/>
          </a:xfrm>
          <a:prstGeom prst="rect">
            <a:avLst/>
          </a:prstGeom>
          <a:noFill/>
          <a:ln/>
        </p:spPr>
        <p:txBody>
          <a:bodyPr wrap="square" lIns="0" tIns="0" rIns="0" bIns="0" rtlCol="0" anchor="t"/>
          <a:lstStyle/>
          <a:p>
            <a:pPr indent="0" marL="0">
              <a:lnSpc>
                <a:spcPts val="1350"/>
              </a:lnSpc>
              <a:buNone/>
            </a:pPr>
            <a:r>
              <a:rPr lang="en-US" sz="1050" dirty="0">
                <a:solidFill>
                  <a:srgbClr val="6B7C83"/>
                </a:solidFill>
                <a:latin typeface="Calibri" pitchFamily="34" charset="0"/>
                <a:ea typeface="Calibri" pitchFamily="34" charset="-122"/>
                <a:cs typeface="Calibri" pitchFamily="34" charset="-120"/>
              </a:rPr>
              <a:t>Only raiSE members</a:t>
            </a:r>
            <a:endParaRPr lang="en-US" sz="1050" dirty="0"/>
          </a:p>
          <a:p>
            <a:pPr indent="0" marL="0">
              <a:lnSpc>
                <a:spcPts val="1350"/>
              </a:lnSpc>
              <a:buNone/>
            </a:pPr>
            <a:r>
              <a:rPr lang="en-US" sz="1050" dirty="0">
                <a:solidFill>
                  <a:srgbClr val="6B7C83"/>
                </a:solidFill>
                <a:latin typeface="Calibri" pitchFamily="34" charset="0"/>
                <a:ea typeface="Calibri" pitchFamily="34" charset="-122"/>
                <a:cs typeface="Calibri" pitchFamily="34" charset="-120"/>
              </a:rPr>
              <a:t>proceed</a:t>
            </a:r>
            <a:endParaRPr lang="en-US" sz="1050" dirty="0"/>
          </a:p>
        </p:txBody>
      </p:sp>
      <p:sp>
        <p:nvSpPr>
          <p:cNvPr id="26" name="Text 24"/>
          <p:cNvSpPr txBox="1"/>
          <p:nvPr/>
        </p:nvSpPr>
        <p:spPr>
          <a:xfrm>
            <a:off x="5266944" y="4864608"/>
            <a:ext cx="1792224" cy="256032"/>
          </a:xfrm>
          <a:prstGeom prst="rect">
            <a:avLst/>
          </a:prstGeom>
          <a:noFill/>
          <a:ln/>
        </p:spPr>
        <p:txBody>
          <a:bodyPr wrap="square" lIns="0" tIns="0" rIns="0" bIns="0" rtlCol="0" anchor="ctr"/>
          <a:lstStyle/>
          <a:p>
            <a:pPr indent="0" marL="0">
              <a:buNone/>
            </a:pPr>
            <a:r>
              <a:rPr lang="en-US" sz="1100" b="1" dirty="0">
                <a:solidFill>
                  <a:srgbClr val="123A47"/>
                </a:solidFill>
                <a:latin typeface="Calibri" pitchFamily="34" charset="0"/>
                <a:ea typeface="Calibri" pitchFamily="34" charset="-122"/>
                <a:cs typeface="Calibri" pitchFamily="34" charset="-120"/>
              </a:rPr>
              <a:t>3 weeks</a:t>
            </a:r>
            <a:endParaRPr lang="en-US" sz="1100" dirty="0"/>
          </a:p>
        </p:txBody>
      </p:sp>
      <p:sp>
        <p:nvSpPr>
          <p:cNvPr id="27" name="Shape 25"/>
          <p:cNvSpPr/>
          <p:nvPr/>
        </p:nvSpPr>
        <p:spPr>
          <a:xfrm>
            <a:off x="7370064" y="3712464"/>
            <a:ext cx="2084832" cy="1572768"/>
          </a:xfrm>
          <a:prstGeom prst="roundRect">
            <a:avLst>
              <a:gd name="adj" fmla="val 4070"/>
            </a:avLst>
          </a:prstGeom>
          <a:solidFill>
            <a:srgbClr val="FFFFFF"/>
          </a:solidFill>
          <a:ln w="9525">
            <a:solidFill>
              <a:srgbClr val="D5DFE2"/>
            </a:solidFill>
            <a:prstDash val="solid"/>
          </a:ln>
        </p:spPr>
      </p:sp>
      <p:sp>
        <p:nvSpPr>
          <p:cNvPr id="28" name="Text 26"/>
          <p:cNvSpPr txBox="1"/>
          <p:nvPr/>
        </p:nvSpPr>
        <p:spPr>
          <a:xfrm>
            <a:off x="7534656" y="3840480"/>
            <a:ext cx="1792224" cy="274320"/>
          </a:xfrm>
          <a:prstGeom prst="rect">
            <a:avLst/>
          </a:prstGeom>
          <a:noFill/>
          <a:ln/>
        </p:spPr>
        <p:txBody>
          <a:bodyPr wrap="square" lIns="0" tIns="0" rIns="0" bIns="0" rtlCol="0" anchor="ctr"/>
          <a:lstStyle/>
          <a:p>
            <a:pPr indent="0" marL="0">
              <a:buNone/>
            </a:pPr>
            <a:r>
              <a:rPr lang="en-US" sz="1200" b="1" dirty="0">
                <a:solidFill>
                  <a:srgbClr val="123A47"/>
                </a:solidFill>
                <a:latin typeface="Calibri" pitchFamily="34" charset="0"/>
                <a:ea typeface="Calibri" pitchFamily="34" charset="-122"/>
                <a:cs typeface="Calibri" pitchFamily="34" charset="-120"/>
              </a:rPr>
              <a:t>4. Final evaluation</a:t>
            </a:r>
            <a:endParaRPr lang="en-US" sz="1200" dirty="0"/>
          </a:p>
        </p:txBody>
      </p:sp>
      <p:sp>
        <p:nvSpPr>
          <p:cNvPr id="29" name="Text 27"/>
          <p:cNvSpPr txBox="1"/>
          <p:nvPr/>
        </p:nvSpPr>
        <p:spPr>
          <a:xfrm>
            <a:off x="7534656" y="4133088"/>
            <a:ext cx="1792224" cy="640080"/>
          </a:xfrm>
          <a:prstGeom prst="rect">
            <a:avLst/>
          </a:prstGeom>
          <a:noFill/>
          <a:ln/>
        </p:spPr>
        <p:txBody>
          <a:bodyPr wrap="square" lIns="0" tIns="0" rIns="0" bIns="0" rtlCol="0" anchor="t"/>
          <a:lstStyle/>
          <a:p>
            <a:pPr indent="0" marL="0">
              <a:lnSpc>
                <a:spcPts val="1350"/>
              </a:lnSpc>
              <a:buNone/>
            </a:pPr>
            <a:r>
              <a:rPr lang="en-US" sz="1050" dirty="0">
                <a:solidFill>
                  <a:srgbClr val="6B7C83"/>
                </a:solidFill>
                <a:latin typeface="Calibri" pitchFamily="34" charset="0"/>
                <a:ea typeface="Calibri" pitchFamily="34" charset="-122"/>
                <a:cs typeface="Calibri" pitchFamily="34" charset="-120"/>
              </a:rPr>
              <a:t>Detailed proposal +</a:t>
            </a:r>
            <a:endParaRPr lang="en-US" sz="1050" dirty="0"/>
          </a:p>
          <a:p>
            <a:pPr indent="0" marL="0">
              <a:lnSpc>
                <a:spcPts val="1350"/>
              </a:lnSpc>
              <a:buNone/>
            </a:pPr>
            <a:r>
              <a:rPr lang="en-US" sz="1050" dirty="0">
                <a:solidFill>
                  <a:srgbClr val="6B7C83"/>
                </a:solidFill>
                <a:latin typeface="Calibri" pitchFamily="34" charset="0"/>
                <a:ea typeface="Calibri" pitchFamily="34" charset="-122"/>
                <a:cs typeface="Calibri" pitchFamily="34" charset="-120"/>
              </a:rPr>
              <a:t>2-year projections</a:t>
            </a:r>
            <a:endParaRPr lang="en-US" sz="1050" dirty="0"/>
          </a:p>
        </p:txBody>
      </p:sp>
      <p:sp>
        <p:nvSpPr>
          <p:cNvPr id="30" name="Text 28"/>
          <p:cNvSpPr txBox="1"/>
          <p:nvPr/>
        </p:nvSpPr>
        <p:spPr>
          <a:xfrm>
            <a:off x="7534656" y="4864608"/>
            <a:ext cx="1792224" cy="256032"/>
          </a:xfrm>
          <a:prstGeom prst="rect">
            <a:avLst/>
          </a:prstGeom>
          <a:noFill/>
          <a:ln/>
        </p:spPr>
        <p:txBody>
          <a:bodyPr wrap="square" lIns="0" tIns="0" rIns="0" bIns="0" rtlCol="0" anchor="ctr"/>
          <a:lstStyle/>
          <a:p>
            <a:pPr indent="0" marL="0">
              <a:buNone/>
            </a:pPr>
            <a:r>
              <a:rPr lang="en-US" sz="1100" b="1" dirty="0">
                <a:solidFill>
                  <a:srgbClr val="123A47"/>
                </a:solidFill>
                <a:latin typeface="Calibri" pitchFamily="34" charset="0"/>
                <a:ea typeface="Calibri" pitchFamily="34" charset="-122"/>
                <a:cs typeface="Calibri" pitchFamily="34" charset="-120"/>
              </a:rPr>
              <a:t>4–8 weeks</a:t>
            </a:r>
            <a:endParaRPr lang="en-US" sz="1100" dirty="0"/>
          </a:p>
        </p:txBody>
      </p:sp>
      <p:sp>
        <p:nvSpPr>
          <p:cNvPr id="31" name="Shape 29"/>
          <p:cNvSpPr/>
          <p:nvPr/>
        </p:nvSpPr>
        <p:spPr>
          <a:xfrm>
            <a:off x="9637776" y="3712464"/>
            <a:ext cx="2084832" cy="1572768"/>
          </a:xfrm>
          <a:prstGeom prst="roundRect">
            <a:avLst>
              <a:gd name="adj" fmla="val 4070"/>
            </a:avLst>
          </a:prstGeom>
          <a:solidFill>
            <a:srgbClr val="FFFFFF"/>
          </a:solidFill>
          <a:ln w="9525">
            <a:solidFill>
              <a:srgbClr val="D5DFE2"/>
            </a:solidFill>
            <a:prstDash val="solid"/>
          </a:ln>
        </p:spPr>
      </p:sp>
      <p:sp>
        <p:nvSpPr>
          <p:cNvPr id="32" name="Text 30"/>
          <p:cNvSpPr txBox="1"/>
          <p:nvPr/>
        </p:nvSpPr>
        <p:spPr>
          <a:xfrm>
            <a:off x="9802368" y="3840480"/>
            <a:ext cx="1792224" cy="274320"/>
          </a:xfrm>
          <a:prstGeom prst="rect">
            <a:avLst/>
          </a:prstGeom>
          <a:noFill/>
          <a:ln/>
        </p:spPr>
        <p:txBody>
          <a:bodyPr wrap="square" lIns="0" tIns="0" rIns="0" bIns="0" rtlCol="0" anchor="ctr"/>
          <a:lstStyle/>
          <a:p>
            <a:pPr indent="0" marL="0">
              <a:buNone/>
            </a:pPr>
            <a:r>
              <a:rPr lang="en-US" sz="1200" b="1" dirty="0">
                <a:solidFill>
                  <a:srgbClr val="123A47"/>
                </a:solidFill>
                <a:latin typeface="Calibri" pitchFamily="34" charset="0"/>
                <a:ea typeface="Calibri" pitchFamily="34" charset="-122"/>
                <a:cs typeface="Calibri" pitchFamily="34" charset="-120"/>
              </a:rPr>
              <a:t>5. Committee pitch</a:t>
            </a:r>
            <a:endParaRPr lang="en-US" sz="1200" dirty="0"/>
          </a:p>
        </p:txBody>
      </p:sp>
      <p:sp>
        <p:nvSpPr>
          <p:cNvPr id="33" name="Text 31"/>
          <p:cNvSpPr txBox="1"/>
          <p:nvPr/>
        </p:nvSpPr>
        <p:spPr>
          <a:xfrm>
            <a:off x="9802368" y="4133088"/>
            <a:ext cx="1792224" cy="640080"/>
          </a:xfrm>
          <a:prstGeom prst="rect">
            <a:avLst/>
          </a:prstGeom>
          <a:noFill/>
          <a:ln/>
        </p:spPr>
        <p:txBody>
          <a:bodyPr wrap="square" lIns="0" tIns="0" rIns="0" bIns="0" rtlCol="0" anchor="t"/>
          <a:lstStyle/>
          <a:p>
            <a:pPr indent="0" marL="0">
              <a:lnSpc>
                <a:spcPts val="1350"/>
              </a:lnSpc>
              <a:buNone/>
            </a:pPr>
            <a:r>
              <a:rPr lang="en-US" sz="1050" dirty="0">
                <a:solidFill>
                  <a:srgbClr val="6B7C83"/>
                </a:solidFill>
                <a:latin typeface="Calibri" pitchFamily="34" charset="0"/>
                <a:ea typeface="Calibri" pitchFamily="34" charset="-122"/>
                <a:cs typeface="Calibri" pitchFamily="34" charset="-120"/>
              </a:rPr>
              <a:t>Evaluation</a:t>
            </a:r>
            <a:endParaRPr lang="en-US" sz="1050" dirty="0"/>
          </a:p>
          <a:p>
            <a:pPr indent="0" marL="0">
              <a:lnSpc>
                <a:spcPts val="1350"/>
              </a:lnSpc>
              <a:buNone/>
            </a:pPr>
            <a:r>
              <a:rPr lang="en-US" sz="1050" dirty="0">
                <a:solidFill>
                  <a:srgbClr val="6B7C83"/>
                </a:solidFill>
                <a:latin typeface="Calibri" pitchFamily="34" charset="0"/>
                <a:ea typeface="Calibri" pitchFamily="34" charset="-122"/>
                <a:cs typeface="Calibri" pitchFamily="34" charset="-120"/>
              </a:rPr>
              <a:t>committee</a:t>
            </a:r>
            <a:endParaRPr lang="en-US" sz="1050" dirty="0"/>
          </a:p>
        </p:txBody>
      </p:sp>
      <p:sp>
        <p:nvSpPr>
          <p:cNvPr id="34" name="Text 32"/>
          <p:cNvSpPr txBox="1"/>
          <p:nvPr/>
        </p:nvSpPr>
        <p:spPr>
          <a:xfrm>
            <a:off x="9802368" y="4864608"/>
            <a:ext cx="1792224" cy="256032"/>
          </a:xfrm>
          <a:prstGeom prst="rect">
            <a:avLst/>
          </a:prstGeom>
          <a:noFill/>
          <a:ln/>
        </p:spPr>
        <p:txBody>
          <a:bodyPr wrap="square" lIns="0" tIns="0" rIns="0" bIns="0" rtlCol="0" anchor="ctr"/>
          <a:lstStyle/>
          <a:p>
            <a:pPr indent="0" marL="0">
              <a:buNone/>
            </a:pPr>
            <a:r>
              <a:rPr lang="en-US" sz="1100" b="1" dirty="0">
                <a:solidFill>
                  <a:srgbClr val="123A47"/>
                </a:solidFill>
                <a:latin typeface="Calibri" pitchFamily="34" charset="0"/>
                <a:ea typeface="Calibri" pitchFamily="34" charset="-122"/>
                <a:cs typeface="Calibri" pitchFamily="34" charset="-120"/>
              </a:rPr>
              <a:t>4–8 weeks</a:t>
            </a:r>
            <a:endParaRPr lang="en-US" sz="1100" dirty="0"/>
          </a:p>
        </p:txBody>
      </p:sp>
      <p:sp>
        <p:nvSpPr>
          <p:cNvPr id="35" name="Text 33"/>
          <p:cNvSpPr txBox="1"/>
          <p:nvPr/>
        </p:nvSpPr>
        <p:spPr>
          <a:xfrm>
            <a:off x="566928" y="5431536"/>
            <a:ext cx="10972800" cy="274320"/>
          </a:xfrm>
          <a:prstGeom prst="rect">
            <a:avLst/>
          </a:prstGeom>
          <a:noFill/>
          <a:ln/>
        </p:spPr>
        <p:txBody>
          <a:bodyPr wrap="square" lIns="0" tIns="0" rIns="0" bIns="0" rtlCol="0" anchor="ctr"/>
          <a:lstStyle/>
          <a:p>
            <a:pPr indent="0" marL="0">
              <a:buNone/>
            </a:pPr>
            <a:r>
              <a:rPr lang="en-US" sz="1200" b="1" i="1" dirty="0">
                <a:solidFill>
                  <a:srgbClr val="C77D22"/>
                </a:solidFill>
                <a:latin typeface="Calibri" pitchFamily="34" charset="0"/>
                <a:ea typeface="Calibri" pitchFamily="34" charset="-122"/>
                <a:cs typeface="Calibri" pitchFamily="34" charset="-120"/>
              </a:rPr>
              <a:t>Four to six months before any money — and the membership gate at stage 3 is invisible at stage 1.</a:t>
            </a:r>
            <a:endParaRPr lang="en-US" sz="1200" dirty="0"/>
          </a:p>
        </p:txBody>
      </p:sp>
      <p:sp>
        <p:nvSpPr>
          <p:cNvPr id="36" name="Text 34"/>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Stage names and durations are raiSE’s own, published on raise.sg/ventureforgood-grant.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LANDSCAPE</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Viability</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Nobody covers both gaps, and nobody covers Singapore.</a:t>
            </a:r>
            <a:endParaRPr lang="en-US" sz="2700" dirty="0"/>
          </a:p>
        </p:txBody>
      </p:sp>
      <p:sp>
        <p:nvSpPr>
          <p:cNvPr id="6" name="Text 4"/>
          <p:cNvSpPr txBox="1"/>
          <p:nvPr/>
        </p:nvSpPr>
        <p:spPr>
          <a:xfrm>
            <a:off x="566928" y="1828800"/>
            <a:ext cx="2615184" cy="457200"/>
          </a:xfrm>
          <a:prstGeom prst="rect">
            <a:avLst/>
          </a:prstGeom>
          <a:noFill/>
          <a:ln/>
        </p:spPr>
        <p:txBody>
          <a:bodyPr wrap="square" lIns="0" tIns="0" rIns="0" bIns="0" rtlCol="0" anchor="ctr"/>
          <a:lstStyle/>
          <a:p>
            <a:pPr indent="0" marL="0">
              <a:buNone/>
            </a:pPr>
            <a:r>
              <a:rPr lang="en-US" sz="1150" dirty="0">
                <a:solidFill>
                  <a:srgbClr val="123A47"/>
                </a:solidFill>
                <a:latin typeface="Calibri" pitchFamily="34" charset="0"/>
                <a:ea typeface="Calibri" pitchFamily="34" charset="-122"/>
                <a:cs typeface="Calibri" pitchFamily="34" charset="-120"/>
              </a:rPr>
              <a:t>Eligibility answered upfront</a:t>
            </a:r>
            <a:endParaRPr lang="en-US" sz="1150" dirty="0"/>
          </a:p>
        </p:txBody>
      </p:sp>
      <p:sp>
        <p:nvSpPr>
          <p:cNvPr id="7" name="Text 5"/>
          <p:cNvSpPr txBox="1"/>
          <p:nvPr/>
        </p:nvSpPr>
        <p:spPr>
          <a:xfrm>
            <a:off x="566928" y="2286000"/>
            <a:ext cx="2615184" cy="457200"/>
          </a:xfrm>
          <a:prstGeom prst="rect">
            <a:avLst/>
          </a:prstGeom>
          <a:noFill/>
          <a:ln/>
        </p:spPr>
        <p:txBody>
          <a:bodyPr wrap="square" lIns="0" tIns="0" rIns="0" bIns="0" rtlCol="0" anchor="ctr"/>
          <a:lstStyle/>
          <a:p>
            <a:pPr indent="0" marL="0">
              <a:buNone/>
            </a:pPr>
            <a:r>
              <a:rPr lang="en-US" sz="1150" dirty="0">
                <a:solidFill>
                  <a:srgbClr val="123A47"/>
                </a:solidFill>
                <a:latin typeface="Calibri" pitchFamily="34" charset="0"/>
                <a:ea typeface="Calibri" pitchFamily="34" charset="-122"/>
                <a:cs typeface="Calibri" pitchFamily="34" charset="-120"/>
              </a:rPr>
              <a:t>Reformats across funders</a:t>
            </a:r>
            <a:endParaRPr lang="en-US" sz="1150" dirty="0"/>
          </a:p>
        </p:txBody>
      </p:sp>
      <p:sp>
        <p:nvSpPr>
          <p:cNvPr id="8" name="Text 6"/>
          <p:cNvSpPr txBox="1"/>
          <p:nvPr/>
        </p:nvSpPr>
        <p:spPr>
          <a:xfrm>
            <a:off x="566928" y="2743200"/>
            <a:ext cx="2615184" cy="457200"/>
          </a:xfrm>
          <a:prstGeom prst="rect">
            <a:avLst/>
          </a:prstGeom>
          <a:noFill/>
          <a:ln/>
        </p:spPr>
        <p:txBody>
          <a:bodyPr wrap="square" lIns="0" tIns="0" rIns="0" bIns="0" rtlCol="0" anchor="ctr"/>
          <a:lstStyle/>
          <a:p>
            <a:pPr indent="0" marL="0">
              <a:buNone/>
            </a:pPr>
            <a:r>
              <a:rPr lang="en-US" sz="1150" dirty="0">
                <a:solidFill>
                  <a:srgbClr val="123A47"/>
                </a:solidFill>
                <a:latin typeface="Calibri" pitchFamily="34" charset="0"/>
                <a:ea typeface="Calibri" pitchFamily="34" charset="-122"/>
                <a:cs typeface="Calibri" pitchFamily="34" charset="-120"/>
              </a:rPr>
              <a:t>Follows one funder across stages</a:t>
            </a:r>
            <a:endParaRPr lang="en-US" sz="1150" dirty="0"/>
          </a:p>
        </p:txBody>
      </p:sp>
      <p:sp>
        <p:nvSpPr>
          <p:cNvPr id="9" name="Text 7"/>
          <p:cNvSpPr txBox="1"/>
          <p:nvPr/>
        </p:nvSpPr>
        <p:spPr>
          <a:xfrm>
            <a:off x="566928" y="3200400"/>
            <a:ext cx="2615184" cy="457200"/>
          </a:xfrm>
          <a:prstGeom prst="rect">
            <a:avLst/>
          </a:prstGeom>
          <a:noFill/>
          <a:ln/>
        </p:spPr>
        <p:txBody>
          <a:bodyPr wrap="square" lIns="0" tIns="0" rIns="0" bIns="0" rtlCol="0" anchor="ctr"/>
          <a:lstStyle/>
          <a:p>
            <a:pPr indent="0" marL="0">
              <a:buNone/>
            </a:pPr>
            <a:r>
              <a:rPr lang="en-US" sz="1150" dirty="0">
                <a:solidFill>
                  <a:srgbClr val="123A47"/>
                </a:solidFill>
                <a:latin typeface="Calibri" pitchFamily="34" charset="0"/>
                <a:ea typeface="Calibri" pitchFamily="34" charset="-122"/>
                <a:cs typeface="Calibri" pitchFamily="34" charset="-120"/>
              </a:rPr>
              <a:t>Accessible by design</a:t>
            </a:r>
            <a:endParaRPr lang="en-US" sz="1150" dirty="0"/>
          </a:p>
        </p:txBody>
      </p:sp>
      <p:sp>
        <p:nvSpPr>
          <p:cNvPr id="10" name="Text 8"/>
          <p:cNvSpPr txBox="1"/>
          <p:nvPr/>
        </p:nvSpPr>
        <p:spPr>
          <a:xfrm>
            <a:off x="3310128" y="1316736"/>
            <a:ext cx="1572768" cy="237744"/>
          </a:xfrm>
          <a:prstGeom prst="rect">
            <a:avLst/>
          </a:prstGeom>
          <a:noFill/>
          <a:ln/>
        </p:spPr>
        <p:txBody>
          <a:bodyPr wrap="square" lIns="0" tIns="0" rIns="0" bIns="0" rtlCol="0" anchor="ctr"/>
          <a:lstStyle/>
          <a:p>
            <a:pPr algn="ctr" indent="0" marL="0">
              <a:buNone/>
            </a:pPr>
            <a:r>
              <a:rPr lang="en-US" sz="1150" b="1" dirty="0">
                <a:solidFill>
                  <a:srgbClr val="123A47"/>
                </a:solidFill>
                <a:latin typeface="Calibri" pitchFamily="34" charset="0"/>
                <a:ea typeface="Calibri" pitchFamily="34" charset="-122"/>
                <a:cs typeface="Calibri" pitchFamily="34" charset="-120"/>
              </a:rPr>
              <a:t>GoBusiness</a:t>
            </a:r>
            <a:endParaRPr lang="en-US" sz="1150" dirty="0"/>
          </a:p>
        </p:txBody>
      </p:sp>
      <p:sp>
        <p:nvSpPr>
          <p:cNvPr id="11" name="Text 9"/>
          <p:cNvSpPr txBox="1"/>
          <p:nvPr/>
        </p:nvSpPr>
        <p:spPr>
          <a:xfrm>
            <a:off x="3310128" y="1536192"/>
            <a:ext cx="1572768" cy="219456"/>
          </a:xfrm>
          <a:prstGeom prst="rect">
            <a:avLst/>
          </a:prstGeom>
          <a:noFill/>
          <a:ln/>
        </p:spPr>
        <p:txBody>
          <a:bodyPr wrap="square" lIns="0" tIns="0" rIns="0" bIns="0" rtlCol="0" anchor="ctr"/>
          <a:lstStyle/>
          <a:p>
            <a:pPr algn="ctr" indent="0" marL="0">
              <a:buNone/>
            </a:pPr>
            <a:r>
              <a:rPr lang="en-US" sz="900" i="1" dirty="0">
                <a:solidFill>
                  <a:srgbClr val="6B7C83"/>
                </a:solidFill>
                <a:latin typeface="Calibri" pitchFamily="34" charset="0"/>
                <a:ea typeface="Calibri" pitchFamily="34" charset="-122"/>
                <a:cs typeface="Calibri" pitchFamily="34" charset="-120"/>
              </a:rPr>
              <a:t>SG gov directory</a:t>
            </a:r>
            <a:endParaRPr lang="en-US" sz="900" dirty="0"/>
          </a:p>
        </p:txBody>
      </p:sp>
      <p:sp>
        <p:nvSpPr>
          <p:cNvPr id="12" name="Text 10"/>
          <p:cNvSpPr txBox="1"/>
          <p:nvPr/>
        </p:nvSpPr>
        <p:spPr>
          <a:xfrm>
            <a:off x="3310128" y="1828800"/>
            <a:ext cx="1572768" cy="457200"/>
          </a:xfrm>
          <a:prstGeom prst="rect">
            <a:avLst/>
          </a:prstGeom>
          <a:noFill/>
          <a:ln/>
        </p:spPr>
        <p:txBody>
          <a:bodyPr wrap="square" lIns="0" tIns="0" rIns="0" bIns="0" rtlCol="0" anchor="ctr"/>
          <a:lstStyle/>
          <a:p>
            <a:pPr algn="ctr" indent="0" marL="0">
              <a:buNone/>
            </a:pPr>
            <a:r>
              <a:rPr lang="en-US" sz="1600" dirty="0">
                <a:solidFill>
                  <a:srgbClr val="C77D22"/>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3310128" y="2286000"/>
            <a:ext cx="1572768" cy="457200"/>
          </a:xfrm>
          <a:prstGeom prst="rect">
            <a:avLst/>
          </a:prstGeom>
          <a:noFill/>
          <a:ln/>
        </p:spPr>
        <p:txBody>
          <a:bodyPr wrap="square" lIns="0" tIns="0" rIns="0" bIns="0" rtlCol="0" anchor="ctr"/>
          <a:lstStyle/>
          <a:p>
            <a:pPr algn="ctr" indent="0" marL="0">
              <a:buNone/>
            </a:pPr>
            <a:r>
              <a:rPr lang="en-US" sz="1600" dirty="0">
                <a:solidFill>
                  <a:srgbClr val="B9C6CB"/>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3310128" y="2743200"/>
            <a:ext cx="1572768" cy="457200"/>
          </a:xfrm>
          <a:prstGeom prst="rect">
            <a:avLst/>
          </a:prstGeom>
          <a:noFill/>
          <a:ln/>
        </p:spPr>
        <p:txBody>
          <a:bodyPr wrap="square" lIns="0" tIns="0" rIns="0" bIns="0" rtlCol="0" anchor="ctr"/>
          <a:lstStyle/>
          <a:p>
            <a:pPr algn="ctr" indent="0" marL="0">
              <a:buNone/>
            </a:pPr>
            <a:r>
              <a:rPr lang="en-US" sz="1600" dirty="0">
                <a:solidFill>
                  <a:srgbClr val="B9C6CB"/>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3310128" y="3200400"/>
            <a:ext cx="1572768" cy="457200"/>
          </a:xfrm>
          <a:prstGeom prst="rect">
            <a:avLst/>
          </a:prstGeom>
          <a:noFill/>
          <a:ln/>
        </p:spPr>
        <p:txBody>
          <a:bodyPr wrap="square" lIns="0" tIns="0" rIns="0" bIns="0" rtlCol="0" anchor="ctr"/>
          <a:lstStyle/>
          <a:p>
            <a:pPr algn="ctr" indent="0" marL="0">
              <a:buNone/>
            </a:pPr>
            <a:r>
              <a:rPr lang="en-US" sz="1600" dirty="0">
                <a:solidFill>
                  <a:srgbClr val="B9C6CB"/>
                </a:solidFill>
                <a:latin typeface="Calibri" pitchFamily="34" charset="0"/>
                <a:ea typeface="Calibri" pitchFamily="34" charset="-122"/>
                <a:cs typeface="Calibri" pitchFamily="34" charset="-120"/>
              </a:rPr>
              <a:t>○</a:t>
            </a:r>
            <a:endParaRPr lang="en-US" sz="1600" dirty="0"/>
          </a:p>
        </p:txBody>
      </p:sp>
      <p:sp>
        <p:nvSpPr>
          <p:cNvPr id="16" name="Text 14"/>
          <p:cNvSpPr txBox="1"/>
          <p:nvPr/>
        </p:nvSpPr>
        <p:spPr>
          <a:xfrm>
            <a:off x="5029200" y="1316736"/>
            <a:ext cx="1572768" cy="237744"/>
          </a:xfrm>
          <a:prstGeom prst="rect">
            <a:avLst/>
          </a:prstGeom>
          <a:noFill/>
          <a:ln/>
        </p:spPr>
        <p:txBody>
          <a:bodyPr wrap="square" lIns="0" tIns="0" rIns="0" bIns="0" rtlCol="0" anchor="ctr"/>
          <a:lstStyle/>
          <a:p>
            <a:pPr algn="ctr" indent="0" marL="0">
              <a:buNone/>
            </a:pPr>
            <a:r>
              <a:rPr lang="en-US" sz="1150" b="1" dirty="0">
                <a:solidFill>
                  <a:srgbClr val="123A47"/>
                </a:solidFill>
                <a:latin typeface="Calibri" pitchFamily="34" charset="0"/>
                <a:ea typeface="Calibri" pitchFamily="34" charset="-122"/>
                <a:cs typeface="Calibri" pitchFamily="34" charset="-120"/>
              </a:rPr>
              <a:t>SME Centres</a:t>
            </a:r>
            <a:endParaRPr lang="en-US" sz="1150" dirty="0"/>
          </a:p>
        </p:txBody>
      </p:sp>
      <p:sp>
        <p:nvSpPr>
          <p:cNvPr id="17" name="Text 15"/>
          <p:cNvSpPr txBox="1"/>
          <p:nvPr/>
        </p:nvSpPr>
        <p:spPr>
          <a:xfrm>
            <a:off x="5029200" y="1536192"/>
            <a:ext cx="1572768" cy="219456"/>
          </a:xfrm>
          <a:prstGeom prst="rect">
            <a:avLst/>
          </a:prstGeom>
          <a:noFill/>
          <a:ln/>
        </p:spPr>
        <p:txBody>
          <a:bodyPr wrap="square" lIns="0" tIns="0" rIns="0" bIns="0" rtlCol="0" anchor="ctr"/>
          <a:lstStyle/>
          <a:p>
            <a:pPr algn="ctr" indent="0" marL="0">
              <a:buNone/>
            </a:pPr>
            <a:r>
              <a:rPr lang="en-US" sz="900" i="1" dirty="0">
                <a:solidFill>
                  <a:srgbClr val="6B7C83"/>
                </a:solidFill>
                <a:latin typeface="Calibri" pitchFamily="34" charset="0"/>
                <a:ea typeface="Calibri" pitchFamily="34" charset="-122"/>
                <a:cs typeface="Calibri" pitchFamily="34" charset="-120"/>
              </a:rPr>
              <a:t>SG gov advisory</a:t>
            </a:r>
            <a:endParaRPr lang="en-US" sz="900" dirty="0"/>
          </a:p>
        </p:txBody>
      </p:sp>
      <p:sp>
        <p:nvSpPr>
          <p:cNvPr id="18" name="Text 16"/>
          <p:cNvSpPr txBox="1"/>
          <p:nvPr/>
        </p:nvSpPr>
        <p:spPr>
          <a:xfrm>
            <a:off x="5029200" y="1828800"/>
            <a:ext cx="1572768" cy="457200"/>
          </a:xfrm>
          <a:prstGeom prst="rect">
            <a:avLst/>
          </a:prstGeom>
          <a:noFill/>
          <a:ln/>
        </p:spPr>
        <p:txBody>
          <a:bodyPr wrap="square" lIns="0" tIns="0" rIns="0" bIns="0" rtlCol="0" anchor="ctr"/>
          <a:lstStyle/>
          <a:p>
            <a:pPr algn="ctr" indent="0" marL="0">
              <a:buNone/>
            </a:pPr>
            <a:r>
              <a:rPr lang="en-US" sz="1600" dirty="0">
                <a:solidFill>
                  <a:srgbClr val="C77D22"/>
                </a:solidFill>
                <a:latin typeface="Calibri" pitchFamily="34" charset="0"/>
                <a:ea typeface="Calibri" pitchFamily="34" charset="-122"/>
                <a:cs typeface="Calibri" pitchFamily="34" charset="-120"/>
              </a:rPr>
              <a:t>◐</a:t>
            </a:r>
            <a:endParaRPr lang="en-US" sz="1600" dirty="0"/>
          </a:p>
        </p:txBody>
      </p:sp>
      <p:sp>
        <p:nvSpPr>
          <p:cNvPr id="19" name="Text 17"/>
          <p:cNvSpPr txBox="1"/>
          <p:nvPr/>
        </p:nvSpPr>
        <p:spPr>
          <a:xfrm>
            <a:off x="5029200" y="2286000"/>
            <a:ext cx="1572768" cy="457200"/>
          </a:xfrm>
          <a:prstGeom prst="rect">
            <a:avLst/>
          </a:prstGeom>
          <a:noFill/>
          <a:ln/>
        </p:spPr>
        <p:txBody>
          <a:bodyPr wrap="square" lIns="0" tIns="0" rIns="0" bIns="0" rtlCol="0" anchor="ctr"/>
          <a:lstStyle/>
          <a:p>
            <a:pPr algn="ctr" indent="0" marL="0">
              <a:buNone/>
            </a:pPr>
            <a:r>
              <a:rPr lang="en-US" sz="1600" dirty="0">
                <a:solidFill>
                  <a:srgbClr val="B9C6CB"/>
                </a:solidFill>
                <a:latin typeface="Calibri" pitchFamily="34" charset="0"/>
                <a:ea typeface="Calibri" pitchFamily="34" charset="-122"/>
                <a:cs typeface="Calibri" pitchFamily="34" charset="-120"/>
              </a:rPr>
              <a:t>○</a:t>
            </a:r>
            <a:endParaRPr lang="en-US" sz="1600" dirty="0"/>
          </a:p>
        </p:txBody>
      </p:sp>
      <p:sp>
        <p:nvSpPr>
          <p:cNvPr id="20" name="Text 18"/>
          <p:cNvSpPr txBox="1"/>
          <p:nvPr/>
        </p:nvSpPr>
        <p:spPr>
          <a:xfrm>
            <a:off x="5029200" y="2743200"/>
            <a:ext cx="1572768" cy="457200"/>
          </a:xfrm>
          <a:prstGeom prst="rect">
            <a:avLst/>
          </a:prstGeom>
          <a:noFill/>
          <a:ln/>
        </p:spPr>
        <p:txBody>
          <a:bodyPr wrap="square" lIns="0" tIns="0" rIns="0" bIns="0" rtlCol="0" anchor="ctr"/>
          <a:lstStyle/>
          <a:p>
            <a:pPr algn="ctr" indent="0" marL="0">
              <a:buNone/>
            </a:pPr>
            <a:r>
              <a:rPr lang="en-US" sz="1600" dirty="0">
                <a:solidFill>
                  <a:srgbClr val="B9C6CB"/>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5029200" y="3200400"/>
            <a:ext cx="1572768" cy="457200"/>
          </a:xfrm>
          <a:prstGeom prst="rect">
            <a:avLst/>
          </a:prstGeom>
          <a:noFill/>
          <a:ln/>
        </p:spPr>
        <p:txBody>
          <a:bodyPr wrap="square" lIns="0" tIns="0" rIns="0" bIns="0" rtlCol="0" anchor="ctr"/>
          <a:lstStyle/>
          <a:p>
            <a:pPr algn="ctr" indent="0" marL="0">
              <a:buNone/>
            </a:pPr>
            <a:r>
              <a:rPr lang="en-US" sz="1600" dirty="0">
                <a:solidFill>
                  <a:srgbClr val="B9C6CB"/>
                </a:solidFill>
                <a:latin typeface="Calibri" pitchFamily="34" charset="0"/>
                <a:ea typeface="Calibri" pitchFamily="34" charset="-122"/>
                <a:cs typeface="Calibri" pitchFamily="34" charset="-120"/>
              </a:rPr>
              <a:t>○</a:t>
            </a:r>
            <a:endParaRPr lang="en-US" sz="1600" dirty="0"/>
          </a:p>
        </p:txBody>
      </p:sp>
      <p:sp>
        <p:nvSpPr>
          <p:cNvPr id="22" name="Text 20"/>
          <p:cNvSpPr txBox="1"/>
          <p:nvPr/>
        </p:nvSpPr>
        <p:spPr>
          <a:xfrm>
            <a:off x="6748272" y="1316736"/>
            <a:ext cx="1572768" cy="237744"/>
          </a:xfrm>
          <a:prstGeom prst="rect">
            <a:avLst/>
          </a:prstGeom>
          <a:noFill/>
          <a:ln/>
        </p:spPr>
        <p:txBody>
          <a:bodyPr wrap="square" lIns="0" tIns="0" rIns="0" bIns="0" rtlCol="0" anchor="ctr"/>
          <a:lstStyle/>
          <a:p>
            <a:pPr algn="ctr" indent="0" marL="0">
              <a:buNone/>
            </a:pPr>
            <a:r>
              <a:rPr lang="en-US" sz="1150" b="1" dirty="0">
                <a:solidFill>
                  <a:srgbClr val="123A47"/>
                </a:solidFill>
                <a:latin typeface="Calibri" pitchFamily="34" charset="0"/>
                <a:ea typeface="Calibri" pitchFamily="34" charset="-122"/>
                <a:cs typeface="Calibri" pitchFamily="34" charset="-120"/>
              </a:rPr>
              <a:t>Grantable</a:t>
            </a:r>
            <a:endParaRPr lang="en-US" sz="1150" dirty="0"/>
          </a:p>
        </p:txBody>
      </p:sp>
      <p:sp>
        <p:nvSpPr>
          <p:cNvPr id="23" name="Text 21"/>
          <p:cNvSpPr txBox="1"/>
          <p:nvPr/>
        </p:nvSpPr>
        <p:spPr>
          <a:xfrm>
            <a:off x="6748272" y="1536192"/>
            <a:ext cx="1572768" cy="219456"/>
          </a:xfrm>
          <a:prstGeom prst="rect">
            <a:avLst/>
          </a:prstGeom>
          <a:noFill/>
          <a:ln/>
        </p:spPr>
        <p:txBody>
          <a:bodyPr wrap="square" lIns="0" tIns="0" rIns="0" bIns="0" rtlCol="0" anchor="ctr"/>
          <a:lstStyle/>
          <a:p>
            <a:pPr algn="ctr" indent="0" marL="0">
              <a:buNone/>
            </a:pPr>
            <a:r>
              <a:rPr lang="en-US" sz="900" i="1" dirty="0">
                <a:solidFill>
                  <a:srgbClr val="6B7C83"/>
                </a:solidFill>
                <a:latin typeface="Calibri" pitchFamily="34" charset="0"/>
                <a:ea typeface="Calibri" pitchFamily="34" charset="-122"/>
                <a:cs typeface="Calibri" pitchFamily="34" charset="-120"/>
              </a:rPr>
              <a:t>US SaaS</a:t>
            </a:r>
            <a:endParaRPr lang="en-US" sz="900" dirty="0"/>
          </a:p>
        </p:txBody>
      </p:sp>
      <p:sp>
        <p:nvSpPr>
          <p:cNvPr id="24" name="Text 22"/>
          <p:cNvSpPr txBox="1"/>
          <p:nvPr/>
        </p:nvSpPr>
        <p:spPr>
          <a:xfrm>
            <a:off x="6748272" y="1828800"/>
            <a:ext cx="1572768" cy="457200"/>
          </a:xfrm>
          <a:prstGeom prst="rect">
            <a:avLst/>
          </a:prstGeom>
          <a:noFill/>
          <a:ln/>
        </p:spPr>
        <p:txBody>
          <a:bodyPr wrap="square" lIns="0" tIns="0" rIns="0" bIns="0" rtlCol="0" anchor="ctr"/>
          <a:lstStyle/>
          <a:p>
            <a:pPr algn="ctr" indent="0" marL="0">
              <a:buNone/>
            </a:pPr>
            <a:r>
              <a:rPr lang="en-US" sz="1600" dirty="0">
                <a:solidFill>
                  <a:srgbClr val="B9C6CB"/>
                </a:solidFill>
                <a:latin typeface="Calibri" pitchFamily="34" charset="0"/>
                <a:ea typeface="Calibri" pitchFamily="34" charset="-122"/>
                <a:cs typeface="Calibri" pitchFamily="34" charset="-120"/>
              </a:rPr>
              <a:t>○</a:t>
            </a:r>
            <a:endParaRPr lang="en-US" sz="1600" dirty="0"/>
          </a:p>
        </p:txBody>
      </p:sp>
      <p:sp>
        <p:nvSpPr>
          <p:cNvPr id="25" name="Text 23"/>
          <p:cNvSpPr txBox="1"/>
          <p:nvPr/>
        </p:nvSpPr>
        <p:spPr>
          <a:xfrm>
            <a:off x="6748272" y="2286000"/>
            <a:ext cx="1572768" cy="457200"/>
          </a:xfrm>
          <a:prstGeom prst="rect">
            <a:avLst/>
          </a:prstGeom>
          <a:noFill/>
          <a:ln/>
        </p:spPr>
        <p:txBody>
          <a:bodyPr wrap="square" lIns="0" tIns="0" rIns="0" bIns="0" rtlCol="0" anchor="ctr"/>
          <a:lstStyle/>
          <a:p>
            <a:pPr algn="ctr" indent="0" marL="0">
              <a:buNone/>
            </a:pPr>
            <a:r>
              <a:rPr lang="en-US" sz="1600" dirty="0">
                <a:solidFill>
                  <a:srgbClr val="123A47"/>
                </a:solidFill>
                <a:latin typeface="Calibri" pitchFamily="34" charset="0"/>
                <a:ea typeface="Calibri" pitchFamily="34" charset="-122"/>
                <a:cs typeface="Calibri" pitchFamily="34" charset="-120"/>
              </a:rPr>
              <a:t>●</a:t>
            </a:r>
            <a:endParaRPr lang="en-US" sz="1600" dirty="0"/>
          </a:p>
        </p:txBody>
      </p:sp>
      <p:sp>
        <p:nvSpPr>
          <p:cNvPr id="26" name="Text 24"/>
          <p:cNvSpPr txBox="1"/>
          <p:nvPr/>
        </p:nvSpPr>
        <p:spPr>
          <a:xfrm>
            <a:off x="6748272" y="2743200"/>
            <a:ext cx="1572768" cy="457200"/>
          </a:xfrm>
          <a:prstGeom prst="rect">
            <a:avLst/>
          </a:prstGeom>
          <a:noFill/>
          <a:ln/>
        </p:spPr>
        <p:txBody>
          <a:bodyPr wrap="square" lIns="0" tIns="0" rIns="0" bIns="0" rtlCol="0" anchor="ctr"/>
          <a:lstStyle/>
          <a:p>
            <a:pPr algn="ctr" indent="0" marL="0">
              <a:buNone/>
            </a:pPr>
            <a:r>
              <a:rPr lang="en-US" sz="1600" dirty="0">
                <a:solidFill>
                  <a:srgbClr val="B9C6CB"/>
                </a:solidFill>
                <a:latin typeface="Calibri" pitchFamily="34" charset="0"/>
                <a:ea typeface="Calibri" pitchFamily="34" charset="-122"/>
                <a:cs typeface="Calibri" pitchFamily="34" charset="-120"/>
              </a:rPr>
              <a:t>○</a:t>
            </a:r>
            <a:endParaRPr lang="en-US" sz="1600" dirty="0"/>
          </a:p>
        </p:txBody>
      </p:sp>
      <p:sp>
        <p:nvSpPr>
          <p:cNvPr id="27" name="Text 25"/>
          <p:cNvSpPr txBox="1"/>
          <p:nvPr/>
        </p:nvSpPr>
        <p:spPr>
          <a:xfrm>
            <a:off x="6748272" y="3200400"/>
            <a:ext cx="1572768" cy="457200"/>
          </a:xfrm>
          <a:prstGeom prst="rect">
            <a:avLst/>
          </a:prstGeom>
          <a:noFill/>
          <a:ln/>
        </p:spPr>
        <p:txBody>
          <a:bodyPr wrap="square" lIns="0" tIns="0" rIns="0" bIns="0" rtlCol="0" anchor="ctr"/>
          <a:lstStyle/>
          <a:p>
            <a:pPr algn="ctr" indent="0" marL="0">
              <a:buNone/>
            </a:pPr>
            <a:r>
              <a:rPr lang="en-US" sz="1600" dirty="0">
                <a:solidFill>
                  <a:srgbClr val="B9C6CB"/>
                </a:solidFill>
                <a:latin typeface="Calibri" pitchFamily="34" charset="0"/>
                <a:ea typeface="Calibri" pitchFamily="34" charset="-122"/>
                <a:cs typeface="Calibri" pitchFamily="34" charset="-120"/>
              </a:rPr>
              <a:t>○</a:t>
            </a:r>
            <a:endParaRPr lang="en-US" sz="1600" dirty="0"/>
          </a:p>
        </p:txBody>
      </p:sp>
      <p:sp>
        <p:nvSpPr>
          <p:cNvPr id="28" name="Text 26"/>
          <p:cNvSpPr txBox="1"/>
          <p:nvPr/>
        </p:nvSpPr>
        <p:spPr>
          <a:xfrm>
            <a:off x="8467344" y="1316736"/>
            <a:ext cx="1572768" cy="237744"/>
          </a:xfrm>
          <a:prstGeom prst="rect">
            <a:avLst/>
          </a:prstGeom>
          <a:noFill/>
          <a:ln/>
        </p:spPr>
        <p:txBody>
          <a:bodyPr wrap="square" lIns="0" tIns="0" rIns="0" bIns="0" rtlCol="0" anchor="ctr"/>
          <a:lstStyle/>
          <a:p>
            <a:pPr algn="ctr" indent="0" marL="0">
              <a:buNone/>
            </a:pPr>
            <a:r>
              <a:rPr lang="en-US" sz="1150" b="1" dirty="0">
                <a:solidFill>
                  <a:srgbClr val="123A47"/>
                </a:solidFill>
                <a:latin typeface="Calibri" pitchFamily="34" charset="0"/>
                <a:ea typeface="Calibri" pitchFamily="34" charset="-122"/>
                <a:cs typeface="Calibri" pitchFamily="34" charset="-120"/>
              </a:rPr>
              <a:t>Instrumentl</a:t>
            </a:r>
            <a:endParaRPr lang="en-US" sz="1150" dirty="0"/>
          </a:p>
        </p:txBody>
      </p:sp>
      <p:sp>
        <p:nvSpPr>
          <p:cNvPr id="29" name="Text 27"/>
          <p:cNvSpPr txBox="1"/>
          <p:nvPr/>
        </p:nvSpPr>
        <p:spPr>
          <a:xfrm>
            <a:off x="8467344" y="1536192"/>
            <a:ext cx="1572768" cy="219456"/>
          </a:xfrm>
          <a:prstGeom prst="rect">
            <a:avLst/>
          </a:prstGeom>
          <a:noFill/>
          <a:ln/>
        </p:spPr>
        <p:txBody>
          <a:bodyPr wrap="square" lIns="0" tIns="0" rIns="0" bIns="0" rtlCol="0" anchor="ctr"/>
          <a:lstStyle/>
          <a:p>
            <a:pPr algn="ctr" indent="0" marL="0">
              <a:buNone/>
            </a:pPr>
            <a:r>
              <a:rPr lang="en-US" sz="900" i="1" dirty="0">
                <a:solidFill>
                  <a:srgbClr val="6B7C83"/>
                </a:solidFill>
                <a:latin typeface="Calibri" pitchFamily="34" charset="0"/>
                <a:ea typeface="Calibri" pitchFamily="34" charset="-122"/>
                <a:cs typeface="Calibri" pitchFamily="34" charset="-120"/>
              </a:rPr>
              <a:t>US SaaS</a:t>
            </a:r>
            <a:endParaRPr lang="en-US" sz="900" dirty="0"/>
          </a:p>
        </p:txBody>
      </p:sp>
      <p:sp>
        <p:nvSpPr>
          <p:cNvPr id="30" name="Text 28"/>
          <p:cNvSpPr txBox="1"/>
          <p:nvPr/>
        </p:nvSpPr>
        <p:spPr>
          <a:xfrm>
            <a:off x="8467344" y="1828800"/>
            <a:ext cx="1572768" cy="457200"/>
          </a:xfrm>
          <a:prstGeom prst="rect">
            <a:avLst/>
          </a:prstGeom>
          <a:noFill/>
          <a:ln/>
        </p:spPr>
        <p:txBody>
          <a:bodyPr wrap="square" lIns="0" tIns="0" rIns="0" bIns="0" rtlCol="0" anchor="ctr"/>
          <a:lstStyle/>
          <a:p>
            <a:pPr algn="ctr" indent="0" marL="0">
              <a:buNone/>
            </a:pPr>
            <a:r>
              <a:rPr lang="en-US" sz="1600" dirty="0">
                <a:solidFill>
                  <a:srgbClr val="C77D22"/>
                </a:solidFill>
                <a:latin typeface="Calibri" pitchFamily="34" charset="0"/>
                <a:ea typeface="Calibri" pitchFamily="34" charset="-122"/>
                <a:cs typeface="Calibri" pitchFamily="34" charset="-120"/>
              </a:rPr>
              <a:t>◐</a:t>
            </a:r>
            <a:endParaRPr lang="en-US" sz="1600" dirty="0"/>
          </a:p>
        </p:txBody>
      </p:sp>
      <p:sp>
        <p:nvSpPr>
          <p:cNvPr id="31" name="Text 29"/>
          <p:cNvSpPr txBox="1"/>
          <p:nvPr/>
        </p:nvSpPr>
        <p:spPr>
          <a:xfrm>
            <a:off x="8467344" y="2286000"/>
            <a:ext cx="1572768" cy="457200"/>
          </a:xfrm>
          <a:prstGeom prst="rect">
            <a:avLst/>
          </a:prstGeom>
          <a:noFill/>
          <a:ln/>
        </p:spPr>
        <p:txBody>
          <a:bodyPr wrap="square" lIns="0" tIns="0" rIns="0" bIns="0" rtlCol="0" anchor="ctr"/>
          <a:lstStyle/>
          <a:p>
            <a:pPr algn="ctr" indent="0" marL="0">
              <a:buNone/>
            </a:pPr>
            <a:r>
              <a:rPr lang="en-US" sz="1600" dirty="0">
                <a:solidFill>
                  <a:srgbClr val="C77D22"/>
                </a:solidFill>
                <a:latin typeface="Calibri" pitchFamily="34" charset="0"/>
                <a:ea typeface="Calibri" pitchFamily="34" charset="-122"/>
                <a:cs typeface="Calibri" pitchFamily="34" charset="-120"/>
              </a:rPr>
              <a:t>◐</a:t>
            </a:r>
            <a:endParaRPr lang="en-US" sz="1600" dirty="0"/>
          </a:p>
        </p:txBody>
      </p:sp>
      <p:sp>
        <p:nvSpPr>
          <p:cNvPr id="32" name="Text 30"/>
          <p:cNvSpPr txBox="1"/>
          <p:nvPr/>
        </p:nvSpPr>
        <p:spPr>
          <a:xfrm>
            <a:off x="8467344" y="2743200"/>
            <a:ext cx="1572768" cy="457200"/>
          </a:xfrm>
          <a:prstGeom prst="rect">
            <a:avLst/>
          </a:prstGeom>
          <a:noFill/>
          <a:ln/>
        </p:spPr>
        <p:txBody>
          <a:bodyPr wrap="square" lIns="0" tIns="0" rIns="0" bIns="0" rtlCol="0" anchor="ctr"/>
          <a:lstStyle/>
          <a:p>
            <a:pPr algn="ctr" indent="0" marL="0">
              <a:buNone/>
            </a:pPr>
            <a:r>
              <a:rPr lang="en-US" sz="1600" dirty="0">
                <a:solidFill>
                  <a:srgbClr val="C77D22"/>
                </a:solidFill>
                <a:latin typeface="Calibri" pitchFamily="34" charset="0"/>
                <a:ea typeface="Calibri" pitchFamily="34" charset="-122"/>
                <a:cs typeface="Calibri" pitchFamily="34" charset="-120"/>
              </a:rPr>
              <a:t>◐</a:t>
            </a:r>
            <a:endParaRPr lang="en-US" sz="1600" dirty="0"/>
          </a:p>
        </p:txBody>
      </p:sp>
      <p:sp>
        <p:nvSpPr>
          <p:cNvPr id="33" name="Text 31"/>
          <p:cNvSpPr txBox="1"/>
          <p:nvPr/>
        </p:nvSpPr>
        <p:spPr>
          <a:xfrm>
            <a:off x="8467344" y="3200400"/>
            <a:ext cx="1572768" cy="457200"/>
          </a:xfrm>
          <a:prstGeom prst="rect">
            <a:avLst/>
          </a:prstGeom>
          <a:noFill/>
          <a:ln/>
        </p:spPr>
        <p:txBody>
          <a:bodyPr wrap="square" lIns="0" tIns="0" rIns="0" bIns="0" rtlCol="0" anchor="ctr"/>
          <a:lstStyle/>
          <a:p>
            <a:pPr algn="ctr" indent="0" marL="0">
              <a:buNone/>
            </a:pPr>
            <a:r>
              <a:rPr lang="en-US" sz="1600" dirty="0">
                <a:solidFill>
                  <a:srgbClr val="B9C6CB"/>
                </a:solidFill>
                <a:latin typeface="Calibri" pitchFamily="34" charset="0"/>
                <a:ea typeface="Calibri" pitchFamily="34" charset="-122"/>
                <a:cs typeface="Calibri" pitchFamily="34" charset="-120"/>
              </a:rPr>
              <a:t>○</a:t>
            </a:r>
            <a:endParaRPr lang="en-US" sz="1600" dirty="0"/>
          </a:p>
        </p:txBody>
      </p:sp>
      <p:sp>
        <p:nvSpPr>
          <p:cNvPr id="34" name="Shape 32"/>
          <p:cNvSpPr/>
          <p:nvPr/>
        </p:nvSpPr>
        <p:spPr>
          <a:xfrm>
            <a:off x="10140696" y="1225296"/>
            <a:ext cx="1645920" cy="2542032"/>
          </a:xfrm>
          <a:prstGeom prst="roundRect">
            <a:avLst>
              <a:gd name="adj" fmla="val 3889"/>
            </a:avLst>
          </a:prstGeom>
          <a:solidFill>
            <a:srgbClr val="E4EFEA"/>
          </a:solidFill>
          <a:ln w="12700">
            <a:solidFill>
              <a:srgbClr val="2E7D5B"/>
            </a:solidFill>
            <a:prstDash val="solid"/>
          </a:ln>
        </p:spPr>
      </p:sp>
      <p:sp>
        <p:nvSpPr>
          <p:cNvPr id="35" name="Text 33"/>
          <p:cNvSpPr txBox="1"/>
          <p:nvPr/>
        </p:nvSpPr>
        <p:spPr>
          <a:xfrm>
            <a:off x="10186416" y="1316736"/>
            <a:ext cx="1572768" cy="237744"/>
          </a:xfrm>
          <a:prstGeom prst="rect">
            <a:avLst/>
          </a:prstGeom>
          <a:noFill/>
          <a:ln/>
        </p:spPr>
        <p:txBody>
          <a:bodyPr wrap="square" lIns="0" tIns="0" rIns="0" bIns="0" rtlCol="0" anchor="ctr"/>
          <a:lstStyle/>
          <a:p>
            <a:pPr algn="ctr" indent="0" marL="0">
              <a:buNone/>
            </a:pPr>
            <a:r>
              <a:rPr lang="en-US" sz="1150" b="1" dirty="0">
                <a:solidFill>
                  <a:srgbClr val="2E7D5B"/>
                </a:solidFill>
                <a:latin typeface="Calibri" pitchFamily="34" charset="0"/>
                <a:ea typeface="Calibri" pitchFamily="34" charset="-122"/>
                <a:cs typeface="Calibri" pitchFamily="34" charset="-120"/>
              </a:rPr>
              <a:t>Groundwork</a:t>
            </a:r>
            <a:endParaRPr lang="en-US" sz="1150" dirty="0"/>
          </a:p>
        </p:txBody>
      </p:sp>
      <p:sp>
        <p:nvSpPr>
          <p:cNvPr id="36" name="Text 34"/>
          <p:cNvSpPr txBox="1"/>
          <p:nvPr/>
        </p:nvSpPr>
        <p:spPr>
          <a:xfrm>
            <a:off x="10186416" y="1536192"/>
            <a:ext cx="1572768" cy="219456"/>
          </a:xfrm>
          <a:prstGeom prst="rect">
            <a:avLst/>
          </a:prstGeom>
          <a:noFill/>
          <a:ln/>
        </p:spPr>
        <p:txBody>
          <a:bodyPr wrap="square" lIns="0" tIns="0" rIns="0" bIns="0" rtlCol="0" anchor="ctr"/>
          <a:lstStyle/>
          <a:p>
            <a:pPr algn="ctr" indent="0" marL="0">
              <a:buNone/>
            </a:pPr>
            <a:r>
              <a:rPr lang="en-US" sz="900" i="1" dirty="0">
                <a:solidFill>
                  <a:srgbClr val="6B7C83"/>
                </a:solidFill>
                <a:latin typeface="Calibri" pitchFamily="34" charset="0"/>
                <a:ea typeface="Calibri" pitchFamily="34" charset="-122"/>
                <a:cs typeface="Calibri" pitchFamily="34" charset="-120"/>
              </a:rPr>
              <a:t>us</a:t>
            </a:r>
            <a:endParaRPr lang="en-US" sz="900" dirty="0"/>
          </a:p>
        </p:txBody>
      </p:sp>
      <p:sp>
        <p:nvSpPr>
          <p:cNvPr id="37" name="Text 35"/>
          <p:cNvSpPr txBox="1"/>
          <p:nvPr/>
        </p:nvSpPr>
        <p:spPr>
          <a:xfrm>
            <a:off x="10186416" y="1828800"/>
            <a:ext cx="1572768" cy="457200"/>
          </a:xfrm>
          <a:prstGeom prst="rect">
            <a:avLst/>
          </a:prstGeom>
          <a:noFill/>
          <a:ln/>
        </p:spPr>
        <p:txBody>
          <a:bodyPr wrap="square" lIns="0" tIns="0" rIns="0" bIns="0" rtlCol="0" anchor="ctr"/>
          <a:lstStyle/>
          <a:p>
            <a:pPr algn="ctr" indent="0" marL="0">
              <a:buNone/>
            </a:pPr>
            <a:r>
              <a:rPr lang="en-US" sz="1600" dirty="0">
                <a:solidFill>
                  <a:srgbClr val="2E7D5B"/>
                </a:solidFill>
                <a:latin typeface="Calibri" pitchFamily="34" charset="0"/>
                <a:ea typeface="Calibri" pitchFamily="34" charset="-122"/>
                <a:cs typeface="Calibri" pitchFamily="34" charset="-120"/>
              </a:rPr>
              <a:t>●</a:t>
            </a:r>
            <a:endParaRPr lang="en-US" sz="1600" dirty="0"/>
          </a:p>
        </p:txBody>
      </p:sp>
      <p:sp>
        <p:nvSpPr>
          <p:cNvPr id="38" name="Text 36"/>
          <p:cNvSpPr txBox="1"/>
          <p:nvPr/>
        </p:nvSpPr>
        <p:spPr>
          <a:xfrm>
            <a:off x="10186416" y="2286000"/>
            <a:ext cx="1572768" cy="457200"/>
          </a:xfrm>
          <a:prstGeom prst="rect">
            <a:avLst/>
          </a:prstGeom>
          <a:noFill/>
          <a:ln/>
        </p:spPr>
        <p:txBody>
          <a:bodyPr wrap="square" lIns="0" tIns="0" rIns="0" bIns="0" rtlCol="0" anchor="ctr"/>
          <a:lstStyle/>
          <a:p>
            <a:pPr algn="ctr" indent="0" marL="0">
              <a:buNone/>
            </a:pPr>
            <a:r>
              <a:rPr lang="en-US" sz="1600" dirty="0">
                <a:solidFill>
                  <a:srgbClr val="2E7D5B"/>
                </a:solidFill>
                <a:latin typeface="Calibri" pitchFamily="34" charset="0"/>
                <a:ea typeface="Calibri" pitchFamily="34" charset="-122"/>
                <a:cs typeface="Calibri" pitchFamily="34" charset="-120"/>
              </a:rPr>
              <a:t>●</a:t>
            </a:r>
            <a:endParaRPr lang="en-US" sz="1600" dirty="0"/>
          </a:p>
        </p:txBody>
      </p:sp>
      <p:sp>
        <p:nvSpPr>
          <p:cNvPr id="39" name="Text 37"/>
          <p:cNvSpPr txBox="1"/>
          <p:nvPr/>
        </p:nvSpPr>
        <p:spPr>
          <a:xfrm>
            <a:off x="10186416" y="2743200"/>
            <a:ext cx="1572768" cy="457200"/>
          </a:xfrm>
          <a:prstGeom prst="rect">
            <a:avLst/>
          </a:prstGeom>
          <a:noFill/>
          <a:ln/>
        </p:spPr>
        <p:txBody>
          <a:bodyPr wrap="square" lIns="0" tIns="0" rIns="0" bIns="0" rtlCol="0" anchor="ctr"/>
          <a:lstStyle/>
          <a:p>
            <a:pPr algn="ctr" indent="0" marL="0">
              <a:buNone/>
            </a:pPr>
            <a:r>
              <a:rPr lang="en-US" sz="1600" dirty="0">
                <a:solidFill>
                  <a:srgbClr val="2E7D5B"/>
                </a:solidFill>
                <a:latin typeface="Calibri" pitchFamily="34" charset="0"/>
                <a:ea typeface="Calibri" pitchFamily="34" charset="-122"/>
                <a:cs typeface="Calibri" pitchFamily="34" charset="-120"/>
              </a:rPr>
              <a:t>●</a:t>
            </a:r>
            <a:endParaRPr lang="en-US" sz="1600" dirty="0"/>
          </a:p>
        </p:txBody>
      </p:sp>
      <p:sp>
        <p:nvSpPr>
          <p:cNvPr id="40" name="Text 38"/>
          <p:cNvSpPr txBox="1"/>
          <p:nvPr/>
        </p:nvSpPr>
        <p:spPr>
          <a:xfrm>
            <a:off x="10186416" y="3200400"/>
            <a:ext cx="1572768" cy="457200"/>
          </a:xfrm>
          <a:prstGeom prst="rect">
            <a:avLst/>
          </a:prstGeom>
          <a:noFill/>
          <a:ln/>
        </p:spPr>
        <p:txBody>
          <a:bodyPr wrap="square" lIns="0" tIns="0" rIns="0" bIns="0" rtlCol="0" anchor="ctr"/>
          <a:lstStyle/>
          <a:p>
            <a:pPr algn="ctr" indent="0" marL="0">
              <a:buNone/>
            </a:pPr>
            <a:r>
              <a:rPr lang="en-US" sz="1600" dirty="0">
                <a:solidFill>
                  <a:srgbClr val="2E7D5B"/>
                </a:solidFill>
                <a:latin typeface="Calibri" pitchFamily="34" charset="0"/>
                <a:ea typeface="Calibri" pitchFamily="34" charset="-122"/>
                <a:cs typeface="Calibri" pitchFamily="34" charset="-120"/>
              </a:rPr>
              <a:t>●</a:t>
            </a:r>
            <a:endParaRPr lang="en-US" sz="1600" dirty="0"/>
          </a:p>
        </p:txBody>
      </p:sp>
      <p:sp>
        <p:nvSpPr>
          <p:cNvPr id="41" name="Text 39"/>
          <p:cNvSpPr txBox="1"/>
          <p:nvPr/>
        </p:nvSpPr>
        <p:spPr>
          <a:xfrm>
            <a:off x="566928" y="3749040"/>
            <a:ext cx="3657600" cy="237744"/>
          </a:xfrm>
          <a:prstGeom prst="rect">
            <a:avLst/>
          </a:prstGeom>
          <a:noFill/>
          <a:ln/>
        </p:spPr>
        <p:txBody>
          <a:bodyPr wrap="square" lIns="0" tIns="0" rIns="0" bIns="0" rtlCol="0" anchor="ctr"/>
          <a:lstStyle/>
          <a:p>
            <a:pPr indent="0" marL="0">
              <a:buNone/>
            </a:pPr>
            <a:r>
              <a:rPr lang="en-US" sz="950" dirty="0">
                <a:solidFill>
                  <a:srgbClr val="6B7C83"/>
                </a:solidFill>
                <a:latin typeface="Calibri" pitchFamily="34" charset="0"/>
                <a:ea typeface="Calibri" pitchFamily="34" charset="-122"/>
                <a:cs typeface="Calibri" pitchFamily="34" charset="-120"/>
              </a:rPr>
              <a:t>●  full        ◐  partial        ○  none</a:t>
            </a:r>
            <a:endParaRPr lang="en-US" sz="950" dirty="0"/>
          </a:p>
        </p:txBody>
      </p:sp>
      <p:sp>
        <p:nvSpPr>
          <p:cNvPr id="42" name="Text 40"/>
          <p:cNvSpPr txBox="1"/>
          <p:nvPr/>
        </p:nvSpPr>
        <p:spPr>
          <a:xfrm>
            <a:off x="566928" y="3877056"/>
            <a:ext cx="5486400" cy="256032"/>
          </a:xfrm>
          <a:prstGeom prst="rect">
            <a:avLst/>
          </a:prstGeom>
          <a:noFill/>
          <a:ln/>
        </p:spPr>
        <p:txBody>
          <a:bodyPr wrap="square" lIns="0" tIns="0" rIns="0" bIns="0" rtlCol="0" anchor="ctr"/>
          <a:lstStyle/>
          <a:p>
            <a:pPr indent="0" marL="0">
              <a:buNone/>
            </a:pPr>
            <a:r>
              <a:rPr lang="en-US" sz="1100" b="1" spc="100" kern="0" dirty="0">
                <a:solidFill>
                  <a:srgbClr val="6B7C83"/>
                </a:solidFill>
                <a:latin typeface="Calibri" pitchFamily="34" charset="0"/>
                <a:ea typeface="Calibri" pitchFamily="34" charset="-122"/>
                <a:cs typeface="Calibri" pitchFamily="34" charset="-120"/>
              </a:rPr>
              <a:t>Where each one stops</a:t>
            </a:r>
            <a:endParaRPr lang="en-US" sz="1100" dirty="0"/>
          </a:p>
        </p:txBody>
      </p:sp>
      <p:sp>
        <p:nvSpPr>
          <p:cNvPr id="43" name="Text 41"/>
          <p:cNvSpPr txBox="1"/>
          <p:nvPr/>
        </p:nvSpPr>
        <p:spPr>
          <a:xfrm>
            <a:off x="566928" y="4169664"/>
            <a:ext cx="2103120" cy="237744"/>
          </a:xfrm>
          <a:prstGeom prst="rect">
            <a:avLst/>
          </a:prstGeom>
          <a:noFill/>
          <a:ln/>
        </p:spPr>
        <p:txBody>
          <a:bodyPr wrap="square" lIns="0" tIns="0" rIns="0" bIns="0" rtlCol="0" anchor="ctr"/>
          <a:lstStyle/>
          <a:p>
            <a:pPr indent="0" marL="0">
              <a:buNone/>
            </a:pPr>
            <a:r>
              <a:rPr lang="en-US" sz="1100" b="1" dirty="0">
                <a:solidFill>
                  <a:srgbClr val="123A47"/>
                </a:solidFill>
                <a:latin typeface="Calibri" pitchFamily="34" charset="0"/>
                <a:ea typeface="Calibri" pitchFamily="34" charset="-122"/>
                <a:cs typeface="Calibri" pitchFamily="34" charset="-120"/>
              </a:rPr>
              <a:t>GoBusiness</a:t>
            </a:r>
            <a:endParaRPr lang="en-US" sz="1100" dirty="0"/>
          </a:p>
        </p:txBody>
      </p:sp>
      <p:sp>
        <p:nvSpPr>
          <p:cNvPr id="44" name="Text 42"/>
          <p:cNvSpPr txBox="1"/>
          <p:nvPr/>
        </p:nvSpPr>
        <p:spPr>
          <a:xfrm>
            <a:off x="566928" y="4425696"/>
            <a:ext cx="2103120" cy="1005840"/>
          </a:xfrm>
          <a:prstGeom prst="rect">
            <a:avLst/>
          </a:prstGeom>
          <a:noFill/>
          <a:ln/>
        </p:spPr>
        <p:txBody>
          <a:bodyPr wrap="square" lIns="0" tIns="0" rIns="0" bIns="0" rtlCol="0" anchor="t"/>
          <a:lstStyle/>
          <a:p>
            <a:pPr indent="0" marL="0">
              <a:lnSpc>
                <a:spcPts val="1300"/>
              </a:lnSpc>
              <a:buNone/>
            </a:pPr>
            <a:r>
              <a:rPr lang="en-US" sz="1000" dirty="0">
                <a:solidFill>
                  <a:srgbClr val="6B7C83"/>
                </a:solidFill>
                <a:latin typeface="Calibri" pitchFamily="34" charset="0"/>
                <a:ea typeface="Calibri" pitchFamily="34" charset="-122"/>
                <a:cs typeface="Calibri" pitchFamily="34" charset="-120"/>
              </a:rPr>
              <a:t>Search-shaped, not answer-shaped. Returns schemes; you do the cross-referencing. No VentureForGood, no drafting.</a:t>
            </a:r>
            <a:endParaRPr lang="en-US" sz="1000" dirty="0"/>
          </a:p>
        </p:txBody>
      </p:sp>
      <p:sp>
        <p:nvSpPr>
          <p:cNvPr id="45" name="Text 43"/>
          <p:cNvSpPr txBox="1"/>
          <p:nvPr/>
        </p:nvSpPr>
        <p:spPr>
          <a:xfrm>
            <a:off x="2852928" y="4169664"/>
            <a:ext cx="2103120" cy="237744"/>
          </a:xfrm>
          <a:prstGeom prst="rect">
            <a:avLst/>
          </a:prstGeom>
          <a:noFill/>
          <a:ln/>
        </p:spPr>
        <p:txBody>
          <a:bodyPr wrap="square" lIns="0" tIns="0" rIns="0" bIns="0" rtlCol="0" anchor="ctr"/>
          <a:lstStyle/>
          <a:p>
            <a:pPr indent="0" marL="0">
              <a:buNone/>
            </a:pPr>
            <a:r>
              <a:rPr lang="en-US" sz="1100" b="1" dirty="0">
                <a:solidFill>
                  <a:srgbClr val="123A47"/>
                </a:solidFill>
                <a:latin typeface="Calibri" pitchFamily="34" charset="0"/>
                <a:ea typeface="Calibri" pitchFamily="34" charset="-122"/>
                <a:cs typeface="Calibri" pitchFamily="34" charset="-120"/>
              </a:rPr>
              <a:t>SME Centres</a:t>
            </a:r>
            <a:endParaRPr lang="en-US" sz="1100" dirty="0"/>
          </a:p>
        </p:txBody>
      </p:sp>
      <p:sp>
        <p:nvSpPr>
          <p:cNvPr id="46" name="Text 44"/>
          <p:cNvSpPr txBox="1"/>
          <p:nvPr/>
        </p:nvSpPr>
        <p:spPr>
          <a:xfrm>
            <a:off x="2852928" y="4425696"/>
            <a:ext cx="2103120" cy="1005840"/>
          </a:xfrm>
          <a:prstGeom prst="rect">
            <a:avLst/>
          </a:prstGeom>
          <a:noFill/>
          <a:ln/>
        </p:spPr>
        <p:txBody>
          <a:bodyPr wrap="square" lIns="0" tIns="0" rIns="0" bIns="0" rtlCol="0" anchor="t"/>
          <a:lstStyle/>
          <a:p>
            <a:pPr indent="0" marL="0">
              <a:lnSpc>
                <a:spcPts val="1300"/>
              </a:lnSpc>
              <a:buNone/>
            </a:pPr>
            <a:r>
              <a:rPr lang="en-US" sz="1000" dirty="0">
                <a:solidFill>
                  <a:srgbClr val="6B7C83"/>
                </a:solidFill>
                <a:latin typeface="Calibri" pitchFamily="34" charset="0"/>
                <a:ea typeface="Calibri" pitchFamily="34" charset="-122"/>
                <a:cs typeface="Calibri" pitchFamily="34" charset="-120"/>
              </a:rPr>
              <a:t>Free and genuinely good, but capacity-bound, appointment-based, SME-framed, and assumes a business that already operates.</a:t>
            </a:r>
            <a:endParaRPr lang="en-US" sz="1000" dirty="0"/>
          </a:p>
        </p:txBody>
      </p:sp>
      <p:sp>
        <p:nvSpPr>
          <p:cNvPr id="47" name="Text 45"/>
          <p:cNvSpPr txBox="1"/>
          <p:nvPr/>
        </p:nvSpPr>
        <p:spPr>
          <a:xfrm>
            <a:off x="5138928" y="4169664"/>
            <a:ext cx="2103120" cy="237744"/>
          </a:xfrm>
          <a:prstGeom prst="rect">
            <a:avLst/>
          </a:prstGeom>
          <a:noFill/>
          <a:ln/>
        </p:spPr>
        <p:txBody>
          <a:bodyPr wrap="square" lIns="0" tIns="0" rIns="0" bIns="0" rtlCol="0" anchor="ctr"/>
          <a:lstStyle/>
          <a:p>
            <a:pPr indent="0" marL="0">
              <a:buNone/>
            </a:pPr>
            <a:r>
              <a:rPr lang="en-US" sz="1100" b="1" dirty="0">
                <a:solidFill>
                  <a:srgbClr val="123A47"/>
                </a:solidFill>
                <a:latin typeface="Calibri" pitchFamily="34" charset="0"/>
                <a:ea typeface="Calibri" pitchFamily="34" charset="-122"/>
                <a:cs typeface="Calibri" pitchFamily="34" charset="-120"/>
              </a:rPr>
              <a:t>Grantable</a:t>
            </a:r>
            <a:endParaRPr lang="en-US" sz="1100" dirty="0"/>
          </a:p>
        </p:txBody>
      </p:sp>
      <p:sp>
        <p:nvSpPr>
          <p:cNvPr id="48" name="Text 46"/>
          <p:cNvSpPr txBox="1"/>
          <p:nvPr/>
        </p:nvSpPr>
        <p:spPr>
          <a:xfrm>
            <a:off x="5138928" y="4425696"/>
            <a:ext cx="2103120" cy="1005840"/>
          </a:xfrm>
          <a:prstGeom prst="rect">
            <a:avLst/>
          </a:prstGeom>
          <a:noFill/>
          <a:ln/>
        </p:spPr>
        <p:txBody>
          <a:bodyPr wrap="square" lIns="0" tIns="0" rIns="0" bIns="0" rtlCol="0" anchor="t"/>
          <a:lstStyle/>
          <a:p>
            <a:pPr indent="0" marL="0">
              <a:lnSpc>
                <a:spcPts val="1300"/>
              </a:lnSpc>
              <a:buNone/>
            </a:pPr>
            <a:r>
              <a:rPr lang="en-US" sz="1000" dirty="0">
                <a:solidFill>
                  <a:srgbClr val="6B7C83"/>
                </a:solidFill>
                <a:latin typeface="Calibri" pitchFamily="34" charset="0"/>
                <a:ea typeface="Calibri" pitchFamily="34" charset="-122"/>
                <a:cs typeface="Calibri" pitchFamily="34" charset="-120"/>
              </a:rPr>
              <a:t>Requires the documents you do not have. No eligibility gate. Its unit of work is one document, not a funnel.</a:t>
            </a:r>
            <a:endParaRPr lang="en-US" sz="1000" dirty="0"/>
          </a:p>
        </p:txBody>
      </p:sp>
      <p:sp>
        <p:nvSpPr>
          <p:cNvPr id="49" name="Text 47"/>
          <p:cNvSpPr txBox="1"/>
          <p:nvPr/>
        </p:nvSpPr>
        <p:spPr>
          <a:xfrm>
            <a:off x="7424928" y="4169664"/>
            <a:ext cx="2103120" cy="237744"/>
          </a:xfrm>
          <a:prstGeom prst="rect">
            <a:avLst/>
          </a:prstGeom>
          <a:noFill/>
          <a:ln/>
        </p:spPr>
        <p:txBody>
          <a:bodyPr wrap="square" lIns="0" tIns="0" rIns="0" bIns="0" rtlCol="0" anchor="ctr"/>
          <a:lstStyle/>
          <a:p>
            <a:pPr indent="0" marL="0">
              <a:buNone/>
            </a:pPr>
            <a:r>
              <a:rPr lang="en-US" sz="1100" b="1" dirty="0">
                <a:solidFill>
                  <a:srgbClr val="123A47"/>
                </a:solidFill>
                <a:latin typeface="Calibri" pitchFamily="34" charset="0"/>
                <a:ea typeface="Calibri" pitchFamily="34" charset="-122"/>
                <a:cs typeface="Calibri" pitchFamily="34" charset="-120"/>
              </a:rPr>
              <a:t>Instrumentl</a:t>
            </a:r>
            <a:endParaRPr lang="en-US" sz="1100" dirty="0"/>
          </a:p>
        </p:txBody>
      </p:sp>
      <p:sp>
        <p:nvSpPr>
          <p:cNvPr id="50" name="Text 48"/>
          <p:cNvSpPr txBox="1"/>
          <p:nvPr/>
        </p:nvSpPr>
        <p:spPr>
          <a:xfrm>
            <a:off x="7424928" y="4425696"/>
            <a:ext cx="2103120" cy="1005840"/>
          </a:xfrm>
          <a:prstGeom prst="rect">
            <a:avLst/>
          </a:prstGeom>
          <a:noFill/>
          <a:ln/>
        </p:spPr>
        <p:txBody>
          <a:bodyPr wrap="square" lIns="0" tIns="0" rIns="0" bIns="0" rtlCol="0" anchor="t"/>
          <a:lstStyle/>
          <a:p>
            <a:pPr indent="0" marL="0">
              <a:lnSpc>
                <a:spcPts val="1300"/>
              </a:lnSpc>
              <a:buNone/>
            </a:pPr>
            <a:r>
              <a:rPr lang="en-US" sz="1000" dirty="0">
                <a:solidFill>
                  <a:srgbClr val="6B7C83"/>
                </a:solidFill>
                <a:latin typeface="Calibri" pitchFamily="34" charset="0"/>
                <a:ea typeface="Calibri" pitchFamily="34" charset="-122"/>
                <a:cs typeface="Calibri" pitchFamily="34" charset="-120"/>
              </a:rPr>
              <a:t>US funder database — surfaces no Singapore grants. Priced and shaped for teams managing 20+ relationships.</a:t>
            </a:r>
            <a:endParaRPr lang="en-US" sz="1000" dirty="0"/>
          </a:p>
        </p:txBody>
      </p:sp>
      <p:sp>
        <p:nvSpPr>
          <p:cNvPr id="51" name="Text 49"/>
          <p:cNvSpPr txBox="1"/>
          <p:nvPr/>
        </p:nvSpPr>
        <p:spPr>
          <a:xfrm>
            <a:off x="9710928" y="4169664"/>
            <a:ext cx="2103120" cy="237744"/>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Groundwork</a:t>
            </a:r>
            <a:endParaRPr lang="en-US" sz="1100" dirty="0"/>
          </a:p>
        </p:txBody>
      </p:sp>
      <p:sp>
        <p:nvSpPr>
          <p:cNvPr id="52" name="Text 50"/>
          <p:cNvSpPr txBox="1"/>
          <p:nvPr/>
        </p:nvSpPr>
        <p:spPr>
          <a:xfrm>
            <a:off x="9710928" y="4425696"/>
            <a:ext cx="2103120" cy="1005840"/>
          </a:xfrm>
          <a:prstGeom prst="rect">
            <a:avLst/>
          </a:prstGeom>
          <a:noFill/>
          <a:ln/>
        </p:spPr>
        <p:txBody>
          <a:bodyPr wrap="square" lIns="0" tIns="0" rIns="0" bIns="0" rtlCol="0" anchor="t"/>
          <a:lstStyle/>
          <a:p>
            <a:pPr indent="0" marL="0">
              <a:lnSpc>
                <a:spcPts val="1300"/>
              </a:lnSpc>
              <a:buNone/>
            </a:pPr>
            <a:r>
              <a:rPr lang="en-US" sz="1000" dirty="0">
                <a:solidFill>
                  <a:srgbClr val="6B7C83"/>
                </a:solidFill>
                <a:latin typeface="Calibri" pitchFamily="34" charset="0"/>
                <a:ea typeface="Calibri" pitchFamily="34" charset="-122"/>
                <a:cs typeface="Calibri" pitchFamily="34" charset="-120"/>
              </a:rPr>
              <a:t>Built for the founder with nothing to upload, following one funder across every stage.</a:t>
            </a:r>
            <a:endParaRPr lang="en-US" sz="1000" dirty="0"/>
          </a:p>
        </p:txBody>
      </p:sp>
      <p:sp>
        <p:nvSpPr>
          <p:cNvPr id="53" name="Text 51"/>
          <p:cNvSpPr txBox="1"/>
          <p:nvPr/>
        </p:nvSpPr>
        <p:spPr>
          <a:xfrm>
            <a:off x="566928" y="5541264"/>
            <a:ext cx="10972800" cy="365760"/>
          </a:xfrm>
          <a:prstGeom prst="rect">
            <a:avLst/>
          </a:prstGeom>
          <a:noFill/>
          <a:ln/>
        </p:spPr>
        <p:txBody>
          <a:bodyPr wrap="square" lIns="0" tIns="0" rIns="0" bIns="0" rtlCol="0" anchor="ctr"/>
          <a:lstStyle/>
          <a:p>
            <a:pPr indent="0" marL="0">
              <a:buNone/>
            </a:pPr>
            <a:r>
              <a:rPr lang="en-US" sz="1450" b="1" dirty="0">
                <a:solidFill>
                  <a:srgbClr val="123A47"/>
                </a:solidFill>
                <a:latin typeface="Cambria" pitchFamily="34" charset="0"/>
                <a:ea typeface="Cambria" pitchFamily="34" charset="-122"/>
                <a:cs typeface="Cambria" pitchFamily="34" charset="-120"/>
              </a:rPr>
              <a:t>Grantable helps organisations that have already written things write more things faster. Our founders have never written anything.</a:t>
            </a:r>
            <a:endParaRPr lang="en-US" sz="1450" dirty="0"/>
          </a:p>
        </p:txBody>
      </p:sp>
      <p:sp>
        <p:nvSpPr>
          <p:cNvPr id="54" name="Text 52"/>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Pricing, positioning and feature claims for Grantable and Instrumentl are per published industry reviews, not our own testing. We found no agentic tool covering Singapore social enterprise and youth grants.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SOLUTION</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Solution</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Three parts, one profile, one guarantee.</a:t>
            </a:r>
            <a:endParaRPr lang="en-US" sz="2700" dirty="0"/>
          </a:p>
        </p:txBody>
      </p:sp>
      <p:sp>
        <p:nvSpPr>
          <p:cNvPr id="6" name="Shape 4"/>
          <p:cNvSpPr/>
          <p:nvPr/>
        </p:nvSpPr>
        <p:spPr>
          <a:xfrm>
            <a:off x="566928" y="1280160"/>
            <a:ext cx="3529584" cy="3383280"/>
          </a:xfrm>
          <a:prstGeom prst="roundRect">
            <a:avLst>
              <a:gd name="adj" fmla="val 1892"/>
            </a:avLst>
          </a:prstGeom>
          <a:solidFill>
            <a:srgbClr val="EDF2F3"/>
          </a:solidFill>
          <a:ln w="9525">
            <a:solidFill>
              <a:srgbClr val="D5DFE2"/>
            </a:solidFill>
            <a:prstDash val="solid"/>
          </a:ln>
        </p:spPr>
      </p:sp>
      <p:sp>
        <p:nvSpPr>
          <p:cNvPr id="7" name="Shape 5"/>
          <p:cNvSpPr/>
          <p:nvPr/>
        </p:nvSpPr>
        <p:spPr>
          <a:xfrm>
            <a:off x="804672" y="1481328"/>
            <a:ext cx="859536" cy="256032"/>
          </a:xfrm>
          <a:prstGeom prst="roundRect">
            <a:avLst>
              <a:gd name="adj" fmla="val 50000"/>
            </a:avLst>
          </a:prstGeom>
          <a:solidFill>
            <a:srgbClr val="1C7293"/>
          </a:solidFill>
          <a:ln w="12700">
            <a:solidFill>
              <a:srgbClr val="1C7293"/>
            </a:solidFill>
            <a:prstDash val="solid"/>
          </a:ln>
        </p:spPr>
      </p:sp>
      <p:sp>
        <p:nvSpPr>
          <p:cNvPr id="8" name="Text 6"/>
          <p:cNvSpPr txBox="1"/>
          <p:nvPr/>
        </p:nvSpPr>
        <p:spPr>
          <a:xfrm>
            <a:off x="804672" y="1481328"/>
            <a:ext cx="85953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Gap 1</a:t>
            </a:r>
            <a:endParaRPr lang="en-US" sz="950" dirty="0"/>
          </a:p>
        </p:txBody>
      </p:sp>
      <p:sp>
        <p:nvSpPr>
          <p:cNvPr id="9" name="Text 7"/>
          <p:cNvSpPr txBox="1"/>
          <p:nvPr/>
        </p:nvSpPr>
        <p:spPr>
          <a:xfrm>
            <a:off x="804672" y="1847088"/>
            <a:ext cx="3054096" cy="548640"/>
          </a:xfrm>
          <a:prstGeom prst="rect">
            <a:avLst/>
          </a:prstGeom>
          <a:noFill/>
          <a:ln/>
        </p:spPr>
        <p:txBody>
          <a:bodyPr wrap="square" lIns="0" tIns="0" rIns="0" bIns="0" rtlCol="0" anchor="ctr"/>
          <a:lstStyle/>
          <a:p>
            <a:pPr indent="0" marL="0">
              <a:lnSpc>
                <a:spcPts val="2000"/>
              </a:lnSpc>
              <a:buNone/>
            </a:pPr>
            <a:r>
              <a:rPr lang="en-US" sz="1600" b="1" dirty="0">
                <a:solidFill>
                  <a:srgbClr val="123A47"/>
                </a:solidFill>
                <a:latin typeface="Cambria" pitchFamily="34" charset="0"/>
                <a:ea typeface="Cambria" pitchFamily="34" charset="-122"/>
                <a:cs typeface="Cambria" pitchFamily="34" charset="-120"/>
              </a:rPr>
              <a:t>Readiness Check</a:t>
            </a:r>
            <a:endParaRPr lang="en-US" sz="1600" dirty="0"/>
          </a:p>
        </p:txBody>
      </p:sp>
      <p:sp>
        <p:nvSpPr>
          <p:cNvPr id="10" name="Text 8"/>
          <p:cNvSpPr txBox="1"/>
          <p:nvPr/>
        </p:nvSpPr>
        <p:spPr>
          <a:xfrm>
            <a:off x="804672" y="2432304"/>
            <a:ext cx="3054096" cy="731520"/>
          </a:xfrm>
          <a:prstGeom prst="rect">
            <a:avLst/>
          </a:prstGeom>
          <a:noFill/>
          <a:ln/>
        </p:spPr>
        <p:txBody>
          <a:bodyPr wrap="square" lIns="0" tIns="0" rIns="0" bIns="0" rtlCol="0" anchor="t"/>
          <a:lstStyle/>
          <a:p>
            <a:pPr indent="0" marL="0">
              <a:lnSpc>
                <a:spcPts val="1600"/>
              </a:lnSpc>
              <a:buNone/>
            </a:pPr>
            <a:r>
              <a:rPr lang="en-US" sz="1150" dirty="0">
                <a:solidFill>
                  <a:srgbClr val="2C5566"/>
                </a:solidFill>
                <a:latin typeface="Calibri" pitchFamily="34" charset="0"/>
                <a:ea typeface="Calibri" pitchFamily="34" charset="-122"/>
                <a:cs typeface="Calibri" pitchFamily="34" charset="-120"/>
              </a:rPr>
              <a:t>The founder talks; we build a structured profile and test it against hand-written rules.</a:t>
            </a:r>
            <a:endParaRPr lang="en-US" sz="1150" dirty="0"/>
          </a:p>
        </p:txBody>
      </p:sp>
      <p:sp>
        <p:nvSpPr>
          <p:cNvPr id="11" name="Text 9"/>
          <p:cNvSpPr txBox="1"/>
          <p:nvPr/>
        </p:nvSpPr>
        <p:spPr>
          <a:xfrm>
            <a:off x="804672" y="3200400"/>
            <a:ext cx="3054096" cy="201168"/>
          </a:xfrm>
          <a:prstGeom prst="rect">
            <a:avLst/>
          </a:prstGeom>
          <a:noFill/>
          <a:ln/>
        </p:spPr>
        <p:txBody>
          <a:bodyPr wrap="square" lIns="0" tIns="0" rIns="0" bIns="0" rtlCol="0" anchor="ctr"/>
          <a:lstStyle/>
          <a:p>
            <a:pPr indent="0" marL="0">
              <a:buNone/>
            </a:pPr>
            <a:r>
              <a:rPr lang="en-US" sz="900" b="1" spc="100" kern="0" dirty="0">
                <a:solidFill>
                  <a:srgbClr val="1C7293"/>
                </a:solidFill>
                <a:latin typeface="Calibri" pitchFamily="34" charset="0"/>
                <a:ea typeface="Calibri" pitchFamily="34" charset="-122"/>
                <a:cs typeface="Calibri" pitchFamily="34" charset="-120"/>
              </a:rPr>
              <a:t>AI does</a:t>
            </a:r>
            <a:endParaRPr lang="en-US" sz="900" dirty="0"/>
          </a:p>
        </p:txBody>
      </p:sp>
      <p:sp>
        <p:nvSpPr>
          <p:cNvPr id="12" name="Text 10"/>
          <p:cNvSpPr txBox="1"/>
          <p:nvPr/>
        </p:nvSpPr>
        <p:spPr>
          <a:xfrm>
            <a:off x="804672" y="3401568"/>
            <a:ext cx="3054096" cy="457200"/>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AI turns free speech into structured fields.</a:t>
            </a:r>
            <a:endParaRPr lang="en-US" sz="1050" dirty="0"/>
          </a:p>
        </p:txBody>
      </p:sp>
      <p:sp>
        <p:nvSpPr>
          <p:cNvPr id="13" name="Text 11"/>
          <p:cNvSpPr txBox="1"/>
          <p:nvPr/>
        </p:nvSpPr>
        <p:spPr>
          <a:xfrm>
            <a:off x="804672" y="3877056"/>
            <a:ext cx="3054096" cy="201168"/>
          </a:xfrm>
          <a:prstGeom prst="rect">
            <a:avLst/>
          </a:prstGeom>
          <a:noFill/>
          <a:ln/>
        </p:spPr>
        <p:txBody>
          <a:bodyPr wrap="square" lIns="0" tIns="0" rIns="0" bIns="0" rtlCol="0" anchor="ctr"/>
          <a:lstStyle/>
          <a:p>
            <a:pPr indent="0" marL="0">
              <a:buNone/>
            </a:pPr>
            <a:r>
              <a:rPr lang="en-US" sz="900" b="1" spc="100" kern="0" dirty="0">
                <a:solidFill>
                  <a:srgbClr val="1C7293"/>
                </a:solidFill>
                <a:latin typeface="Calibri" pitchFamily="34" charset="0"/>
                <a:ea typeface="Calibri" pitchFamily="34" charset="-122"/>
                <a:cs typeface="Calibri" pitchFamily="34" charset="-120"/>
              </a:rPr>
              <a:t>Guardrail</a:t>
            </a:r>
            <a:endParaRPr lang="en-US" sz="900" dirty="0"/>
          </a:p>
        </p:txBody>
      </p:sp>
      <p:sp>
        <p:nvSpPr>
          <p:cNvPr id="14" name="Text 12"/>
          <p:cNvSpPr txBox="1"/>
          <p:nvPr/>
        </p:nvSpPr>
        <p:spPr>
          <a:xfrm>
            <a:off x="804672" y="4078224"/>
            <a:ext cx="3054096" cy="566928"/>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Eligibility is decided by a rules engine, never by a model. Every result carries its source and last-checked date.</a:t>
            </a:r>
            <a:endParaRPr lang="en-US" sz="1050" dirty="0"/>
          </a:p>
        </p:txBody>
      </p:sp>
      <p:sp>
        <p:nvSpPr>
          <p:cNvPr id="15" name="Shape 13"/>
          <p:cNvSpPr/>
          <p:nvPr/>
        </p:nvSpPr>
        <p:spPr>
          <a:xfrm>
            <a:off x="4334256" y="1280160"/>
            <a:ext cx="3529584" cy="3383280"/>
          </a:xfrm>
          <a:prstGeom prst="roundRect">
            <a:avLst>
              <a:gd name="adj" fmla="val 1892"/>
            </a:avLst>
          </a:prstGeom>
          <a:solidFill>
            <a:srgbClr val="EDF2F3"/>
          </a:solidFill>
          <a:ln w="9525">
            <a:solidFill>
              <a:srgbClr val="D5DFE2"/>
            </a:solidFill>
            <a:prstDash val="solid"/>
          </a:ln>
        </p:spPr>
      </p:sp>
      <p:sp>
        <p:nvSpPr>
          <p:cNvPr id="16" name="Shape 14"/>
          <p:cNvSpPr/>
          <p:nvPr/>
        </p:nvSpPr>
        <p:spPr>
          <a:xfrm>
            <a:off x="4572000" y="1481328"/>
            <a:ext cx="859536" cy="256032"/>
          </a:xfrm>
          <a:prstGeom prst="roundRect">
            <a:avLst>
              <a:gd name="adj" fmla="val 50000"/>
            </a:avLst>
          </a:prstGeom>
          <a:solidFill>
            <a:srgbClr val="C77D22"/>
          </a:solidFill>
          <a:ln w="12700">
            <a:solidFill>
              <a:srgbClr val="C77D22"/>
            </a:solidFill>
            <a:prstDash val="solid"/>
          </a:ln>
        </p:spPr>
      </p:sp>
      <p:sp>
        <p:nvSpPr>
          <p:cNvPr id="17" name="Text 15"/>
          <p:cNvSpPr txBox="1"/>
          <p:nvPr/>
        </p:nvSpPr>
        <p:spPr>
          <a:xfrm>
            <a:off x="4572000" y="1481328"/>
            <a:ext cx="85953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Gap 2</a:t>
            </a:r>
            <a:endParaRPr lang="en-US" sz="950" dirty="0"/>
          </a:p>
        </p:txBody>
      </p:sp>
      <p:sp>
        <p:nvSpPr>
          <p:cNvPr id="18" name="Text 16"/>
          <p:cNvSpPr txBox="1"/>
          <p:nvPr/>
        </p:nvSpPr>
        <p:spPr>
          <a:xfrm>
            <a:off x="4572000" y="1847088"/>
            <a:ext cx="3054096" cy="548640"/>
          </a:xfrm>
          <a:prstGeom prst="rect">
            <a:avLst/>
          </a:prstGeom>
          <a:noFill/>
          <a:ln/>
        </p:spPr>
        <p:txBody>
          <a:bodyPr wrap="square" lIns="0" tIns="0" rIns="0" bIns="0" rtlCol="0" anchor="ctr"/>
          <a:lstStyle/>
          <a:p>
            <a:pPr indent="0" marL="0">
              <a:lnSpc>
                <a:spcPts val="2000"/>
              </a:lnSpc>
              <a:buNone/>
            </a:pPr>
            <a:r>
              <a:rPr lang="en-US" sz="1600" b="1" dirty="0">
                <a:solidFill>
                  <a:srgbClr val="123A47"/>
                </a:solidFill>
                <a:latin typeface="Cambria" pitchFamily="34" charset="0"/>
                <a:ea typeface="Cambria" pitchFamily="34" charset="-122"/>
                <a:cs typeface="Cambria" pitchFamily="34" charset="-120"/>
              </a:rPr>
              <a:t>One profile, many applications</a:t>
            </a:r>
            <a:endParaRPr lang="en-US" sz="1600" dirty="0"/>
          </a:p>
        </p:txBody>
      </p:sp>
      <p:sp>
        <p:nvSpPr>
          <p:cNvPr id="19" name="Text 17"/>
          <p:cNvSpPr txBox="1"/>
          <p:nvPr/>
        </p:nvSpPr>
        <p:spPr>
          <a:xfrm>
            <a:off x="4572000" y="2432304"/>
            <a:ext cx="3054096" cy="731520"/>
          </a:xfrm>
          <a:prstGeom prst="rect">
            <a:avLst/>
          </a:prstGeom>
          <a:noFill/>
          <a:ln/>
        </p:spPr>
        <p:txBody>
          <a:bodyPr wrap="square" lIns="0" tIns="0" rIns="0" bIns="0" rtlCol="0" anchor="t"/>
          <a:lstStyle/>
          <a:p>
            <a:pPr indent="0" marL="0">
              <a:lnSpc>
                <a:spcPts val="1600"/>
              </a:lnSpc>
              <a:buNone/>
            </a:pPr>
            <a:r>
              <a:rPr lang="en-US" sz="1150" dirty="0">
                <a:solidFill>
                  <a:srgbClr val="2C5566"/>
                </a:solidFill>
                <a:latin typeface="Calibri" pitchFamily="34" charset="0"/>
                <a:ea typeface="Calibri" pitchFamily="34" charset="-122"/>
                <a:cs typeface="Calibri" pitchFamily="34" charset="-120"/>
              </a:rPr>
              <a:t>Every funder and every stage drafts from the same profile. Nothing is ever retyped.</a:t>
            </a:r>
            <a:endParaRPr lang="en-US" sz="1150" dirty="0"/>
          </a:p>
        </p:txBody>
      </p:sp>
      <p:sp>
        <p:nvSpPr>
          <p:cNvPr id="20" name="Text 18"/>
          <p:cNvSpPr txBox="1"/>
          <p:nvPr/>
        </p:nvSpPr>
        <p:spPr>
          <a:xfrm>
            <a:off x="4572000" y="3200400"/>
            <a:ext cx="3054096" cy="201168"/>
          </a:xfrm>
          <a:prstGeom prst="rect">
            <a:avLst/>
          </a:prstGeom>
          <a:noFill/>
          <a:ln/>
        </p:spPr>
        <p:txBody>
          <a:bodyPr wrap="square" lIns="0" tIns="0" rIns="0" bIns="0" rtlCol="0" anchor="ctr"/>
          <a:lstStyle/>
          <a:p>
            <a:pPr indent="0" marL="0">
              <a:buNone/>
            </a:pPr>
            <a:r>
              <a:rPr lang="en-US" sz="900" b="1" spc="100" kern="0" dirty="0">
                <a:solidFill>
                  <a:srgbClr val="C77D22"/>
                </a:solidFill>
                <a:latin typeface="Calibri" pitchFamily="34" charset="0"/>
                <a:ea typeface="Calibri" pitchFamily="34" charset="-122"/>
                <a:cs typeface="Calibri" pitchFamily="34" charset="-120"/>
              </a:rPr>
              <a:t>AI does</a:t>
            </a:r>
            <a:endParaRPr lang="en-US" sz="900" dirty="0"/>
          </a:p>
        </p:txBody>
      </p:sp>
      <p:sp>
        <p:nvSpPr>
          <p:cNvPr id="21" name="Text 19"/>
          <p:cNvSpPr txBox="1"/>
          <p:nvPr/>
        </p:nvSpPr>
        <p:spPr>
          <a:xfrm>
            <a:off x="4572000" y="3401568"/>
            <a:ext cx="3054096" cy="457200"/>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AI drafts funder-formatted answers and a first-pass projection.</a:t>
            </a:r>
            <a:endParaRPr lang="en-US" sz="1050" dirty="0"/>
          </a:p>
        </p:txBody>
      </p:sp>
      <p:sp>
        <p:nvSpPr>
          <p:cNvPr id="22" name="Text 20"/>
          <p:cNvSpPr txBox="1"/>
          <p:nvPr/>
        </p:nvSpPr>
        <p:spPr>
          <a:xfrm>
            <a:off x="4572000" y="3877056"/>
            <a:ext cx="3054096" cy="201168"/>
          </a:xfrm>
          <a:prstGeom prst="rect">
            <a:avLst/>
          </a:prstGeom>
          <a:noFill/>
          <a:ln/>
        </p:spPr>
        <p:txBody>
          <a:bodyPr wrap="square" lIns="0" tIns="0" rIns="0" bIns="0" rtlCol="0" anchor="ctr"/>
          <a:lstStyle/>
          <a:p>
            <a:pPr indent="0" marL="0">
              <a:buNone/>
            </a:pPr>
            <a:r>
              <a:rPr lang="en-US" sz="900" b="1" spc="100" kern="0" dirty="0">
                <a:solidFill>
                  <a:srgbClr val="C77D22"/>
                </a:solidFill>
                <a:latin typeface="Calibri" pitchFamily="34" charset="0"/>
                <a:ea typeface="Calibri" pitchFamily="34" charset="-122"/>
                <a:cs typeface="Calibri" pitchFamily="34" charset="-120"/>
              </a:rPr>
              <a:t>Guardrail</a:t>
            </a:r>
            <a:endParaRPr lang="en-US" sz="900" dirty="0"/>
          </a:p>
        </p:txBody>
      </p:sp>
      <p:sp>
        <p:nvSpPr>
          <p:cNvPr id="23" name="Text 21"/>
          <p:cNvSpPr txBox="1"/>
          <p:nvPr/>
        </p:nvSpPr>
        <p:spPr>
          <a:xfrm>
            <a:off x="4572000" y="4078224"/>
            <a:ext cx="3054096" cy="566928"/>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Nothing submits without founder review. Every AI-supplied number carries a visible gap flag.</a:t>
            </a:r>
            <a:endParaRPr lang="en-US" sz="1050" dirty="0"/>
          </a:p>
        </p:txBody>
      </p:sp>
      <p:sp>
        <p:nvSpPr>
          <p:cNvPr id="24" name="Shape 22"/>
          <p:cNvSpPr/>
          <p:nvPr/>
        </p:nvSpPr>
        <p:spPr>
          <a:xfrm>
            <a:off x="8101584" y="1280160"/>
            <a:ext cx="3529584" cy="3383280"/>
          </a:xfrm>
          <a:prstGeom prst="roundRect">
            <a:avLst>
              <a:gd name="adj" fmla="val 1892"/>
            </a:avLst>
          </a:prstGeom>
          <a:solidFill>
            <a:srgbClr val="EDF2F3"/>
          </a:solidFill>
          <a:ln w="9525">
            <a:solidFill>
              <a:srgbClr val="D5DFE2"/>
            </a:solidFill>
            <a:prstDash val="solid"/>
          </a:ln>
        </p:spPr>
      </p:sp>
      <p:sp>
        <p:nvSpPr>
          <p:cNvPr id="25" name="Shape 23"/>
          <p:cNvSpPr/>
          <p:nvPr/>
        </p:nvSpPr>
        <p:spPr>
          <a:xfrm>
            <a:off x="8339328" y="1481328"/>
            <a:ext cx="859536" cy="256032"/>
          </a:xfrm>
          <a:prstGeom prst="roundRect">
            <a:avLst>
              <a:gd name="adj" fmla="val 50000"/>
            </a:avLst>
          </a:prstGeom>
          <a:solidFill>
            <a:srgbClr val="2E7D5B"/>
          </a:solidFill>
          <a:ln w="12700">
            <a:solidFill>
              <a:srgbClr val="2E7D5B"/>
            </a:solidFill>
            <a:prstDash val="solid"/>
          </a:ln>
        </p:spPr>
      </p:sp>
      <p:sp>
        <p:nvSpPr>
          <p:cNvPr id="26" name="Text 24"/>
          <p:cNvSpPr txBox="1"/>
          <p:nvPr/>
        </p:nvSpPr>
        <p:spPr>
          <a:xfrm>
            <a:off x="8339328" y="1481328"/>
            <a:ext cx="85953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Gap 3</a:t>
            </a:r>
            <a:endParaRPr lang="en-US" sz="950" dirty="0"/>
          </a:p>
        </p:txBody>
      </p:sp>
      <p:sp>
        <p:nvSpPr>
          <p:cNvPr id="27" name="Text 25"/>
          <p:cNvSpPr txBox="1"/>
          <p:nvPr/>
        </p:nvSpPr>
        <p:spPr>
          <a:xfrm>
            <a:off x="8339328" y="1847088"/>
            <a:ext cx="3054096" cy="548640"/>
          </a:xfrm>
          <a:prstGeom prst="rect">
            <a:avLst/>
          </a:prstGeom>
          <a:noFill/>
          <a:ln/>
        </p:spPr>
        <p:txBody>
          <a:bodyPr wrap="square" lIns="0" tIns="0" rIns="0" bIns="0" rtlCol="0" anchor="ctr"/>
          <a:lstStyle/>
          <a:p>
            <a:pPr indent="0" marL="0">
              <a:lnSpc>
                <a:spcPts val="2000"/>
              </a:lnSpc>
              <a:buNone/>
            </a:pPr>
            <a:r>
              <a:rPr lang="en-US" sz="1600" b="1" dirty="0">
                <a:solidFill>
                  <a:srgbClr val="123A47"/>
                </a:solidFill>
                <a:latin typeface="Cambria" pitchFamily="34" charset="0"/>
                <a:ea typeface="Cambria" pitchFamily="34" charset="-122"/>
                <a:cs typeface="Cambria" pitchFamily="34" charset="-120"/>
              </a:rPr>
              <a:t>Accessible-first intake</a:t>
            </a:r>
            <a:endParaRPr lang="en-US" sz="1600" dirty="0"/>
          </a:p>
        </p:txBody>
      </p:sp>
      <p:sp>
        <p:nvSpPr>
          <p:cNvPr id="28" name="Text 26"/>
          <p:cNvSpPr txBox="1"/>
          <p:nvPr/>
        </p:nvSpPr>
        <p:spPr>
          <a:xfrm>
            <a:off x="8339328" y="2432304"/>
            <a:ext cx="3054096" cy="731520"/>
          </a:xfrm>
          <a:prstGeom prst="rect">
            <a:avLst/>
          </a:prstGeom>
          <a:noFill/>
          <a:ln/>
        </p:spPr>
        <p:txBody>
          <a:bodyPr wrap="square" lIns="0" tIns="0" rIns="0" bIns="0" rtlCol="0" anchor="t"/>
          <a:lstStyle/>
          <a:p>
            <a:pPr indent="0" marL="0">
              <a:lnSpc>
                <a:spcPts val="1600"/>
              </a:lnSpc>
              <a:buNone/>
            </a:pPr>
            <a:r>
              <a:rPr lang="en-US" sz="1150" dirty="0">
                <a:solidFill>
                  <a:srgbClr val="2C5566"/>
                </a:solidFill>
                <a:latin typeface="Calibri" pitchFamily="34" charset="0"/>
                <a:ea typeface="Calibri" pitchFamily="34" charset="-122"/>
                <a:cs typeface="Calibri" pitchFamily="34" charset="-120"/>
              </a:rPr>
              <a:t>One question per screen, voice input, no time limits, plain language beside the funder’s own words.</a:t>
            </a:r>
            <a:endParaRPr lang="en-US" sz="1150" dirty="0"/>
          </a:p>
        </p:txBody>
      </p:sp>
      <p:sp>
        <p:nvSpPr>
          <p:cNvPr id="29" name="Text 27"/>
          <p:cNvSpPr txBox="1"/>
          <p:nvPr/>
        </p:nvSpPr>
        <p:spPr>
          <a:xfrm>
            <a:off x="8339328" y="3200400"/>
            <a:ext cx="3054096" cy="201168"/>
          </a:xfrm>
          <a:prstGeom prst="rect">
            <a:avLst/>
          </a:prstGeom>
          <a:noFill/>
          <a:ln/>
        </p:spPr>
        <p:txBody>
          <a:bodyPr wrap="square" lIns="0" tIns="0" rIns="0" bIns="0" rtlCol="0" anchor="ctr"/>
          <a:lstStyle/>
          <a:p>
            <a:pPr indent="0" marL="0">
              <a:buNone/>
            </a:pPr>
            <a:r>
              <a:rPr lang="en-US" sz="900" b="1" spc="100" kern="0" dirty="0">
                <a:solidFill>
                  <a:srgbClr val="2E7D5B"/>
                </a:solidFill>
                <a:latin typeface="Calibri" pitchFamily="34" charset="0"/>
                <a:ea typeface="Calibri" pitchFamily="34" charset="-122"/>
                <a:cs typeface="Calibri" pitchFamily="34" charset="-120"/>
              </a:rPr>
              <a:t>AI does</a:t>
            </a:r>
            <a:endParaRPr lang="en-US" sz="900" dirty="0"/>
          </a:p>
        </p:txBody>
      </p:sp>
      <p:sp>
        <p:nvSpPr>
          <p:cNvPr id="30" name="Text 28"/>
          <p:cNvSpPr txBox="1"/>
          <p:nvPr/>
        </p:nvSpPr>
        <p:spPr>
          <a:xfrm>
            <a:off x="8339328" y="3401568"/>
            <a:ext cx="3054096" cy="457200"/>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AI rewrites jargon on demand and says answers back for confirmation.</a:t>
            </a:r>
            <a:endParaRPr lang="en-US" sz="1050" dirty="0"/>
          </a:p>
        </p:txBody>
      </p:sp>
      <p:sp>
        <p:nvSpPr>
          <p:cNvPr id="31" name="Text 29"/>
          <p:cNvSpPr txBox="1"/>
          <p:nvPr/>
        </p:nvSpPr>
        <p:spPr>
          <a:xfrm>
            <a:off x="8339328" y="3877056"/>
            <a:ext cx="3054096" cy="201168"/>
          </a:xfrm>
          <a:prstGeom prst="rect">
            <a:avLst/>
          </a:prstGeom>
          <a:noFill/>
          <a:ln/>
        </p:spPr>
        <p:txBody>
          <a:bodyPr wrap="square" lIns="0" tIns="0" rIns="0" bIns="0" rtlCol="0" anchor="ctr"/>
          <a:lstStyle/>
          <a:p>
            <a:pPr indent="0" marL="0">
              <a:buNone/>
            </a:pPr>
            <a:r>
              <a:rPr lang="en-US" sz="900" b="1" spc="100" kern="0" dirty="0">
                <a:solidFill>
                  <a:srgbClr val="2E7D5B"/>
                </a:solidFill>
                <a:latin typeface="Calibri" pitchFamily="34" charset="0"/>
                <a:ea typeface="Calibri" pitchFamily="34" charset="-122"/>
                <a:cs typeface="Calibri" pitchFamily="34" charset="-120"/>
              </a:rPr>
              <a:t>Guardrail</a:t>
            </a:r>
            <a:endParaRPr lang="en-US" sz="900" dirty="0"/>
          </a:p>
        </p:txBody>
      </p:sp>
      <p:sp>
        <p:nvSpPr>
          <p:cNvPr id="32" name="Text 30"/>
          <p:cNvSpPr txBox="1"/>
          <p:nvPr/>
        </p:nvSpPr>
        <p:spPr>
          <a:xfrm>
            <a:off x="8339328" y="4078224"/>
            <a:ext cx="3054096" cy="566928"/>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Plain language sits alongside the real term, never replacing it — she must recognise it on the real form.</a:t>
            </a:r>
            <a:endParaRPr lang="en-US" sz="1050" dirty="0"/>
          </a:p>
        </p:txBody>
      </p:sp>
      <p:sp>
        <p:nvSpPr>
          <p:cNvPr id="33" name="Shape 31"/>
          <p:cNvSpPr/>
          <p:nvPr/>
        </p:nvSpPr>
        <p:spPr>
          <a:xfrm>
            <a:off x="566928" y="4901184"/>
            <a:ext cx="11027664" cy="1060704"/>
          </a:xfrm>
          <a:prstGeom prst="roundRect">
            <a:avLst>
              <a:gd name="adj" fmla="val 6034"/>
            </a:avLst>
          </a:prstGeom>
          <a:solidFill>
            <a:srgbClr val="123A47"/>
          </a:solidFill>
          <a:ln w="12700">
            <a:solidFill>
              <a:srgbClr val="123A47"/>
            </a:solidFill>
            <a:prstDash val="solid"/>
          </a:ln>
        </p:spPr>
      </p:sp>
      <p:sp>
        <p:nvSpPr>
          <p:cNvPr id="34" name="Text 32"/>
          <p:cNvSpPr txBox="1"/>
          <p:nvPr/>
        </p:nvSpPr>
        <p:spPr>
          <a:xfrm>
            <a:off x="859536" y="5047488"/>
            <a:ext cx="10442448" cy="804672"/>
          </a:xfrm>
          <a:prstGeom prst="rect">
            <a:avLst/>
          </a:prstGeom>
          <a:noFill/>
          <a:ln/>
        </p:spPr>
        <p:txBody>
          <a:bodyPr wrap="square" lIns="0" tIns="0" rIns="0" bIns="0" rtlCol="0" anchor="ctr"/>
          <a:lstStyle/>
          <a:p>
            <a:pPr indent="0" marL="0">
              <a:lnSpc>
                <a:spcPts val="2200"/>
              </a:lnSpc>
              <a:buNone/>
            </a:pPr>
            <a:r>
              <a:rPr lang="en-US" sz="1600" b="1" dirty="0">
                <a:solidFill>
                  <a:srgbClr val="FFFFFF"/>
                </a:solidFill>
                <a:latin typeface="Calibri" pitchFamily="34" charset="0"/>
                <a:ea typeface="Calibri" pitchFamily="34" charset="-122"/>
                <a:cs typeface="Calibri" pitchFamily="34" charset="-120"/>
              </a:rPr>
              <a:t>AI drafts, extracts and translates. It never decides eligibility and it never submits.</a:t>
            </a:r>
            <a:endParaRPr lang="en-US" sz="1600" dirty="0"/>
          </a:p>
          <a:p>
            <a:pPr indent="0" marL="0">
              <a:lnSpc>
                <a:spcPts val="2200"/>
              </a:lnSpc>
              <a:buNone/>
            </a:pPr>
            <a:r>
              <a:rPr lang="en-US" sz="1250" dirty="0">
                <a:solidFill>
                  <a:srgbClr val="BFD3D9"/>
                </a:solidFill>
                <a:latin typeface="Calibri" pitchFamily="34" charset="0"/>
                <a:ea typeface="Calibri" pitchFamily="34" charset="-122"/>
                <a:cs typeface="Calibri" pitchFamily="34" charset="-120"/>
              </a:rPr>
              <a:t>Every output shows a visible seam: what the founder said, and what we estimated on her behalf.</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PROTOTYPE</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Demo</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What the founder actually sees.</a:t>
            </a:r>
            <a:endParaRPr lang="en-US" sz="2700" dirty="0"/>
          </a:p>
        </p:txBody>
      </p:sp>
      <p:sp>
        <p:nvSpPr>
          <p:cNvPr id="6" name="Shape 4"/>
          <p:cNvSpPr/>
          <p:nvPr/>
        </p:nvSpPr>
        <p:spPr>
          <a:xfrm>
            <a:off x="566928" y="1316736"/>
            <a:ext cx="292608" cy="292608"/>
          </a:xfrm>
          <a:prstGeom prst="ellipse">
            <a:avLst/>
          </a:prstGeom>
          <a:solidFill>
            <a:srgbClr val="1C7293"/>
          </a:solidFill>
          <a:ln w="12700">
            <a:solidFill>
              <a:srgbClr val="1C7293"/>
            </a:solidFill>
            <a:prstDash val="solid"/>
          </a:ln>
        </p:spPr>
      </p:sp>
      <p:sp>
        <p:nvSpPr>
          <p:cNvPr id="7" name="Text 5"/>
          <p:cNvSpPr txBox="1"/>
          <p:nvPr/>
        </p:nvSpPr>
        <p:spPr>
          <a:xfrm>
            <a:off x="566928" y="131673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8" name="Text 6"/>
          <p:cNvSpPr txBox="1"/>
          <p:nvPr/>
        </p:nvSpPr>
        <p:spPr>
          <a:xfrm>
            <a:off x="987552" y="1298448"/>
            <a:ext cx="6492240" cy="274320"/>
          </a:xfrm>
          <a:prstGeom prst="rect">
            <a:avLst/>
          </a:prstGeom>
          <a:noFill/>
          <a:ln/>
        </p:spPr>
        <p:txBody>
          <a:bodyPr wrap="square" lIns="0" tIns="0" rIns="0" bIns="0" rtlCol="0" anchor="ctr"/>
          <a:lstStyle/>
          <a:p>
            <a:pPr indent="0" marL="0">
              <a:buNone/>
            </a:pPr>
            <a:r>
              <a:rPr lang="en-US" sz="1350" b="1" dirty="0">
                <a:solidFill>
                  <a:srgbClr val="123A47"/>
                </a:solidFill>
                <a:latin typeface="Calibri" pitchFamily="34" charset="0"/>
                <a:ea typeface="Calibri" pitchFamily="34" charset="-122"/>
                <a:cs typeface="Calibri" pitchFamily="34" charset="-120"/>
              </a:rPr>
              <a:t>Intake, mid-conversation</a:t>
            </a:r>
            <a:endParaRPr lang="en-US" sz="1350" dirty="0"/>
          </a:p>
        </p:txBody>
      </p:sp>
      <p:sp>
        <p:nvSpPr>
          <p:cNvPr id="9" name="Text 7"/>
          <p:cNvSpPr txBox="1"/>
          <p:nvPr/>
        </p:nvSpPr>
        <p:spPr>
          <a:xfrm>
            <a:off x="987552" y="1591056"/>
            <a:ext cx="6492240" cy="749808"/>
          </a:xfrm>
          <a:prstGeom prst="rect">
            <a:avLst/>
          </a:prstGeom>
          <a:noFill/>
          <a:ln/>
        </p:spPr>
        <p:txBody>
          <a:bodyPr wrap="square" lIns="0" tIns="0" rIns="0" bIns="0" rtlCol="0" anchor="t"/>
          <a:lstStyle/>
          <a:p>
            <a:pPr indent="0" marL="0">
              <a:lnSpc>
                <a:spcPts val="1400"/>
              </a:lnSpc>
              <a:buNone/>
            </a:pPr>
            <a:r>
              <a:rPr lang="en-US" sz="1100" dirty="0">
                <a:solidFill>
                  <a:srgbClr val="6B7C83"/>
                </a:solidFill>
                <a:latin typeface="Calibri" pitchFamily="34" charset="0"/>
                <a:ea typeface="Calibri" pitchFamily="34" charset="-122"/>
                <a:cs typeface="Calibri" pitchFamily="34" charset="-120"/>
              </a:rPr>
              <a:t>One question per screen. She can speak instead of type. The screen says back what it understood — “you help around forty people a year, have I got that right?” — and she corrects it here, not five months later.</a:t>
            </a:r>
            <a:endParaRPr lang="en-US" sz="1100" dirty="0"/>
          </a:p>
        </p:txBody>
      </p:sp>
      <p:sp>
        <p:nvSpPr>
          <p:cNvPr id="10" name="Shape 8"/>
          <p:cNvSpPr/>
          <p:nvPr/>
        </p:nvSpPr>
        <p:spPr>
          <a:xfrm>
            <a:off x="566928" y="2414016"/>
            <a:ext cx="292608" cy="292608"/>
          </a:xfrm>
          <a:prstGeom prst="ellipse">
            <a:avLst/>
          </a:prstGeom>
          <a:solidFill>
            <a:srgbClr val="1C7293"/>
          </a:solidFill>
          <a:ln w="12700">
            <a:solidFill>
              <a:srgbClr val="1C7293"/>
            </a:solidFill>
            <a:prstDash val="solid"/>
          </a:ln>
        </p:spPr>
      </p:sp>
      <p:sp>
        <p:nvSpPr>
          <p:cNvPr id="11" name="Text 9"/>
          <p:cNvSpPr txBox="1"/>
          <p:nvPr/>
        </p:nvSpPr>
        <p:spPr>
          <a:xfrm>
            <a:off x="566928" y="241401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txBox="1"/>
          <p:nvPr/>
        </p:nvSpPr>
        <p:spPr>
          <a:xfrm>
            <a:off x="987552" y="2395728"/>
            <a:ext cx="6492240" cy="274320"/>
          </a:xfrm>
          <a:prstGeom prst="rect">
            <a:avLst/>
          </a:prstGeom>
          <a:noFill/>
          <a:ln/>
        </p:spPr>
        <p:txBody>
          <a:bodyPr wrap="square" lIns="0" tIns="0" rIns="0" bIns="0" rtlCol="0" anchor="ctr"/>
          <a:lstStyle/>
          <a:p>
            <a:pPr indent="0" marL="0">
              <a:buNone/>
            </a:pPr>
            <a:r>
              <a:rPr lang="en-US" sz="1350" b="1" dirty="0">
                <a:solidFill>
                  <a:srgbClr val="123A47"/>
                </a:solidFill>
                <a:latin typeface="Calibri" pitchFamily="34" charset="0"/>
                <a:ea typeface="Calibri" pitchFamily="34" charset="-122"/>
                <a:cs typeface="Calibri" pitchFamily="34" charset="-120"/>
              </a:rPr>
              <a:t>The readiness map</a:t>
            </a:r>
            <a:endParaRPr lang="en-US" sz="1350" dirty="0"/>
          </a:p>
        </p:txBody>
      </p:sp>
      <p:sp>
        <p:nvSpPr>
          <p:cNvPr id="13" name="Text 11"/>
          <p:cNvSpPr txBox="1"/>
          <p:nvPr/>
        </p:nvSpPr>
        <p:spPr>
          <a:xfrm>
            <a:off x="987552" y="2688336"/>
            <a:ext cx="6492240" cy="749808"/>
          </a:xfrm>
          <a:prstGeom prst="rect">
            <a:avLst/>
          </a:prstGeom>
          <a:noFill/>
          <a:ln/>
        </p:spPr>
        <p:txBody>
          <a:bodyPr wrap="square" lIns="0" tIns="0" rIns="0" bIns="0" rtlCol="0" anchor="t"/>
          <a:lstStyle/>
          <a:p>
            <a:pPr indent="0" marL="0">
              <a:lnSpc>
                <a:spcPts val="1400"/>
              </a:lnSpc>
              <a:buNone/>
            </a:pPr>
            <a:r>
              <a:rPr lang="en-US" sz="1100" dirty="0">
                <a:solidFill>
                  <a:srgbClr val="6B7C83"/>
                </a:solidFill>
                <a:latin typeface="Calibri" pitchFamily="34" charset="0"/>
                <a:ea typeface="Calibri" pitchFamily="34" charset="-122"/>
                <a:cs typeface="Calibri" pitchFamily="34" charset="-120"/>
              </a:rPr>
              <a:t>Three grants, three different answers, each with the funder’s own link and the date we checked it. Green ticks show what she already satisfies, even on the card that says no.</a:t>
            </a:r>
            <a:endParaRPr lang="en-US" sz="1100" dirty="0"/>
          </a:p>
        </p:txBody>
      </p:sp>
      <p:sp>
        <p:nvSpPr>
          <p:cNvPr id="14" name="Shape 12"/>
          <p:cNvSpPr/>
          <p:nvPr/>
        </p:nvSpPr>
        <p:spPr>
          <a:xfrm>
            <a:off x="566928" y="3511296"/>
            <a:ext cx="292608" cy="292608"/>
          </a:xfrm>
          <a:prstGeom prst="ellipse">
            <a:avLst/>
          </a:prstGeom>
          <a:solidFill>
            <a:srgbClr val="1C7293"/>
          </a:solidFill>
          <a:ln w="12700">
            <a:solidFill>
              <a:srgbClr val="1C7293"/>
            </a:solidFill>
            <a:prstDash val="solid"/>
          </a:ln>
        </p:spPr>
      </p:sp>
      <p:sp>
        <p:nvSpPr>
          <p:cNvPr id="15" name="Text 13"/>
          <p:cNvSpPr txBox="1"/>
          <p:nvPr/>
        </p:nvSpPr>
        <p:spPr>
          <a:xfrm>
            <a:off x="566928" y="351129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6" name="Text 14"/>
          <p:cNvSpPr txBox="1"/>
          <p:nvPr/>
        </p:nvSpPr>
        <p:spPr>
          <a:xfrm>
            <a:off x="987552" y="3493008"/>
            <a:ext cx="6492240" cy="274320"/>
          </a:xfrm>
          <a:prstGeom prst="rect">
            <a:avLst/>
          </a:prstGeom>
          <a:noFill/>
          <a:ln/>
        </p:spPr>
        <p:txBody>
          <a:bodyPr wrap="square" lIns="0" tIns="0" rIns="0" bIns="0" rtlCol="0" anchor="ctr"/>
          <a:lstStyle/>
          <a:p>
            <a:pPr indent="0" marL="0">
              <a:buNone/>
            </a:pPr>
            <a:r>
              <a:rPr lang="en-US" sz="1350" b="1" dirty="0">
                <a:solidFill>
                  <a:srgbClr val="123A47"/>
                </a:solidFill>
                <a:latin typeface="Calibri" pitchFamily="34" charset="0"/>
                <a:ea typeface="Calibri" pitchFamily="34" charset="-122"/>
                <a:cs typeface="Calibri" pitchFamily="34" charset="-120"/>
              </a:rPr>
              <a:t>The blocked one, in order</a:t>
            </a:r>
            <a:endParaRPr lang="en-US" sz="1350" dirty="0"/>
          </a:p>
        </p:txBody>
      </p:sp>
      <p:sp>
        <p:nvSpPr>
          <p:cNvPr id="17" name="Text 15"/>
          <p:cNvSpPr txBox="1"/>
          <p:nvPr/>
        </p:nvSpPr>
        <p:spPr>
          <a:xfrm>
            <a:off x="987552" y="3785616"/>
            <a:ext cx="6492240" cy="749808"/>
          </a:xfrm>
          <a:prstGeom prst="rect">
            <a:avLst/>
          </a:prstGeom>
          <a:noFill/>
          <a:ln/>
        </p:spPr>
        <p:txBody>
          <a:bodyPr wrap="square" lIns="0" tIns="0" rIns="0" bIns="0" rtlCol="0" anchor="t"/>
          <a:lstStyle/>
          <a:p>
            <a:pPr indent="0" marL="0">
              <a:lnSpc>
                <a:spcPts val="1400"/>
              </a:lnSpc>
              <a:buNone/>
            </a:pPr>
            <a:r>
              <a:rPr lang="en-US" sz="1100" dirty="0">
                <a:solidFill>
                  <a:srgbClr val="6B7C83"/>
                </a:solidFill>
                <a:latin typeface="Calibri" pitchFamily="34" charset="0"/>
                <a:ea typeface="Calibri" pitchFamily="34" charset="-122"/>
                <a:cs typeface="Calibri" pitchFamily="34" charset="-120"/>
              </a:rPr>
              <a:t>Not a checklist — a sequence. Register with ACRA, then apply to raiSE, because raiSE will not accept an unregistered business. Reversing those two steps asks her to do something impossible.</a:t>
            </a:r>
            <a:endParaRPr lang="en-US" sz="1100" dirty="0"/>
          </a:p>
        </p:txBody>
      </p:sp>
      <p:sp>
        <p:nvSpPr>
          <p:cNvPr id="18" name="Shape 16"/>
          <p:cNvSpPr/>
          <p:nvPr/>
        </p:nvSpPr>
        <p:spPr>
          <a:xfrm>
            <a:off x="566928" y="4608576"/>
            <a:ext cx="292608" cy="292608"/>
          </a:xfrm>
          <a:prstGeom prst="ellipse">
            <a:avLst/>
          </a:prstGeom>
          <a:solidFill>
            <a:srgbClr val="1C7293"/>
          </a:solidFill>
          <a:ln w="12700">
            <a:solidFill>
              <a:srgbClr val="1C7293"/>
            </a:solidFill>
            <a:prstDash val="solid"/>
          </a:ln>
        </p:spPr>
      </p:sp>
      <p:sp>
        <p:nvSpPr>
          <p:cNvPr id="19" name="Text 17"/>
          <p:cNvSpPr txBox="1"/>
          <p:nvPr/>
        </p:nvSpPr>
        <p:spPr>
          <a:xfrm>
            <a:off x="566928" y="460857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0" name="Text 18"/>
          <p:cNvSpPr txBox="1"/>
          <p:nvPr/>
        </p:nvSpPr>
        <p:spPr>
          <a:xfrm>
            <a:off x="987552" y="4590288"/>
            <a:ext cx="6492240" cy="274320"/>
          </a:xfrm>
          <a:prstGeom prst="rect">
            <a:avLst/>
          </a:prstGeom>
          <a:noFill/>
          <a:ln/>
        </p:spPr>
        <p:txBody>
          <a:bodyPr wrap="square" lIns="0" tIns="0" rIns="0" bIns="0" rtlCol="0" anchor="ctr"/>
          <a:lstStyle/>
          <a:p>
            <a:pPr indent="0" marL="0">
              <a:buNone/>
            </a:pPr>
            <a:r>
              <a:rPr lang="en-US" sz="1350" b="1" dirty="0">
                <a:solidFill>
                  <a:srgbClr val="123A47"/>
                </a:solidFill>
                <a:latin typeface="Calibri" pitchFamily="34" charset="0"/>
                <a:ea typeface="Calibri" pitchFamily="34" charset="-122"/>
                <a:cs typeface="Calibri" pitchFamily="34" charset="-120"/>
              </a:rPr>
              <a:t>The draft, with its seams showing</a:t>
            </a:r>
            <a:endParaRPr lang="en-US" sz="1350" dirty="0"/>
          </a:p>
        </p:txBody>
      </p:sp>
      <p:sp>
        <p:nvSpPr>
          <p:cNvPr id="21" name="Text 19"/>
          <p:cNvSpPr txBox="1"/>
          <p:nvPr/>
        </p:nvSpPr>
        <p:spPr>
          <a:xfrm>
            <a:off x="987552" y="4882896"/>
            <a:ext cx="6492240" cy="749808"/>
          </a:xfrm>
          <a:prstGeom prst="rect">
            <a:avLst/>
          </a:prstGeom>
          <a:noFill/>
          <a:ln/>
        </p:spPr>
        <p:txBody>
          <a:bodyPr wrap="square" lIns="0" tIns="0" rIns="0" bIns="0" rtlCol="0" anchor="t"/>
          <a:lstStyle/>
          <a:p>
            <a:pPr indent="0" marL="0">
              <a:lnSpc>
                <a:spcPts val="1400"/>
              </a:lnSpc>
              <a:buNone/>
            </a:pPr>
            <a:r>
              <a:rPr lang="en-US" sz="1100" dirty="0">
                <a:solidFill>
                  <a:srgbClr val="6B7C83"/>
                </a:solidFill>
                <a:latin typeface="Calibri" pitchFamily="34" charset="0"/>
                <a:ea typeface="Calibri" pitchFamily="34" charset="-122"/>
                <a:cs typeface="Calibri" pitchFamily="34" charset="-120"/>
              </a:rPr>
              <a:t>A funder-formatted answer built from her profile, with every number we estimated highlighted so she confirms it before a funder ever sees it.</a:t>
            </a:r>
            <a:endParaRPr lang="en-US" sz="1100" dirty="0"/>
          </a:p>
        </p:txBody>
      </p:sp>
      <p:sp>
        <p:nvSpPr>
          <p:cNvPr id="22" name="Shape 20"/>
          <p:cNvSpPr/>
          <p:nvPr/>
        </p:nvSpPr>
        <p:spPr>
          <a:xfrm>
            <a:off x="7626096" y="1298448"/>
            <a:ext cx="3968496" cy="4114800"/>
          </a:xfrm>
          <a:prstGeom prst="roundRect">
            <a:avLst>
              <a:gd name="adj" fmla="val 1613"/>
            </a:avLst>
          </a:prstGeom>
          <a:solidFill>
            <a:srgbClr val="EDF2F3"/>
          </a:solidFill>
          <a:ln w="9525">
            <a:solidFill>
              <a:srgbClr val="D5DFE2"/>
            </a:solidFill>
            <a:prstDash val="solid"/>
          </a:ln>
        </p:spPr>
      </p:sp>
      <p:sp>
        <p:nvSpPr>
          <p:cNvPr id="23" name="Text 21"/>
          <p:cNvSpPr txBox="1"/>
          <p:nvPr/>
        </p:nvSpPr>
        <p:spPr>
          <a:xfrm>
            <a:off x="7863840" y="1499616"/>
            <a:ext cx="3566160" cy="256032"/>
          </a:xfrm>
          <a:prstGeom prst="rect">
            <a:avLst/>
          </a:prstGeom>
          <a:noFill/>
          <a:ln/>
        </p:spPr>
        <p:txBody>
          <a:bodyPr wrap="square" lIns="0" tIns="0" rIns="0" bIns="0" rtlCol="0" anchor="ctr"/>
          <a:lstStyle/>
          <a:p>
            <a:pPr indent="0" marL="0">
              <a:buNone/>
            </a:pPr>
            <a:r>
              <a:rPr lang="en-US" sz="1000" b="1" spc="100" kern="0" dirty="0">
                <a:solidFill>
                  <a:srgbClr val="6B7C83"/>
                </a:solidFill>
                <a:latin typeface="Calibri" pitchFamily="34" charset="0"/>
                <a:ea typeface="Calibri" pitchFamily="34" charset="-122"/>
                <a:cs typeface="Calibri" pitchFamily="34" charset="-120"/>
              </a:rPr>
              <a:t>Readiness map — Ren’s three results</a:t>
            </a:r>
            <a:endParaRPr lang="en-US" sz="1000" dirty="0"/>
          </a:p>
        </p:txBody>
      </p:sp>
      <p:sp>
        <p:nvSpPr>
          <p:cNvPr id="24" name="Shape 22"/>
          <p:cNvSpPr/>
          <p:nvPr/>
        </p:nvSpPr>
        <p:spPr>
          <a:xfrm>
            <a:off x="7863840" y="1847088"/>
            <a:ext cx="3493008" cy="1042416"/>
          </a:xfrm>
          <a:prstGeom prst="roundRect">
            <a:avLst>
              <a:gd name="adj" fmla="val 6140"/>
            </a:avLst>
          </a:prstGeom>
          <a:solidFill>
            <a:srgbClr val="FFFFFF"/>
          </a:solidFill>
          <a:ln w="9525">
            <a:solidFill>
              <a:srgbClr val="2E7D5B"/>
            </a:solidFill>
            <a:prstDash val="solid"/>
          </a:ln>
        </p:spPr>
      </p:sp>
      <p:sp>
        <p:nvSpPr>
          <p:cNvPr id="25" name="Text 23"/>
          <p:cNvSpPr txBox="1"/>
          <p:nvPr/>
        </p:nvSpPr>
        <p:spPr>
          <a:xfrm>
            <a:off x="8028432" y="1956816"/>
            <a:ext cx="3200400" cy="237744"/>
          </a:xfrm>
          <a:prstGeom prst="rect">
            <a:avLst/>
          </a:prstGeom>
          <a:noFill/>
          <a:ln/>
        </p:spPr>
        <p:txBody>
          <a:bodyPr wrap="square" lIns="0" tIns="0" rIns="0" bIns="0" rtlCol="0" anchor="ctr"/>
          <a:lstStyle/>
          <a:p>
            <a:pPr indent="0" marL="0">
              <a:buNone/>
            </a:pPr>
            <a:r>
              <a:rPr lang="en-US" sz="1150" b="1" dirty="0">
                <a:solidFill>
                  <a:srgbClr val="123A47"/>
                </a:solidFill>
                <a:latin typeface="Calibri" pitchFamily="34" charset="0"/>
                <a:ea typeface="Calibri" pitchFamily="34" charset="-122"/>
                <a:cs typeface="Calibri" pitchFamily="34" charset="-120"/>
              </a:rPr>
              <a:t>Young ChangeMakers</a:t>
            </a:r>
            <a:endParaRPr lang="en-US" sz="1150" dirty="0"/>
          </a:p>
        </p:txBody>
      </p:sp>
      <p:sp>
        <p:nvSpPr>
          <p:cNvPr id="26" name="Text 24"/>
          <p:cNvSpPr txBox="1"/>
          <p:nvPr/>
        </p:nvSpPr>
        <p:spPr>
          <a:xfrm>
            <a:off x="8028432" y="2194560"/>
            <a:ext cx="3200400" cy="219456"/>
          </a:xfrm>
          <a:prstGeom prst="rect">
            <a:avLst/>
          </a:prstGeom>
          <a:noFill/>
          <a:ln/>
        </p:spPr>
        <p:txBody>
          <a:bodyPr wrap="square" lIns="0" tIns="0" rIns="0" bIns="0" rtlCol="0" anchor="ctr"/>
          <a:lstStyle/>
          <a:p>
            <a:pPr indent="0" marL="0">
              <a:buNone/>
            </a:pPr>
            <a:r>
              <a:rPr lang="en-US" sz="1050" b="1" dirty="0">
                <a:solidFill>
                  <a:srgbClr val="2E7D5B"/>
                </a:solidFill>
                <a:latin typeface="Calibri" pitchFamily="34" charset="0"/>
                <a:ea typeface="Calibri" pitchFamily="34" charset="-122"/>
                <a:cs typeface="Calibri" pitchFamily="34" charset="-120"/>
              </a:rPr>
              <a:t>You can apply now</a:t>
            </a:r>
            <a:endParaRPr lang="en-US" sz="1050" dirty="0"/>
          </a:p>
        </p:txBody>
      </p:sp>
      <p:sp>
        <p:nvSpPr>
          <p:cNvPr id="27" name="Text 25"/>
          <p:cNvSpPr txBox="1"/>
          <p:nvPr/>
        </p:nvSpPr>
        <p:spPr>
          <a:xfrm>
            <a:off x="8028432" y="2414016"/>
            <a:ext cx="3200400" cy="420624"/>
          </a:xfrm>
          <a:prstGeom prst="rect">
            <a:avLst/>
          </a:prstGeom>
          <a:noFill/>
          <a:ln/>
        </p:spPr>
        <p:txBody>
          <a:bodyPr wrap="square" lIns="0" tIns="0" rIns="0" bIns="0" rtlCol="0" anchor="t"/>
          <a:lstStyle/>
          <a:p>
            <a:pPr indent="0" marL="0">
              <a:lnSpc>
                <a:spcPts val="1200"/>
              </a:lnSpc>
              <a:buNone/>
            </a:pPr>
            <a:r>
              <a:rPr lang="en-US" sz="950" dirty="0">
                <a:solidFill>
                  <a:srgbClr val="6B7C83"/>
                </a:solidFill>
                <a:latin typeface="Calibri" pitchFamily="34" charset="0"/>
                <a:ea typeface="Calibri" pitchFamily="34" charset="-122"/>
                <a:cs typeface="Calibri" pitchFamily="34" charset="-120"/>
              </a:rPr>
              <a:t>All four criteria met.</a:t>
            </a:r>
            <a:endParaRPr lang="en-US" sz="950" dirty="0"/>
          </a:p>
        </p:txBody>
      </p:sp>
      <p:sp>
        <p:nvSpPr>
          <p:cNvPr id="28" name="Shape 26"/>
          <p:cNvSpPr/>
          <p:nvPr/>
        </p:nvSpPr>
        <p:spPr>
          <a:xfrm>
            <a:off x="7863840" y="3054096"/>
            <a:ext cx="3493008" cy="1042416"/>
          </a:xfrm>
          <a:prstGeom prst="roundRect">
            <a:avLst>
              <a:gd name="adj" fmla="val 6140"/>
            </a:avLst>
          </a:prstGeom>
          <a:solidFill>
            <a:srgbClr val="FFFFFF"/>
          </a:solidFill>
          <a:ln w="9525">
            <a:solidFill>
              <a:srgbClr val="C77D22"/>
            </a:solidFill>
            <a:prstDash val="solid"/>
          </a:ln>
        </p:spPr>
      </p:sp>
      <p:sp>
        <p:nvSpPr>
          <p:cNvPr id="29" name="Text 27"/>
          <p:cNvSpPr txBox="1"/>
          <p:nvPr/>
        </p:nvSpPr>
        <p:spPr>
          <a:xfrm>
            <a:off x="8028432" y="3163824"/>
            <a:ext cx="3200400" cy="237744"/>
          </a:xfrm>
          <a:prstGeom prst="rect">
            <a:avLst/>
          </a:prstGeom>
          <a:noFill/>
          <a:ln/>
        </p:spPr>
        <p:txBody>
          <a:bodyPr wrap="square" lIns="0" tIns="0" rIns="0" bIns="0" rtlCol="0" anchor="ctr"/>
          <a:lstStyle/>
          <a:p>
            <a:pPr indent="0" marL="0">
              <a:buNone/>
            </a:pPr>
            <a:r>
              <a:rPr lang="en-US" sz="1150" b="1" dirty="0">
                <a:solidFill>
                  <a:srgbClr val="123A47"/>
                </a:solidFill>
                <a:latin typeface="Calibri" pitchFamily="34" charset="0"/>
                <a:ea typeface="Calibri" pitchFamily="34" charset="-122"/>
                <a:cs typeface="Calibri" pitchFamily="34" charset="-120"/>
              </a:rPr>
              <a:t>VentureForGood (Youth)</a:t>
            </a:r>
            <a:endParaRPr lang="en-US" sz="1150" dirty="0"/>
          </a:p>
        </p:txBody>
      </p:sp>
      <p:sp>
        <p:nvSpPr>
          <p:cNvPr id="30" name="Text 28"/>
          <p:cNvSpPr txBox="1"/>
          <p:nvPr/>
        </p:nvSpPr>
        <p:spPr>
          <a:xfrm>
            <a:off x="8028432" y="3401568"/>
            <a:ext cx="3200400" cy="219456"/>
          </a:xfrm>
          <a:prstGeom prst="rect">
            <a:avLst/>
          </a:prstGeom>
          <a:noFill/>
          <a:ln/>
        </p:spPr>
        <p:txBody>
          <a:bodyPr wrap="square" lIns="0" tIns="0" rIns="0" bIns="0" rtlCol="0" anchor="ctr"/>
          <a:lstStyle/>
          <a:p>
            <a:pPr indent="0" marL="0">
              <a:buNone/>
            </a:pPr>
            <a:r>
              <a:rPr lang="en-US" sz="1050" b="1" dirty="0">
                <a:solidFill>
                  <a:srgbClr val="C77D22"/>
                </a:solidFill>
                <a:latin typeface="Calibri" pitchFamily="34" charset="0"/>
                <a:ea typeface="Calibri" pitchFamily="34" charset="-122"/>
                <a:cs typeface="Calibri" pitchFamily="34" charset="-120"/>
              </a:rPr>
              <a:t>You can apply after 2 steps</a:t>
            </a:r>
            <a:endParaRPr lang="en-US" sz="1050" dirty="0"/>
          </a:p>
        </p:txBody>
      </p:sp>
      <p:sp>
        <p:nvSpPr>
          <p:cNvPr id="31" name="Text 29"/>
          <p:cNvSpPr txBox="1"/>
          <p:nvPr/>
        </p:nvSpPr>
        <p:spPr>
          <a:xfrm>
            <a:off x="8028432" y="3621024"/>
            <a:ext cx="3200400" cy="420624"/>
          </a:xfrm>
          <a:prstGeom prst="rect">
            <a:avLst/>
          </a:prstGeom>
          <a:noFill/>
          <a:ln/>
        </p:spPr>
        <p:txBody>
          <a:bodyPr wrap="square" lIns="0" tIns="0" rIns="0" bIns="0" rtlCol="0" anchor="t"/>
          <a:lstStyle/>
          <a:p>
            <a:pPr indent="0" marL="0">
              <a:lnSpc>
                <a:spcPts val="1200"/>
              </a:lnSpc>
              <a:buNone/>
            </a:pPr>
            <a:r>
              <a:rPr lang="en-US" sz="950" dirty="0">
                <a:solidFill>
                  <a:srgbClr val="6B7C83"/>
                </a:solidFill>
                <a:latin typeface="Calibri" pitchFamily="34" charset="0"/>
                <a:ea typeface="Calibri" pitchFamily="34" charset="-122"/>
                <a:cs typeface="Calibri" pitchFamily="34" charset="-120"/>
              </a:rPr>
              <a:t>1. Register with ACRA  ·  ~1 week</a:t>
            </a:r>
            <a:endParaRPr lang="en-US" sz="950" dirty="0"/>
          </a:p>
          <a:p>
            <a:pPr indent="0" marL="0">
              <a:lnSpc>
                <a:spcPts val="1200"/>
              </a:lnSpc>
              <a:buNone/>
            </a:pPr>
            <a:r>
              <a:rPr lang="en-US" sz="950" dirty="0">
                <a:solidFill>
                  <a:srgbClr val="6B7C83"/>
                </a:solidFill>
                <a:latin typeface="Calibri" pitchFamily="34" charset="0"/>
                <a:ea typeface="Calibri" pitchFamily="34" charset="-122"/>
                <a:cs typeface="Calibri" pitchFamily="34" charset="-120"/>
              </a:rPr>
              <a:t>2. Join raiSE  ·  4–8 weeks</a:t>
            </a:r>
            <a:endParaRPr lang="en-US" sz="950" dirty="0"/>
          </a:p>
        </p:txBody>
      </p:sp>
      <p:sp>
        <p:nvSpPr>
          <p:cNvPr id="32" name="Shape 30"/>
          <p:cNvSpPr/>
          <p:nvPr/>
        </p:nvSpPr>
        <p:spPr>
          <a:xfrm>
            <a:off x="7863840" y="4261104"/>
            <a:ext cx="3493008" cy="1042416"/>
          </a:xfrm>
          <a:prstGeom prst="roundRect">
            <a:avLst>
              <a:gd name="adj" fmla="val 6140"/>
            </a:avLst>
          </a:prstGeom>
          <a:solidFill>
            <a:srgbClr val="FFFFFF"/>
          </a:solidFill>
          <a:ln w="9525">
            <a:solidFill>
              <a:srgbClr val="8A5A5A"/>
            </a:solidFill>
            <a:prstDash val="solid"/>
          </a:ln>
        </p:spPr>
      </p:sp>
      <p:sp>
        <p:nvSpPr>
          <p:cNvPr id="33" name="Text 31"/>
          <p:cNvSpPr txBox="1"/>
          <p:nvPr/>
        </p:nvSpPr>
        <p:spPr>
          <a:xfrm>
            <a:off x="8028432" y="4370832"/>
            <a:ext cx="3200400" cy="237744"/>
          </a:xfrm>
          <a:prstGeom prst="rect">
            <a:avLst/>
          </a:prstGeom>
          <a:noFill/>
          <a:ln/>
        </p:spPr>
        <p:txBody>
          <a:bodyPr wrap="square" lIns="0" tIns="0" rIns="0" bIns="0" rtlCol="0" anchor="ctr"/>
          <a:lstStyle/>
          <a:p>
            <a:pPr indent="0" marL="0">
              <a:buNone/>
            </a:pPr>
            <a:r>
              <a:rPr lang="en-US" sz="1150" b="1" dirty="0">
                <a:solidFill>
                  <a:srgbClr val="123A47"/>
                </a:solidFill>
                <a:latin typeface="Calibri" pitchFamily="34" charset="0"/>
                <a:ea typeface="Calibri" pitchFamily="34" charset="-122"/>
                <a:cs typeface="Calibri" pitchFamily="34" charset="-120"/>
              </a:rPr>
              <a:t>Startup SG Founder</a:t>
            </a:r>
            <a:endParaRPr lang="en-US" sz="1150" dirty="0"/>
          </a:p>
        </p:txBody>
      </p:sp>
      <p:sp>
        <p:nvSpPr>
          <p:cNvPr id="34" name="Text 32"/>
          <p:cNvSpPr txBox="1"/>
          <p:nvPr/>
        </p:nvSpPr>
        <p:spPr>
          <a:xfrm>
            <a:off x="8028432" y="4608576"/>
            <a:ext cx="3200400" cy="219456"/>
          </a:xfrm>
          <a:prstGeom prst="rect">
            <a:avLst/>
          </a:prstGeom>
          <a:noFill/>
          <a:ln/>
        </p:spPr>
        <p:txBody>
          <a:bodyPr wrap="square" lIns="0" tIns="0" rIns="0" bIns="0" rtlCol="0" anchor="ctr"/>
          <a:lstStyle/>
          <a:p>
            <a:pPr indent="0" marL="0">
              <a:buNone/>
            </a:pPr>
            <a:r>
              <a:rPr lang="en-US" sz="1050" b="1" dirty="0">
                <a:solidFill>
                  <a:srgbClr val="8A5A5A"/>
                </a:solidFill>
                <a:latin typeface="Calibri" pitchFamily="34" charset="0"/>
                <a:ea typeface="Calibri" pitchFamily="34" charset="-122"/>
                <a:cs typeface="Calibri" pitchFamily="34" charset="-120"/>
              </a:rPr>
              <a:t>Not a fit right now</a:t>
            </a:r>
            <a:endParaRPr lang="en-US" sz="1050" dirty="0"/>
          </a:p>
        </p:txBody>
      </p:sp>
      <p:sp>
        <p:nvSpPr>
          <p:cNvPr id="35" name="Text 33"/>
          <p:cNvSpPr txBox="1"/>
          <p:nvPr/>
        </p:nvSpPr>
        <p:spPr>
          <a:xfrm>
            <a:off x="8028432" y="4828032"/>
            <a:ext cx="3200400" cy="420624"/>
          </a:xfrm>
          <a:prstGeom prst="rect">
            <a:avLst/>
          </a:prstGeom>
          <a:noFill/>
          <a:ln/>
        </p:spPr>
        <p:txBody>
          <a:bodyPr wrap="square" lIns="0" tIns="0" rIns="0" bIns="0" rtlCol="0" anchor="t"/>
          <a:lstStyle/>
          <a:p>
            <a:pPr indent="0" marL="0">
              <a:lnSpc>
                <a:spcPts val="1200"/>
              </a:lnSpc>
              <a:buNone/>
            </a:pPr>
            <a:r>
              <a:rPr lang="en-US" sz="950" dirty="0">
                <a:solidFill>
                  <a:srgbClr val="6B7C83"/>
                </a:solidFill>
                <a:latin typeface="Calibri" pitchFamily="34" charset="0"/>
                <a:ea typeface="Calibri" pitchFamily="34" charset="-122"/>
                <a:cs typeface="Calibri" pitchFamily="34" charset="-120"/>
              </a:rPr>
              <a:t>The company she registered at 19 closes this permanently. We say so, and why.</a:t>
            </a:r>
            <a:endParaRPr lang="en-US" sz="950" dirty="0"/>
          </a:p>
        </p:txBody>
      </p:sp>
      <p:sp>
        <p:nvSpPr>
          <p:cNvPr id="36" name="Text 34"/>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Demoed live from the presenting laptop. The readiness map is a pure function over local rule files — it runs with the network disconnected.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HOW IT WORKS</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Feasibility</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The part that decides has no model in it.</a:t>
            </a:r>
            <a:endParaRPr lang="en-US" sz="2700" dirty="0"/>
          </a:p>
        </p:txBody>
      </p:sp>
      <p:sp>
        <p:nvSpPr>
          <p:cNvPr id="6" name="Shape 4"/>
          <p:cNvSpPr/>
          <p:nvPr/>
        </p:nvSpPr>
        <p:spPr>
          <a:xfrm>
            <a:off x="566928" y="1280160"/>
            <a:ext cx="5449824" cy="2432304"/>
          </a:xfrm>
          <a:prstGeom prst="roundRect">
            <a:avLst>
              <a:gd name="adj" fmla="val 2632"/>
            </a:avLst>
          </a:prstGeom>
          <a:solidFill>
            <a:srgbClr val="EDF2F3"/>
          </a:solidFill>
          <a:ln w="9525">
            <a:solidFill>
              <a:srgbClr val="D5DFE2"/>
            </a:solidFill>
            <a:prstDash val="solid"/>
          </a:ln>
        </p:spPr>
      </p:sp>
      <p:sp>
        <p:nvSpPr>
          <p:cNvPr id="7" name="Shape 5"/>
          <p:cNvSpPr/>
          <p:nvPr/>
        </p:nvSpPr>
        <p:spPr>
          <a:xfrm>
            <a:off x="822960" y="1481328"/>
            <a:ext cx="1316736" cy="256032"/>
          </a:xfrm>
          <a:prstGeom prst="roundRect">
            <a:avLst>
              <a:gd name="adj" fmla="val 50000"/>
            </a:avLst>
          </a:prstGeom>
          <a:solidFill>
            <a:srgbClr val="1C7293"/>
          </a:solidFill>
          <a:ln w="12700">
            <a:solidFill>
              <a:srgbClr val="1C7293"/>
            </a:solidFill>
            <a:prstDash val="solid"/>
          </a:ln>
        </p:spPr>
      </p:sp>
      <p:sp>
        <p:nvSpPr>
          <p:cNvPr id="8" name="Text 6"/>
          <p:cNvSpPr txBox="1"/>
          <p:nvPr/>
        </p:nvSpPr>
        <p:spPr>
          <a:xfrm>
            <a:off x="822960" y="1481328"/>
            <a:ext cx="131673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The model does</a:t>
            </a:r>
            <a:endParaRPr lang="en-US" sz="950" dirty="0"/>
          </a:p>
        </p:txBody>
      </p:sp>
      <p:sp>
        <p:nvSpPr>
          <p:cNvPr id="9" name="Text 7"/>
          <p:cNvSpPr txBox="1"/>
          <p:nvPr/>
        </p:nvSpPr>
        <p:spPr>
          <a:xfrm>
            <a:off x="822960" y="1883664"/>
            <a:ext cx="4937760" cy="1700784"/>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150" dirty="0">
                <a:solidFill>
                  <a:srgbClr val="2C5566"/>
                </a:solidFill>
                <a:latin typeface="Calibri" pitchFamily="34" charset="0"/>
                <a:ea typeface="Calibri" pitchFamily="34" charset="-122"/>
                <a:cs typeface="Calibri" pitchFamily="34" charset="-120"/>
              </a:rPr>
              <a:t>Draws facts out of a founder who has never written them down</a:t>
            </a:r>
            <a:endParaRPr lang="en-US" sz="1150" dirty="0"/>
          </a:p>
          <a:p>
            <a:pPr marL="342900" indent="-342900">
              <a:lnSpc>
                <a:spcPts val="1600"/>
              </a:lnSpc>
              <a:spcAft>
                <a:spcPts val="600"/>
              </a:spcAft>
              <a:buSzPct val="100000"/>
              <a:buChar char="•"/>
            </a:pPr>
            <a:r>
              <a:rPr lang="en-US" sz="1150" dirty="0">
                <a:solidFill>
                  <a:srgbClr val="2C5566"/>
                </a:solidFill>
                <a:latin typeface="Calibri" pitchFamily="34" charset="0"/>
                <a:ea typeface="Calibri" pitchFamily="34" charset="-122"/>
                <a:cs typeface="Calibri" pitchFamily="34" charset="-120"/>
              </a:rPr>
              <a:t>Says them back for confirmation before storing them</a:t>
            </a:r>
            <a:endParaRPr lang="en-US" sz="1150" dirty="0"/>
          </a:p>
          <a:p>
            <a:pPr marL="342900" indent="-342900">
              <a:lnSpc>
                <a:spcPts val="1600"/>
              </a:lnSpc>
              <a:spcAft>
                <a:spcPts val="600"/>
              </a:spcAft>
              <a:buSzPct val="100000"/>
              <a:buChar char="•"/>
            </a:pPr>
            <a:r>
              <a:rPr lang="en-US" sz="1150" dirty="0">
                <a:solidFill>
                  <a:srgbClr val="2C5566"/>
                </a:solidFill>
                <a:latin typeface="Calibri" pitchFamily="34" charset="0"/>
                <a:ea typeface="Calibri" pitchFamily="34" charset="-122"/>
                <a:cs typeface="Calibri" pitchFamily="34" charset="-120"/>
              </a:rPr>
              <a:t>Formats answers into each funder’s own wording</a:t>
            </a:r>
            <a:endParaRPr lang="en-US" sz="1150" dirty="0"/>
          </a:p>
          <a:p>
            <a:pPr marL="342900" indent="-342900">
              <a:lnSpc>
                <a:spcPts val="1600"/>
              </a:lnSpc>
              <a:spcAft>
                <a:spcPts val="600"/>
              </a:spcAft>
              <a:buSzPct val="100000"/>
              <a:buChar char="•"/>
            </a:pPr>
            <a:r>
              <a:rPr lang="en-US" sz="1150" dirty="0">
                <a:solidFill>
                  <a:srgbClr val="2C5566"/>
                </a:solidFill>
                <a:latin typeface="Calibri" pitchFamily="34" charset="0"/>
                <a:ea typeface="Calibri" pitchFamily="34" charset="-122"/>
                <a:cs typeface="Calibri" pitchFamily="34" charset="-120"/>
              </a:rPr>
              <a:t>Rewrites jargon into plain language on request</a:t>
            </a:r>
            <a:endParaRPr lang="en-US" sz="1150" dirty="0"/>
          </a:p>
          <a:p>
            <a:pPr marL="342900" indent="-342900">
              <a:lnSpc>
                <a:spcPts val="1600"/>
              </a:lnSpc>
              <a:spcAft>
                <a:spcPts val="600"/>
              </a:spcAft>
              <a:buSzPct val="100000"/>
              <a:buChar char="•"/>
            </a:pPr>
            <a:r>
              <a:rPr lang="en-US" sz="1150" dirty="0">
                <a:solidFill>
                  <a:srgbClr val="2C5566"/>
                </a:solidFill>
                <a:latin typeface="Calibri" pitchFamily="34" charset="0"/>
                <a:ea typeface="Calibri" pitchFamily="34" charset="-122"/>
                <a:cs typeface="Calibri" pitchFamily="34" charset="-120"/>
              </a:rPr>
              <a:t>Marks every value it supplied rather than heard</a:t>
            </a:r>
            <a:endParaRPr lang="en-US" sz="1150" dirty="0"/>
          </a:p>
        </p:txBody>
      </p:sp>
      <p:sp>
        <p:nvSpPr>
          <p:cNvPr id="10" name="Shape 8"/>
          <p:cNvSpPr/>
          <p:nvPr/>
        </p:nvSpPr>
        <p:spPr>
          <a:xfrm>
            <a:off x="6272784" y="1280160"/>
            <a:ext cx="5449824" cy="2432304"/>
          </a:xfrm>
          <a:prstGeom prst="roundRect">
            <a:avLst>
              <a:gd name="adj" fmla="val 2632"/>
            </a:avLst>
          </a:prstGeom>
          <a:solidFill>
            <a:srgbClr val="E4EFEA"/>
          </a:solidFill>
          <a:ln w="9525">
            <a:solidFill>
              <a:srgbClr val="2E7D5B"/>
            </a:solidFill>
            <a:prstDash val="solid"/>
          </a:ln>
        </p:spPr>
      </p:sp>
      <p:sp>
        <p:nvSpPr>
          <p:cNvPr id="11" name="Shape 9"/>
          <p:cNvSpPr/>
          <p:nvPr/>
        </p:nvSpPr>
        <p:spPr>
          <a:xfrm>
            <a:off x="6528816" y="1481328"/>
            <a:ext cx="1883664" cy="256032"/>
          </a:xfrm>
          <a:prstGeom prst="roundRect">
            <a:avLst>
              <a:gd name="adj" fmla="val 50000"/>
            </a:avLst>
          </a:prstGeom>
          <a:solidFill>
            <a:srgbClr val="2E7D5B"/>
          </a:solidFill>
          <a:ln w="12700">
            <a:solidFill>
              <a:srgbClr val="2E7D5B"/>
            </a:solidFill>
            <a:prstDash val="solid"/>
          </a:ln>
        </p:spPr>
      </p:sp>
      <p:sp>
        <p:nvSpPr>
          <p:cNvPr id="12" name="Text 10"/>
          <p:cNvSpPr txBox="1"/>
          <p:nvPr/>
        </p:nvSpPr>
        <p:spPr>
          <a:xfrm>
            <a:off x="6528816" y="1481328"/>
            <a:ext cx="188366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pure function does</a:t>
            </a:r>
            <a:endParaRPr lang="en-US" sz="950" dirty="0"/>
          </a:p>
        </p:txBody>
      </p:sp>
      <p:sp>
        <p:nvSpPr>
          <p:cNvPr id="13" name="Text 11"/>
          <p:cNvSpPr txBox="1"/>
          <p:nvPr/>
        </p:nvSpPr>
        <p:spPr>
          <a:xfrm>
            <a:off x="6528816" y="1883664"/>
            <a:ext cx="4937760" cy="1700784"/>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150" dirty="0">
                <a:solidFill>
                  <a:srgbClr val="1F4A38"/>
                </a:solidFill>
                <a:latin typeface="Calibri" pitchFamily="34" charset="0"/>
                <a:ea typeface="Calibri" pitchFamily="34" charset="-122"/>
                <a:cs typeface="Calibri" pitchFamily="34" charset="-120"/>
              </a:rPr>
              <a:t>Decides eligibility, from rules we wrote by hand</a:t>
            </a:r>
            <a:endParaRPr lang="en-US" sz="1150" dirty="0"/>
          </a:p>
          <a:p>
            <a:pPr marL="342900" indent="-342900">
              <a:lnSpc>
                <a:spcPts val="1600"/>
              </a:lnSpc>
              <a:spcAft>
                <a:spcPts val="600"/>
              </a:spcAft>
              <a:buSzPct val="100000"/>
              <a:buChar char="•"/>
            </a:pPr>
            <a:r>
              <a:rPr lang="en-US" sz="1150" dirty="0">
                <a:solidFill>
                  <a:srgbClr val="1F4A38"/>
                </a:solidFill>
                <a:latin typeface="Calibri" pitchFamily="34" charset="0"/>
                <a:ea typeface="Calibri" pitchFamily="34" charset="-122"/>
                <a:cs typeface="Calibri" pitchFamily="34" charset="-120"/>
              </a:rPr>
              <a:t>Cites a source URL and a last-checked date on every rule</a:t>
            </a:r>
            <a:endParaRPr lang="en-US" sz="1150" dirty="0"/>
          </a:p>
          <a:p>
            <a:pPr marL="342900" indent="-342900">
              <a:lnSpc>
                <a:spcPts val="1600"/>
              </a:lnSpc>
              <a:spcAft>
                <a:spcPts val="600"/>
              </a:spcAft>
              <a:buSzPct val="100000"/>
              <a:buChar char="•"/>
            </a:pPr>
            <a:r>
              <a:rPr lang="en-US" sz="1150" dirty="0">
                <a:solidFill>
                  <a:srgbClr val="1F4A38"/>
                </a:solidFill>
                <a:latin typeface="Calibri" pitchFamily="34" charset="0"/>
                <a:ea typeface="Calibri" pitchFamily="34" charset="-122"/>
                <a:cs typeface="Calibri" pitchFamily="34" charset="-120"/>
              </a:rPr>
              <a:t>Separates “not asked yet” from “answered no” — an empty profile shows unknowns, never rejections</a:t>
            </a:r>
            <a:endParaRPr lang="en-US" sz="1150" dirty="0"/>
          </a:p>
          <a:p>
            <a:pPr marL="342900" indent="-342900">
              <a:lnSpc>
                <a:spcPts val="1600"/>
              </a:lnSpc>
              <a:spcAft>
                <a:spcPts val="600"/>
              </a:spcAft>
              <a:buSzPct val="100000"/>
              <a:buChar char="•"/>
            </a:pPr>
            <a:r>
              <a:rPr lang="en-US" sz="1150" dirty="0">
                <a:solidFill>
                  <a:srgbClr val="1F4A38"/>
                </a:solidFill>
                <a:latin typeface="Calibri" pitchFamily="34" charset="0"/>
                <a:ea typeface="Calibri" pitchFamily="34" charset="-122"/>
                <a:cs typeface="Calibri" pitchFamily="34" charset="-120"/>
              </a:rPr>
              <a:t>Returns the same answer for the same input, every time</a:t>
            </a:r>
            <a:endParaRPr lang="en-US" sz="1150" dirty="0"/>
          </a:p>
          <a:p>
            <a:pPr marL="342900" indent="-342900">
              <a:lnSpc>
                <a:spcPts val="1600"/>
              </a:lnSpc>
              <a:spcAft>
                <a:spcPts val="600"/>
              </a:spcAft>
              <a:buSzPct val="100000"/>
              <a:buChar char="•"/>
            </a:pPr>
            <a:r>
              <a:rPr lang="en-US" sz="1150" dirty="0">
                <a:solidFill>
                  <a:srgbClr val="1F4A38"/>
                </a:solidFill>
                <a:latin typeface="Calibri" pitchFamily="34" charset="0"/>
                <a:ea typeface="Calibri" pitchFamily="34" charset="-122"/>
                <a:cs typeface="Calibri" pitchFamily="34" charset="-120"/>
              </a:rPr>
              <a:t>Runs with the network disconnected</a:t>
            </a:r>
            <a:endParaRPr lang="en-US" sz="1150" dirty="0"/>
          </a:p>
        </p:txBody>
      </p:sp>
      <p:sp>
        <p:nvSpPr>
          <p:cNvPr id="14" name="Text 12"/>
          <p:cNvSpPr txBox="1"/>
          <p:nvPr/>
        </p:nvSpPr>
        <p:spPr>
          <a:xfrm>
            <a:off x="566928" y="3858768"/>
            <a:ext cx="10972800" cy="274320"/>
          </a:xfrm>
          <a:prstGeom prst="rect">
            <a:avLst/>
          </a:prstGeom>
          <a:noFill/>
          <a:ln/>
        </p:spPr>
        <p:txBody>
          <a:bodyPr wrap="square" lIns="0" tIns="0" rIns="0" bIns="0" rtlCol="0" anchor="ctr"/>
          <a:lstStyle/>
          <a:p>
            <a:pPr indent="0" marL="0">
              <a:buNone/>
            </a:pPr>
            <a:r>
              <a:rPr lang="en-US" sz="1250" b="1" i="1" dirty="0">
                <a:solidFill>
                  <a:srgbClr val="123A47"/>
                </a:solidFill>
                <a:latin typeface="Calibri" pitchFamily="34" charset="0"/>
                <a:ea typeface="Calibri" pitchFamily="34" charset="-122"/>
                <a:cs typeface="Calibri" pitchFamily="34" charset="-120"/>
              </a:rPr>
              <a:t>That split is the whole soundness argument: a model cannot invent an eligibility result, because no model is in that path.</a:t>
            </a:r>
            <a:endParaRPr lang="en-US" sz="1250" dirty="0"/>
          </a:p>
        </p:txBody>
      </p:sp>
      <p:sp>
        <p:nvSpPr>
          <p:cNvPr id="15" name="Shape 13"/>
          <p:cNvSpPr/>
          <p:nvPr/>
        </p:nvSpPr>
        <p:spPr>
          <a:xfrm>
            <a:off x="566928" y="4261104"/>
            <a:ext cx="2615184" cy="1170432"/>
          </a:xfrm>
          <a:prstGeom prst="roundRect">
            <a:avLst>
              <a:gd name="adj" fmla="val 5469"/>
            </a:avLst>
          </a:prstGeom>
          <a:solidFill>
            <a:srgbClr val="EDF2F3"/>
          </a:solidFill>
          <a:ln w="9525">
            <a:solidFill>
              <a:srgbClr val="D5DFE2"/>
            </a:solidFill>
            <a:prstDash val="solid"/>
          </a:ln>
        </p:spPr>
      </p:sp>
      <p:sp>
        <p:nvSpPr>
          <p:cNvPr id="16" name="Text 14"/>
          <p:cNvSpPr txBox="1"/>
          <p:nvPr/>
        </p:nvSpPr>
        <p:spPr>
          <a:xfrm>
            <a:off x="768096" y="4389120"/>
            <a:ext cx="914400" cy="548640"/>
          </a:xfrm>
          <a:prstGeom prst="rect">
            <a:avLst/>
          </a:prstGeom>
          <a:noFill/>
          <a:ln/>
        </p:spPr>
        <p:txBody>
          <a:bodyPr wrap="square" lIns="0" tIns="0" rIns="0" bIns="0" rtlCol="0" anchor="ctr"/>
          <a:lstStyle/>
          <a:p>
            <a:pPr indent="0" marL="0">
              <a:buNone/>
            </a:pPr>
            <a:r>
              <a:rPr lang="en-US" sz="3000" b="1" dirty="0">
                <a:solidFill>
                  <a:srgbClr val="123A47"/>
                </a:solidFill>
                <a:latin typeface="Cambria" pitchFamily="34" charset="0"/>
                <a:ea typeface="Cambria" pitchFamily="34" charset="-122"/>
                <a:cs typeface="Cambria" pitchFamily="34" charset="-120"/>
              </a:rPr>
              <a:t>36</a:t>
            </a:r>
            <a:endParaRPr lang="en-US" sz="3000" dirty="0"/>
          </a:p>
        </p:txBody>
      </p:sp>
      <p:sp>
        <p:nvSpPr>
          <p:cNvPr id="17" name="Text 15"/>
          <p:cNvSpPr txBox="1"/>
          <p:nvPr/>
        </p:nvSpPr>
        <p:spPr>
          <a:xfrm>
            <a:off x="1536192" y="4443984"/>
            <a:ext cx="1499616" cy="859536"/>
          </a:xfrm>
          <a:prstGeom prst="rect">
            <a:avLst/>
          </a:prstGeom>
          <a:noFill/>
          <a:ln/>
        </p:spPr>
        <p:txBody>
          <a:bodyPr wrap="square" lIns="0" tIns="0" rIns="0" bIns="0" rtlCol="0" anchor="t"/>
          <a:lstStyle/>
          <a:p>
            <a:pPr indent="0" marL="0">
              <a:lnSpc>
                <a:spcPts val="1200"/>
              </a:lnSpc>
              <a:buNone/>
            </a:pPr>
            <a:r>
              <a:rPr lang="en-US" sz="950" dirty="0">
                <a:solidFill>
                  <a:srgbClr val="6B7C83"/>
                </a:solidFill>
                <a:latin typeface="Calibri" pitchFamily="34" charset="0"/>
                <a:ea typeface="Calibri" pitchFamily="34" charset="-122"/>
                <a:cs typeface="Calibri" pitchFamily="34" charset="-120"/>
              </a:rPr>
              <a:t>automated tests on the</a:t>
            </a:r>
            <a:endParaRPr lang="en-US" sz="950" dirty="0"/>
          </a:p>
          <a:p>
            <a:pPr indent="0" marL="0">
              <a:lnSpc>
                <a:spcPts val="1200"/>
              </a:lnSpc>
              <a:buNone/>
            </a:pPr>
            <a:r>
              <a:rPr lang="en-US" sz="950" dirty="0">
                <a:solidFill>
                  <a:srgbClr val="6B7C83"/>
                </a:solidFill>
                <a:latin typeface="Calibri" pitchFamily="34" charset="0"/>
                <a:ea typeface="Calibri" pitchFamily="34" charset="-122"/>
                <a:cs typeface="Calibri" pitchFamily="34" charset="-120"/>
              </a:rPr>
              <a:t>rules engine, all passing</a:t>
            </a:r>
            <a:endParaRPr lang="en-US" sz="950" dirty="0"/>
          </a:p>
        </p:txBody>
      </p:sp>
      <p:sp>
        <p:nvSpPr>
          <p:cNvPr id="18" name="Shape 16"/>
          <p:cNvSpPr/>
          <p:nvPr/>
        </p:nvSpPr>
        <p:spPr>
          <a:xfrm>
            <a:off x="3401568" y="4261104"/>
            <a:ext cx="2615184" cy="1170432"/>
          </a:xfrm>
          <a:prstGeom prst="roundRect">
            <a:avLst>
              <a:gd name="adj" fmla="val 5469"/>
            </a:avLst>
          </a:prstGeom>
          <a:solidFill>
            <a:srgbClr val="EDF2F3"/>
          </a:solidFill>
          <a:ln w="9525">
            <a:solidFill>
              <a:srgbClr val="D5DFE2"/>
            </a:solidFill>
            <a:prstDash val="solid"/>
          </a:ln>
        </p:spPr>
      </p:sp>
      <p:sp>
        <p:nvSpPr>
          <p:cNvPr id="19" name="Text 17"/>
          <p:cNvSpPr txBox="1"/>
          <p:nvPr/>
        </p:nvSpPr>
        <p:spPr>
          <a:xfrm>
            <a:off x="3602736" y="4389120"/>
            <a:ext cx="914400" cy="548640"/>
          </a:xfrm>
          <a:prstGeom prst="rect">
            <a:avLst/>
          </a:prstGeom>
          <a:noFill/>
          <a:ln/>
        </p:spPr>
        <p:txBody>
          <a:bodyPr wrap="square" lIns="0" tIns="0" rIns="0" bIns="0" rtlCol="0" anchor="ctr"/>
          <a:lstStyle/>
          <a:p>
            <a:pPr indent="0" marL="0">
              <a:buNone/>
            </a:pPr>
            <a:r>
              <a:rPr lang="en-US" sz="3000" b="1" dirty="0">
                <a:solidFill>
                  <a:srgbClr val="123A47"/>
                </a:solidFill>
                <a:latin typeface="Cambria" pitchFamily="34" charset="0"/>
                <a:ea typeface="Cambria" pitchFamily="34" charset="-122"/>
                <a:cs typeface="Cambria" pitchFamily="34" charset="-120"/>
              </a:rPr>
              <a:t>3</a:t>
            </a:r>
            <a:endParaRPr lang="en-US" sz="3000" dirty="0"/>
          </a:p>
        </p:txBody>
      </p:sp>
      <p:sp>
        <p:nvSpPr>
          <p:cNvPr id="20" name="Text 18"/>
          <p:cNvSpPr txBox="1"/>
          <p:nvPr/>
        </p:nvSpPr>
        <p:spPr>
          <a:xfrm>
            <a:off x="4370832" y="4443984"/>
            <a:ext cx="1499616" cy="859536"/>
          </a:xfrm>
          <a:prstGeom prst="rect">
            <a:avLst/>
          </a:prstGeom>
          <a:noFill/>
          <a:ln/>
        </p:spPr>
        <p:txBody>
          <a:bodyPr wrap="square" lIns="0" tIns="0" rIns="0" bIns="0" rtlCol="0" anchor="t"/>
          <a:lstStyle/>
          <a:p>
            <a:pPr indent="0" marL="0">
              <a:lnSpc>
                <a:spcPts val="1200"/>
              </a:lnSpc>
              <a:buNone/>
            </a:pPr>
            <a:r>
              <a:rPr lang="en-US" sz="950" dirty="0">
                <a:solidFill>
                  <a:srgbClr val="6B7C83"/>
                </a:solidFill>
                <a:latin typeface="Calibri" pitchFamily="34" charset="0"/>
                <a:ea typeface="Calibri" pitchFamily="34" charset="-122"/>
                <a:cs typeface="Calibri" pitchFamily="34" charset="-120"/>
              </a:rPr>
              <a:t>grant schemes encoded, each</a:t>
            </a:r>
            <a:endParaRPr lang="en-US" sz="950" dirty="0"/>
          </a:p>
          <a:p>
            <a:pPr indent="0" marL="0">
              <a:lnSpc>
                <a:spcPts val="1200"/>
              </a:lnSpc>
              <a:buNone/>
            </a:pPr>
            <a:r>
              <a:rPr lang="en-US" sz="950" dirty="0">
                <a:solidFill>
                  <a:srgbClr val="6B7C83"/>
                </a:solidFill>
                <a:latin typeface="Calibri" pitchFamily="34" charset="0"/>
                <a:ea typeface="Calibri" pitchFamily="34" charset="-122"/>
                <a:cs typeface="Calibri" pitchFamily="34" charset="-120"/>
              </a:rPr>
              <a:t>criterion traced to its source</a:t>
            </a:r>
            <a:endParaRPr lang="en-US" sz="950" dirty="0"/>
          </a:p>
        </p:txBody>
      </p:sp>
      <p:sp>
        <p:nvSpPr>
          <p:cNvPr id="21" name="Shape 19"/>
          <p:cNvSpPr/>
          <p:nvPr/>
        </p:nvSpPr>
        <p:spPr>
          <a:xfrm>
            <a:off x="6236208" y="4261104"/>
            <a:ext cx="2615184" cy="1170432"/>
          </a:xfrm>
          <a:prstGeom prst="roundRect">
            <a:avLst>
              <a:gd name="adj" fmla="val 5469"/>
            </a:avLst>
          </a:prstGeom>
          <a:solidFill>
            <a:srgbClr val="EDF2F3"/>
          </a:solidFill>
          <a:ln w="9525">
            <a:solidFill>
              <a:srgbClr val="D5DFE2"/>
            </a:solidFill>
            <a:prstDash val="solid"/>
          </a:ln>
        </p:spPr>
      </p:sp>
      <p:sp>
        <p:nvSpPr>
          <p:cNvPr id="22" name="Text 20"/>
          <p:cNvSpPr txBox="1"/>
          <p:nvPr/>
        </p:nvSpPr>
        <p:spPr>
          <a:xfrm>
            <a:off x="6437376" y="4389120"/>
            <a:ext cx="914400" cy="548640"/>
          </a:xfrm>
          <a:prstGeom prst="rect">
            <a:avLst/>
          </a:prstGeom>
          <a:noFill/>
          <a:ln/>
        </p:spPr>
        <p:txBody>
          <a:bodyPr wrap="square" lIns="0" tIns="0" rIns="0" bIns="0" rtlCol="0" anchor="ctr"/>
          <a:lstStyle/>
          <a:p>
            <a:pPr indent="0" marL="0">
              <a:buNone/>
            </a:pPr>
            <a:r>
              <a:rPr lang="en-US" sz="3000" b="1" dirty="0">
                <a:solidFill>
                  <a:srgbClr val="123A47"/>
                </a:solidFill>
                <a:latin typeface="Cambria" pitchFamily="34" charset="0"/>
                <a:ea typeface="Cambria" pitchFamily="34" charset="-122"/>
                <a:cs typeface="Cambria" pitchFamily="34" charset="-120"/>
              </a:rPr>
              <a:t>$0</a:t>
            </a:r>
            <a:endParaRPr lang="en-US" sz="3000" dirty="0"/>
          </a:p>
        </p:txBody>
      </p:sp>
      <p:sp>
        <p:nvSpPr>
          <p:cNvPr id="23" name="Text 21"/>
          <p:cNvSpPr txBox="1"/>
          <p:nvPr/>
        </p:nvSpPr>
        <p:spPr>
          <a:xfrm>
            <a:off x="7205472" y="4443984"/>
            <a:ext cx="1499616" cy="859536"/>
          </a:xfrm>
          <a:prstGeom prst="rect">
            <a:avLst/>
          </a:prstGeom>
          <a:noFill/>
          <a:ln/>
        </p:spPr>
        <p:txBody>
          <a:bodyPr wrap="square" lIns="0" tIns="0" rIns="0" bIns="0" rtlCol="0" anchor="t"/>
          <a:lstStyle/>
          <a:p>
            <a:pPr indent="0" marL="0">
              <a:lnSpc>
                <a:spcPts val="1200"/>
              </a:lnSpc>
              <a:buNone/>
            </a:pPr>
            <a:r>
              <a:rPr lang="en-US" sz="950" dirty="0">
                <a:solidFill>
                  <a:srgbClr val="6B7C83"/>
                </a:solidFill>
                <a:latin typeface="Calibri" pitchFamily="34" charset="0"/>
                <a:ea typeface="Calibri" pitchFamily="34" charset="-122"/>
                <a:cs typeface="Calibri" pitchFamily="34" charset="-120"/>
              </a:rPr>
              <a:t>to build and to run — no paid</a:t>
            </a:r>
            <a:endParaRPr lang="en-US" sz="950" dirty="0"/>
          </a:p>
          <a:p>
            <a:pPr indent="0" marL="0">
              <a:lnSpc>
                <a:spcPts val="1200"/>
              </a:lnSpc>
              <a:buNone/>
            </a:pPr>
            <a:r>
              <a:rPr lang="en-US" sz="950" dirty="0">
                <a:solidFill>
                  <a:srgbClr val="6B7C83"/>
                </a:solidFill>
                <a:latin typeface="Calibri" pitchFamily="34" charset="0"/>
                <a:ea typeface="Calibri" pitchFamily="34" charset="-122"/>
                <a:cs typeface="Calibri" pitchFamily="34" charset="-120"/>
              </a:rPr>
              <a:t>API, no paid hosting</a:t>
            </a:r>
            <a:endParaRPr lang="en-US" sz="950" dirty="0"/>
          </a:p>
        </p:txBody>
      </p:sp>
      <p:sp>
        <p:nvSpPr>
          <p:cNvPr id="24" name="Shape 22"/>
          <p:cNvSpPr/>
          <p:nvPr/>
        </p:nvSpPr>
        <p:spPr>
          <a:xfrm>
            <a:off x="9070848" y="4261104"/>
            <a:ext cx="2615184" cy="1170432"/>
          </a:xfrm>
          <a:prstGeom prst="roundRect">
            <a:avLst>
              <a:gd name="adj" fmla="val 5469"/>
            </a:avLst>
          </a:prstGeom>
          <a:solidFill>
            <a:srgbClr val="EDF2F3"/>
          </a:solidFill>
          <a:ln w="9525">
            <a:solidFill>
              <a:srgbClr val="D5DFE2"/>
            </a:solidFill>
            <a:prstDash val="solid"/>
          </a:ln>
        </p:spPr>
      </p:sp>
      <p:sp>
        <p:nvSpPr>
          <p:cNvPr id="25" name="Text 23"/>
          <p:cNvSpPr txBox="1"/>
          <p:nvPr/>
        </p:nvSpPr>
        <p:spPr>
          <a:xfrm>
            <a:off x="9272016" y="4389120"/>
            <a:ext cx="914400" cy="548640"/>
          </a:xfrm>
          <a:prstGeom prst="rect">
            <a:avLst/>
          </a:prstGeom>
          <a:noFill/>
          <a:ln/>
        </p:spPr>
        <p:txBody>
          <a:bodyPr wrap="square" lIns="0" tIns="0" rIns="0" bIns="0" rtlCol="0" anchor="ctr"/>
          <a:lstStyle/>
          <a:p>
            <a:pPr indent="0" marL="0">
              <a:buNone/>
            </a:pPr>
            <a:r>
              <a:rPr lang="en-US" sz="3000" b="1" dirty="0">
                <a:solidFill>
                  <a:srgbClr val="123A47"/>
                </a:solidFill>
                <a:latin typeface="Cambria" pitchFamily="34" charset="0"/>
                <a:ea typeface="Cambria" pitchFamily="34" charset="-122"/>
                <a:cs typeface="Cambria" pitchFamily="34" charset="-120"/>
              </a:rPr>
              <a:t>0</a:t>
            </a:r>
            <a:endParaRPr lang="en-US" sz="3000" dirty="0"/>
          </a:p>
        </p:txBody>
      </p:sp>
      <p:sp>
        <p:nvSpPr>
          <p:cNvPr id="26" name="Text 24"/>
          <p:cNvSpPr txBox="1"/>
          <p:nvPr/>
        </p:nvSpPr>
        <p:spPr>
          <a:xfrm>
            <a:off x="10040112" y="4443984"/>
            <a:ext cx="1499616" cy="859536"/>
          </a:xfrm>
          <a:prstGeom prst="rect">
            <a:avLst/>
          </a:prstGeom>
          <a:noFill/>
          <a:ln/>
        </p:spPr>
        <p:txBody>
          <a:bodyPr wrap="square" lIns="0" tIns="0" rIns="0" bIns="0" rtlCol="0" anchor="t"/>
          <a:lstStyle/>
          <a:p>
            <a:pPr indent="0" marL="0">
              <a:lnSpc>
                <a:spcPts val="1200"/>
              </a:lnSpc>
              <a:buNone/>
            </a:pPr>
            <a:r>
              <a:rPr lang="en-US" sz="950" dirty="0">
                <a:solidFill>
                  <a:srgbClr val="6B7C83"/>
                </a:solidFill>
                <a:latin typeface="Calibri" pitchFamily="34" charset="0"/>
                <a:ea typeface="Calibri" pitchFamily="34" charset="-122"/>
                <a:cs typeface="Calibri" pitchFamily="34" charset="-120"/>
              </a:rPr>
              <a:t>API keys anywhere in the</a:t>
            </a:r>
            <a:endParaRPr lang="en-US" sz="950" dirty="0"/>
          </a:p>
          <a:p>
            <a:pPr indent="0" marL="0">
              <a:lnSpc>
                <a:spcPts val="1200"/>
              </a:lnSpc>
              <a:buNone/>
            </a:pPr>
            <a:r>
              <a:rPr lang="en-US" sz="950" dirty="0">
                <a:solidFill>
                  <a:srgbClr val="6B7C83"/>
                </a:solidFill>
                <a:latin typeface="Calibri" pitchFamily="34" charset="0"/>
                <a:ea typeface="Calibri" pitchFamily="34" charset="-122"/>
                <a:cs typeface="Calibri" pitchFamily="34" charset="-120"/>
              </a:rPr>
              <a:t>repository or the browser</a:t>
            </a:r>
            <a:endParaRPr lang="en-US" sz="950" dirty="0"/>
          </a:p>
        </p:txBody>
      </p:sp>
      <p:sp>
        <p:nvSpPr>
          <p:cNvPr id="27" name="Text 25"/>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There is no public API for Singapore grant criteria — not GoBusiness, not raiSE, not EnterpriseSG. Rules are hand-authored and auditable by anyone. Company verification uses the free data.gov.sg ACRA dataset.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DESIGN DECISIONS</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Rigour</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What we chose not to do, and why.</a:t>
            </a:r>
            <a:endParaRPr lang="en-US" sz="2700" dirty="0"/>
          </a:p>
        </p:txBody>
      </p:sp>
      <p:sp>
        <p:nvSpPr>
          <p:cNvPr id="6" name="Shape 4"/>
          <p:cNvSpPr/>
          <p:nvPr/>
        </p:nvSpPr>
        <p:spPr>
          <a:xfrm>
            <a:off x="566928" y="1243584"/>
            <a:ext cx="11027664" cy="841248"/>
          </a:xfrm>
          <a:prstGeom prst="roundRect">
            <a:avLst>
              <a:gd name="adj" fmla="val 7609"/>
            </a:avLst>
          </a:prstGeom>
          <a:solidFill>
            <a:srgbClr val="EDF2F3"/>
          </a:solidFill>
          <a:ln w="9525">
            <a:solidFill>
              <a:srgbClr val="D5DFE2"/>
            </a:solidFill>
            <a:prstDash val="solid"/>
          </a:ln>
        </p:spPr>
      </p:sp>
      <p:sp>
        <p:nvSpPr>
          <p:cNvPr id="7" name="Text 5"/>
          <p:cNvSpPr txBox="1"/>
          <p:nvPr/>
        </p:nvSpPr>
        <p:spPr>
          <a:xfrm>
            <a:off x="786384" y="1362456"/>
            <a:ext cx="3200400" cy="603504"/>
          </a:xfrm>
          <a:prstGeom prst="rect">
            <a:avLst/>
          </a:prstGeom>
          <a:noFill/>
          <a:ln/>
        </p:spPr>
        <p:txBody>
          <a:bodyPr wrap="square" lIns="0" tIns="0" rIns="0" bIns="0" rtlCol="0" anchor="ctr"/>
          <a:lstStyle/>
          <a:p>
            <a:pPr indent="0" marL="0">
              <a:lnSpc>
                <a:spcPts val="1400"/>
              </a:lnSpc>
              <a:buNone/>
            </a:pPr>
            <a:r>
              <a:rPr lang="en-US" sz="1150" b="1" dirty="0">
                <a:solidFill>
                  <a:srgbClr val="123A47"/>
                </a:solidFill>
                <a:latin typeface="Calibri" pitchFamily="34" charset="0"/>
                <a:ea typeface="Calibri" pitchFamily="34" charset="-122"/>
                <a:cs typeface="Calibri" pitchFamily="34" charset="-120"/>
              </a:rPr>
              <a:t>Alternative credit scoring for the informal economy</a:t>
            </a:r>
            <a:endParaRPr lang="en-US" sz="1150" dirty="0"/>
          </a:p>
        </p:txBody>
      </p:sp>
      <p:sp>
        <p:nvSpPr>
          <p:cNvPr id="8" name="Text 6"/>
          <p:cNvSpPr txBox="1"/>
          <p:nvPr/>
        </p:nvSpPr>
        <p:spPr>
          <a:xfrm>
            <a:off x="4096512" y="1362456"/>
            <a:ext cx="1737360" cy="603504"/>
          </a:xfrm>
          <a:prstGeom prst="rect">
            <a:avLst/>
          </a:prstGeom>
          <a:noFill/>
          <a:ln/>
        </p:spPr>
        <p:txBody>
          <a:bodyPr wrap="square" lIns="0" tIns="0" rIns="0" bIns="0" rtlCol="0" anchor="ctr"/>
          <a:lstStyle/>
          <a:p>
            <a:pPr indent="0" marL="0">
              <a:lnSpc>
                <a:spcPts val="1300"/>
              </a:lnSpc>
              <a:buNone/>
            </a:pPr>
            <a:r>
              <a:rPr lang="en-US" sz="1050" b="1" dirty="0">
                <a:solidFill>
                  <a:srgbClr val="8A5A5A"/>
                </a:solidFill>
                <a:latin typeface="Calibri" pitchFamily="34" charset="0"/>
                <a:ea typeface="Calibri" pitchFamily="34" charset="-122"/>
                <a:cs typeface="Calibri" pitchFamily="34" charset="-120"/>
              </a:rPr>
              <a:t>Rejected for this build</a:t>
            </a:r>
            <a:endParaRPr lang="en-US" sz="1050" dirty="0"/>
          </a:p>
        </p:txBody>
      </p:sp>
      <p:sp>
        <p:nvSpPr>
          <p:cNvPr id="9" name="Text 7"/>
          <p:cNvSpPr txBox="1"/>
          <p:nvPr/>
        </p:nvSpPr>
        <p:spPr>
          <a:xfrm>
            <a:off x="5961888" y="1344168"/>
            <a:ext cx="5614416" cy="658368"/>
          </a:xfrm>
          <a:prstGeom prst="rect">
            <a:avLst/>
          </a:prstGeom>
          <a:noFill/>
          <a:ln/>
        </p:spPr>
        <p:txBody>
          <a:bodyPr wrap="square" lIns="0" tIns="0" rIns="0" bIns="0" rtlCol="0" anchor="ctr"/>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A real problem, and tempting. But we cannot demo a lender agreeing to underwrite on it, and it drags a student prototype into credit regulation. On the roadmap, not in the product.</a:t>
            </a:r>
            <a:endParaRPr lang="en-US" sz="1050" dirty="0"/>
          </a:p>
        </p:txBody>
      </p:sp>
      <p:sp>
        <p:nvSpPr>
          <p:cNvPr id="10" name="Shape 8"/>
          <p:cNvSpPr/>
          <p:nvPr/>
        </p:nvSpPr>
        <p:spPr>
          <a:xfrm>
            <a:off x="566928" y="2176272"/>
            <a:ext cx="11027664" cy="841248"/>
          </a:xfrm>
          <a:prstGeom prst="roundRect">
            <a:avLst>
              <a:gd name="adj" fmla="val 7609"/>
            </a:avLst>
          </a:prstGeom>
          <a:solidFill>
            <a:srgbClr val="FFFFFF"/>
          </a:solidFill>
          <a:ln w="9525">
            <a:solidFill>
              <a:srgbClr val="D5DFE2"/>
            </a:solidFill>
            <a:prstDash val="solid"/>
          </a:ln>
        </p:spPr>
      </p:sp>
      <p:sp>
        <p:nvSpPr>
          <p:cNvPr id="11" name="Text 9"/>
          <p:cNvSpPr txBox="1"/>
          <p:nvPr/>
        </p:nvSpPr>
        <p:spPr>
          <a:xfrm>
            <a:off x="786384" y="2295144"/>
            <a:ext cx="3200400" cy="603504"/>
          </a:xfrm>
          <a:prstGeom prst="rect">
            <a:avLst/>
          </a:prstGeom>
          <a:noFill/>
          <a:ln/>
        </p:spPr>
        <p:txBody>
          <a:bodyPr wrap="square" lIns="0" tIns="0" rIns="0" bIns="0" rtlCol="0" anchor="ctr"/>
          <a:lstStyle/>
          <a:p>
            <a:pPr indent="0" marL="0">
              <a:lnSpc>
                <a:spcPts val="1400"/>
              </a:lnSpc>
              <a:buNone/>
            </a:pPr>
            <a:r>
              <a:rPr lang="en-US" sz="1150" b="1" dirty="0">
                <a:solidFill>
                  <a:srgbClr val="123A47"/>
                </a:solidFill>
                <a:latin typeface="Calibri" pitchFamily="34" charset="0"/>
                <a:ea typeface="Calibri" pitchFamily="34" charset="-122"/>
                <a:cs typeface="Calibri" pitchFamily="34" charset="-120"/>
              </a:rPr>
              <a:t>Myinfo Business auto-fill</a:t>
            </a:r>
            <a:endParaRPr lang="en-US" sz="1150" dirty="0"/>
          </a:p>
        </p:txBody>
      </p:sp>
      <p:sp>
        <p:nvSpPr>
          <p:cNvPr id="12" name="Text 10"/>
          <p:cNvSpPr txBox="1"/>
          <p:nvPr/>
        </p:nvSpPr>
        <p:spPr>
          <a:xfrm>
            <a:off x="4096512" y="2295144"/>
            <a:ext cx="1737360" cy="603504"/>
          </a:xfrm>
          <a:prstGeom prst="rect">
            <a:avLst/>
          </a:prstGeom>
          <a:noFill/>
          <a:ln/>
        </p:spPr>
        <p:txBody>
          <a:bodyPr wrap="square" lIns="0" tIns="0" rIns="0" bIns="0" rtlCol="0" anchor="ctr"/>
          <a:lstStyle/>
          <a:p>
            <a:pPr indent="0" marL="0">
              <a:lnSpc>
                <a:spcPts val="1300"/>
              </a:lnSpc>
              <a:buNone/>
            </a:pPr>
            <a:r>
              <a:rPr lang="en-US" sz="1050" b="1" dirty="0">
                <a:solidFill>
                  <a:srgbClr val="8A5A5A"/>
                </a:solidFill>
                <a:latin typeface="Calibri" pitchFamily="34" charset="0"/>
                <a:ea typeface="Calibri" pitchFamily="34" charset="-122"/>
                <a:cs typeface="Calibri" pitchFamily="34" charset="-120"/>
              </a:rPr>
              <a:t>Mocked, labelled roadmap</a:t>
            </a:r>
            <a:endParaRPr lang="en-US" sz="1050" dirty="0"/>
          </a:p>
        </p:txBody>
      </p:sp>
      <p:sp>
        <p:nvSpPr>
          <p:cNvPr id="13" name="Text 11"/>
          <p:cNvSpPr txBox="1"/>
          <p:nvPr/>
        </p:nvSpPr>
        <p:spPr>
          <a:xfrm>
            <a:off x="5961888" y="2276856"/>
            <a:ext cx="5614416" cy="658368"/>
          </a:xfrm>
          <a:prstGeom prst="rect">
            <a:avLst/>
          </a:prstGeom>
          <a:noFill/>
          <a:ln/>
        </p:spPr>
        <p:txBody>
          <a:bodyPr wrap="square" lIns="0" tIns="0" rIns="0" bIns="0" rtlCol="0" anchor="ctr"/>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It proves our thesis — never re-enter what the system already knows. But integration needs a government-assessed linkup through the Singpass partner portal, which is not obtainable in three days. And it cannot help Ren: she has no ACRA record to prefill.</a:t>
            </a:r>
            <a:endParaRPr lang="en-US" sz="1050" dirty="0"/>
          </a:p>
        </p:txBody>
      </p:sp>
      <p:sp>
        <p:nvSpPr>
          <p:cNvPr id="14" name="Shape 12"/>
          <p:cNvSpPr/>
          <p:nvPr/>
        </p:nvSpPr>
        <p:spPr>
          <a:xfrm>
            <a:off x="566928" y="3108960"/>
            <a:ext cx="11027664" cy="841248"/>
          </a:xfrm>
          <a:prstGeom prst="roundRect">
            <a:avLst>
              <a:gd name="adj" fmla="val 7609"/>
            </a:avLst>
          </a:prstGeom>
          <a:solidFill>
            <a:srgbClr val="EDF2F3"/>
          </a:solidFill>
          <a:ln w="9525">
            <a:solidFill>
              <a:srgbClr val="D5DFE2"/>
            </a:solidFill>
            <a:prstDash val="solid"/>
          </a:ln>
        </p:spPr>
      </p:sp>
      <p:sp>
        <p:nvSpPr>
          <p:cNvPr id="15" name="Text 13"/>
          <p:cNvSpPr txBox="1"/>
          <p:nvPr/>
        </p:nvSpPr>
        <p:spPr>
          <a:xfrm>
            <a:off x="786384" y="3227832"/>
            <a:ext cx="3200400" cy="603504"/>
          </a:xfrm>
          <a:prstGeom prst="rect">
            <a:avLst/>
          </a:prstGeom>
          <a:noFill/>
          <a:ln/>
        </p:spPr>
        <p:txBody>
          <a:bodyPr wrap="square" lIns="0" tIns="0" rIns="0" bIns="0" rtlCol="0" anchor="ctr"/>
          <a:lstStyle/>
          <a:p>
            <a:pPr indent="0" marL="0">
              <a:lnSpc>
                <a:spcPts val="1400"/>
              </a:lnSpc>
              <a:buNone/>
            </a:pPr>
            <a:r>
              <a:rPr lang="en-US" sz="1150" b="1" dirty="0">
                <a:solidFill>
                  <a:srgbClr val="123A47"/>
                </a:solidFill>
                <a:latin typeface="Calibri" pitchFamily="34" charset="0"/>
                <a:ea typeface="Calibri" pitchFamily="34" charset="-122"/>
                <a:cs typeface="Calibri" pitchFamily="34" charset="-120"/>
              </a:rPr>
              <a:t>Putting a model in the eligibility path</a:t>
            </a:r>
            <a:endParaRPr lang="en-US" sz="1150" dirty="0"/>
          </a:p>
        </p:txBody>
      </p:sp>
      <p:sp>
        <p:nvSpPr>
          <p:cNvPr id="16" name="Text 14"/>
          <p:cNvSpPr txBox="1"/>
          <p:nvPr/>
        </p:nvSpPr>
        <p:spPr>
          <a:xfrm>
            <a:off x="4096512" y="3227832"/>
            <a:ext cx="1737360" cy="603504"/>
          </a:xfrm>
          <a:prstGeom prst="rect">
            <a:avLst/>
          </a:prstGeom>
          <a:noFill/>
          <a:ln/>
        </p:spPr>
        <p:txBody>
          <a:bodyPr wrap="square" lIns="0" tIns="0" rIns="0" bIns="0" rtlCol="0" anchor="ctr"/>
          <a:lstStyle/>
          <a:p>
            <a:pPr indent="0" marL="0">
              <a:lnSpc>
                <a:spcPts val="1300"/>
              </a:lnSpc>
              <a:buNone/>
            </a:pPr>
            <a:r>
              <a:rPr lang="en-US" sz="1050" b="1" dirty="0">
                <a:solidFill>
                  <a:srgbClr val="8A5A5A"/>
                </a:solidFill>
                <a:latin typeface="Calibri" pitchFamily="34" charset="0"/>
                <a:ea typeface="Calibri" pitchFamily="34" charset="-122"/>
                <a:cs typeface="Calibri" pitchFamily="34" charset="-120"/>
              </a:rPr>
              <a:t>Ruled out permanently</a:t>
            </a:r>
            <a:endParaRPr lang="en-US" sz="1050" dirty="0"/>
          </a:p>
        </p:txBody>
      </p:sp>
      <p:sp>
        <p:nvSpPr>
          <p:cNvPr id="17" name="Text 15"/>
          <p:cNvSpPr txBox="1"/>
          <p:nvPr/>
        </p:nvSpPr>
        <p:spPr>
          <a:xfrm>
            <a:off x="5961888" y="3209544"/>
            <a:ext cx="5614416" cy="658368"/>
          </a:xfrm>
          <a:prstGeom prst="rect">
            <a:avLst/>
          </a:prstGeom>
          <a:noFill/>
          <a:ln/>
        </p:spPr>
        <p:txBody>
          <a:bodyPr wrap="square" lIns="0" tIns="0" rIns="0" bIns="0" rtlCol="0" anchor="ctr"/>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It would be easier to build and impossible to defend. A wrong eligibility answer is one a founder acts on for months. Determinism is not a limitation here, it is the product.</a:t>
            </a:r>
            <a:endParaRPr lang="en-US" sz="1050" dirty="0"/>
          </a:p>
        </p:txBody>
      </p:sp>
      <p:sp>
        <p:nvSpPr>
          <p:cNvPr id="18" name="Shape 16"/>
          <p:cNvSpPr/>
          <p:nvPr/>
        </p:nvSpPr>
        <p:spPr>
          <a:xfrm>
            <a:off x="566928" y="4041648"/>
            <a:ext cx="11027664" cy="841248"/>
          </a:xfrm>
          <a:prstGeom prst="roundRect">
            <a:avLst>
              <a:gd name="adj" fmla="val 7609"/>
            </a:avLst>
          </a:prstGeom>
          <a:solidFill>
            <a:srgbClr val="FFFFFF"/>
          </a:solidFill>
          <a:ln w="9525">
            <a:solidFill>
              <a:srgbClr val="D5DFE2"/>
            </a:solidFill>
            <a:prstDash val="solid"/>
          </a:ln>
        </p:spPr>
      </p:sp>
      <p:sp>
        <p:nvSpPr>
          <p:cNvPr id="19" name="Text 17"/>
          <p:cNvSpPr txBox="1"/>
          <p:nvPr/>
        </p:nvSpPr>
        <p:spPr>
          <a:xfrm>
            <a:off x="786384" y="4160520"/>
            <a:ext cx="3200400" cy="603504"/>
          </a:xfrm>
          <a:prstGeom prst="rect">
            <a:avLst/>
          </a:prstGeom>
          <a:noFill/>
          <a:ln/>
        </p:spPr>
        <p:txBody>
          <a:bodyPr wrap="square" lIns="0" tIns="0" rIns="0" bIns="0" rtlCol="0" anchor="ctr"/>
          <a:lstStyle/>
          <a:p>
            <a:pPr indent="0" marL="0">
              <a:lnSpc>
                <a:spcPts val="1400"/>
              </a:lnSpc>
              <a:buNone/>
            </a:pPr>
            <a:r>
              <a:rPr lang="en-US" sz="1150" b="1" dirty="0">
                <a:solidFill>
                  <a:srgbClr val="123A47"/>
                </a:solidFill>
                <a:latin typeface="Calibri" pitchFamily="34" charset="0"/>
                <a:ea typeface="Calibri" pitchFamily="34" charset="-122"/>
                <a:cs typeface="Calibri" pitchFamily="34" charset="-120"/>
              </a:rPr>
              <a:t>Blocking on unverified figures</a:t>
            </a:r>
            <a:endParaRPr lang="en-US" sz="1150" dirty="0"/>
          </a:p>
        </p:txBody>
      </p:sp>
      <p:sp>
        <p:nvSpPr>
          <p:cNvPr id="20" name="Text 18"/>
          <p:cNvSpPr txBox="1"/>
          <p:nvPr/>
        </p:nvSpPr>
        <p:spPr>
          <a:xfrm>
            <a:off x="4096512" y="4160520"/>
            <a:ext cx="1737360" cy="603504"/>
          </a:xfrm>
          <a:prstGeom prst="rect">
            <a:avLst/>
          </a:prstGeom>
          <a:noFill/>
          <a:ln/>
        </p:spPr>
        <p:txBody>
          <a:bodyPr wrap="square" lIns="0" tIns="0" rIns="0" bIns="0" rtlCol="0" anchor="ctr"/>
          <a:lstStyle/>
          <a:p>
            <a:pPr indent="0" marL="0">
              <a:lnSpc>
                <a:spcPts val="1300"/>
              </a:lnSpc>
              <a:buNone/>
            </a:pPr>
            <a:r>
              <a:rPr lang="en-US" sz="1050" b="1" dirty="0">
                <a:solidFill>
                  <a:srgbClr val="8A5A5A"/>
                </a:solidFill>
                <a:latin typeface="Calibri" pitchFamily="34" charset="0"/>
                <a:ea typeface="Calibri" pitchFamily="34" charset="-122"/>
                <a:cs typeface="Calibri" pitchFamily="34" charset="-120"/>
              </a:rPr>
              <a:t>Ruled out</a:t>
            </a:r>
            <a:endParaRPr lang="en-US" sz="1050" dirty="0"/>
          </a:p>
        </p:txBody>
      </p:sp>
      <p:sp>
        <p:nvSpPr>
          <p:cNvPr id="21" name="Text 19"/>
          <p:cNvSpPr txBox="1"/>
          <p:nvPr/>
        </p:nvSpPr>
        <p:spPr>
          <a:xfrm>
            <a:off x="5961888" y="4142232"/>
            <a:ext cx="5614416" cy="658368"/>
          </a:xfrm>
          <a:prstGeom prst="rect">
            <a:avLst/>
          </a:prstGeom>
          <a:noFill/>
          <a:ln/>
        </p:spPr>
        <p:txBody>
          <a:bodyPr wrap="square" lIns="0" tIns="0" rIns="0" bIns="0" rtlCol="0" anchor="ctr"/>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Startup SG Founder’s matching ratio appears only in vendor blogs. Blocking a founder on a number we could not verify is precisely the failure this product exists to prevent, so it is advisory only.</a:t>
            </a:r>
            <a:endParaRPr lang="en-US" sz="1050" dirty="0"/>
          </a:p>
        </p:txBody>
      </p:sp>
      <p:sp>
        <p:nvSpPr>
          <p:cNvPr id="22" name="Shape 20"/>
          <p:cNvSpPr/>
          <p:nvPr/>
        </p:nvSpPr>
        <p:spPr>
          <a:xfrm>
            <a:off x="566928" y="4974336"/>
            <a:ext cx="11027664" cy="841248"/>
          </a:xfrm>
          <a:prstGeom prst="roundRect">
            <a:avLst>
              <a:gd name="adj" fmla="val 7609"/>
            </a:avLst>
          </a:prstGeom>
          <a:solidFill>
            <a:srgbClr val="EDF2F3"/>
          </a:solidFill>
          <a:ln w="9525">
            <a:solidFill>
              <a:srgbClr val="D5DFE2"/>
            </a:solidFill>
            <a:prstDash val="solid"/>
          </a:ln>
        </p:spPr>
      </p:sp>
      <p:sp>
        <p:nvSpPr>
          <p:cNvPr id="23" name="Text 21"/>
          <p:cNvSpPr txBox="1"/>
          <p:nvPr/>
        </p:nvSpPr>
        <p:spPr>
          <a:xfrm>
            <a:off x="786384" y="5093208"/>
            <a:ext cx="3200400" cy="603504"/>
          </a:xfrm>
          <a:prstGeom prst="rect">
            <a:avLst/>
          </a:prstGeom>
          <a:noFill/>
          <a:ln/>
        </p:spPr>
        <p:txBody>
          <a:bodyPr wrap="square" lIns="0" tIns="0" rIns="0" bIns="0" rtlCol="0" anchor="ctr"/>
          <a:lstStyle/>
          <a:p>
            <a:pPr indent="0" marL="0">
              <a:lnSpc>
                <a:spcPts val="1400"/>
              </a:lnSpc>
              <a:buNone/>
            </a:pPr>
            <a:r>
              <a:rPr lang="en-US" sz="1150" b="1" dirty="0">
                <a:solidFill>
                  <a:srgbClr val="123A47"/>
                </a:solidFill>
                <a:latin typeface="Calibri" pitchFamily="34" charset="0"/>
                <a:ea typeface="Calibri" pitchFamily="34" charset="-122"/>
                <a:cs typeface="Calibri" pitchFamily="34" charset="-120"/>
              </a:rPr>
              <a:t>Using disability data in eligibility</a:t>
            </a:r>
            <a:endParaRPr lang="en-US" sz="1150" dirty="0"/>
          </a:p>
        </p:txBody>
      </p:sp>
      <p:sp>
        <p:nvSpPr>
          <p:cNvPr id="24" name="Text 22"/>
          <p:cNvSpPr txBox="1"/>
          <p:nvPr/>
        </p:nvSpPr>
        <p:spPr>
          <a:xfrm>
            <a:off x="4096512" y="5093208"/>
            <a:ext cx="1737360" cy="603504"/>
          </a:xfrm>
          <a:prstGeom prst="rect">
            <a:avLst/>
          </a:prstGeom>
          <a:noFill/>
          <a:ln/>
        </p:spPr>
        <p:txBody>
          <a:bodyPr wrap="square" lIns="0" tIns="0" rIns="0" bIns="0" rtlCol="0" anchor="ctr"/>
          <a:lstStyle/>
          <a:p>
            <a:pPr indent="0" marL="0">
              <a:lnSpc>
                <a:spcPts val="1300"/>
              </a:lnSpc>
              <a:buNone/>
            </a:pPr>
            <a:r>
              <a:rPr lang="en-US" sz="1050" b="1" dirty="0">
                <a:solidFill>
                  <a:srgbClr val="8A5A5A"/>
                </a:solidFill>
                <a:latin typeface="Calibri" pitchFamily="34" charset="0"/>
                <a:ea typeface="Calibri" pitchFamily="34" charset="-122"/>
                <a:cs typeface="Calibri" pitchFamily="34" charset="-120"/>
              </a:rPr>
              <a:t>Walled off in the schema</a:t>
            </a:r>
            <a:endParaRPr lang="en-US" sz="1050" dirty="0"/>
          </a:p>
        </p:txBody>
      </p:sp>
      <p:sp>
        <p:nvSpPr>
          <p:cNvPr id="25" name="Text 23"/>
          <p:cNvSpPr txBox="1"/>
          <p:nvPr/>
        </p:nvSpPr>
        <p:spPr>
          <a:xfrm>
            <a:off x="5961888" y="5074920"/>
            <a:ext cx="5614416" cy="658368"/>
          </a:xfrm>
          <a:prstGeom prst="rect">
            <a:avLst/>
          </a:prstGeom>
          <a:noFill/>
          <a:ln/>
        </p:spPr>
        <p:txBody>
          <a:bodyPr wrap="square" lIns="0" tIns="0" rIns="0" bIns="0" rtlCol="0" anchor="ctr"/>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Access needs shape the interface and nothing else. No rule file is permitted to read that field, and the build fails if one tries. Accessibility is our design constraint, never an eligibility input.</a:t>
            </a:r>
            <a:endParaRPr lang="en-US" sz="1050" dirty="0"/>
          </a:p>
        </p:txBody>
      </p:sp>
      <p:sp>
        <p:nvSpPr>
          <p:cNvPr id="26" name="Text 24"/>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Scope discipline was a deliberate choice: three screens that work beat eight that do not, and every cut above bought time for the eligibility engine.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SOURCE DISCIPLINE</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Rigour</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Three things we got wrong, and caught.</a:t>
            </a:r>
            <a:endParaRPr lang="en-US" sz="2700" dirty="0"/>
          </a:p>
        </p:txBody>
      </p:sp>
      <p:sp>
        <p:nvSpPr>
          <p:cNvPr id="6" name="Text 4"/>
          <p:cNvSpPr txBox="1"/>
          <p:nvPr/>
        </p:nvSpPr>
        <p:spPr>
          <a:xfrm>
            <a:off x="566928" y="1207008"/>
            <a:ext cx="8778240" cy="548640"/>
          </a:xfrm>
          <a:prstGeom prst="rect">
            <a:avLst/>
          </a:prstGeom>
          <a:noFill/>
          <a:ln/>
        </p:spPr>
        <p:txBody>
          <a:bodyPr wrap="square" lIns="0" tIns="0" rIns="0" bIns="0" rtlCol="0" anchor="t"/>
          <a:lstStyle/>
          <a:p>
            <a:pPr indent="0" marL="0">
              <a:lnSpc>
                <a:spcPts val="1600"/>
              </a:lnSpc>
              <a:buNone/>
            </a:pPr>
            <a:r>
              <a:rPr lang="en-US" sz="1250" dirty="0">
                <a:solidFill>
                  <a:srgbClr val="123A47"/>
                </a:solidFill>
                <a:latin typeface="Calibri" pitchFamily="34" charset="0"/>
                <a:ea typeface="Calibri" pitchFamily="34" charset="-122"/>
                <a:cs typeface="Calibri" pitchFamily="34" charset="-120"/>
              </a:rPr>
              <a:t>Our own working brief contained errors. We found them by checking it against the funders’ pages rather than trusting the summary we had written. Each of these would have been visible to a judge who knows the sector.</a:t>
            </a:r>
            <a:endParaRPr lang="en-US" sz="1250" dirty="0"/>
          </a:p>
        </p:txBody>
      </p:sp>
      <p:sp>
        <p:nvSpPr>
          <p:cNvPr id="7" name="Shape 5"/>
          <p:cNvSpPr/>
          <p:nvPr/>
        </p:nvSpPr>
        <p:spPr>
          <a:xfrm>
            <a:off x="566928" y="1920240"/>
            <a:ext cx="3529584" cy="3529584"/>
          </a:xfrm>
          <a:prstGeom prst="roundRect">
            <a:avLst>
              <a:gd name="adj" fmla="val 1813"/>
            </a:avLst>
          </a:prstGeom>
          <a:solidFill>
            <a:srgbClr val="EDF2F3"/>
          </a:solidFill>
          <a:ln w="9525">
            <a:solidFill>
              <a:srgbClr val="D5DFE2"/>
            </a:solidFill>
            <a:prstDash val="solid"/>
          </a:ln>
        </p:spPr>
      </p:sp>
      <p:sp>
        <p:nvSpPr>
          <p:cNvPr id="8" name="Shape 6"/>
          <p:cNvSpPr/>
          <p:nvPr/>
        </p:nvSpPr>
        <p:spPr>
          <a:xfrm>
            <a:off x="804672" y="2121408"/>
            <a:ext cx="1225296" cy="256032"/>
          </a:xfrm>
          <a:prstGeom prst="roundRect">
            <a:avLst>
              <a:gd name="adj" fmla="val 50000"/>
            </a:avLst>
          </a:prstGeom>
          <a:solidFill>
            <a:srgbClr val="8A5A5A"/>
          </a:solidFill>
          <a:ln w="12700">
            <a:solidFill>
              <a:srgbClr val="8A5A5A"/>
            </a:solidFill>
            <a:prstDash val="solid"/>
          </a:ln>
        </p:spPr>
      </p:sp>
      <p:sp>
        <p:nvSpPr>
          <p:cNvPr id="9" name="Text 7"/>
          <p:cNvSpPr txBox="1"/>
          <p:nvPr/>
        </p:nvSpPr>
        <p:spPr>
          <a:xfrm>
            <a:off x="804672" y="2121408"/>
            <a:ext cx="12252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We believed</a:t>
            </a:r>
            <a:endParaRPr lang="en-US" sz="950" dirty="0"/>
          </a:p>
        </p:txBody>
      </p:sp>
      <p:sp>
        <p:nvSpPr>
          <p:cNvPr id="10" name="Text 8"/>
          <p:cNvSpPr txBox="1"/>
          <p:nvPr/>
        </p:nvSpPr>
        <p:spPr>
          <a:xfrm>
            <a:off x="804672" y="2487168"/>
            <a:ext cx="3054096" cy="658368"/>
          </a:xfrm>
          <a:prstGeom prst="rect">
            <a:avLst/>
          </a:prstGeom>
          <a:noFill/>
          <a:ln/>
        </p:spPr>
        <p:txBody>
          <a:bodyPr wrap="square" lIns="0" tIns="0" rIns="0" bIns="0" rtlCol="0" anchor="t"/>
          <a:lstStyle/>
          <a:p>
            <a:pPr indent="0" marL="0">
              <a:lnSpc>
                <a:spcPts val="1500"/>
              </a:lnSpc>
              <a:buNone/>
            </a:pPr>
            <a:r>
              <a:rPr lang="en-US" sz="1150" dirty="0">
                <a:solidFill>
                  <a:srgbClr val="123A47"/>
                </a:solidFill>
                <a:latin typeface="Calibri" pitchFamily="34" charset="0"/>
                <a:ea typeface="Calibri" pitchFamily="34" charset="-122"/>
                <a:cs typeface="Calibri" pitchFamily="34" charset="-120"/>
              </a:rPr>
              <a:t>VentureForGood (Youth) awards up to S$300,000</a:t>
            </a:r>
            <a:endParaRPr lang="en-US" sz="1150" dirty="0"/>
          </a:p>
        </p:txBody>
      </p:sp>
      <p:sp>
        <p:nvSpPr>
          <p:cNvPr id="11" name="Shape 9"/>
          <p:cNvSpPr/>
          <p:nvPr/>
        </p:nvSpPr>
        <p:spPr>
          <a:xfrm>
            <a:off x="804672" y="3200400"/>
            <a:ext cx="1225296" cy="256032"/>
          </a:xfrm>
          <a:prstGeom prst="roundRect">
            <a:avLst>
              <a:gd name="adj" fmla="val 50000"/>
            </a:avLst>
          </a:prstGeom>
          <a:solidFill>
            <a:srgbClr val="2E7D5B"/>
          </a:solidFill>
          <a:ln w="12700">
            <a:solidFill>
              <a:srgbClr val="2E7D5B"/>
            </a:solidFill>
            <a:prstDash val="solid"/>
          </a:ln>
        </p:spPr>
      </p:sp>
      <p:sp>
        <p:nvSpPr>
          <p:cNvPr id="12" name="Text 10"/>
          <p:cNvSpPr txBox="1"/>
          <p:nvPr/>
        </p:nvSpPr>
        <p:spPr>
          <a:xfrm>
            <a:off x="804672" y="3200400"/>
            <a:ext cx="12252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Actually</a:t>
            </a:r>
            <a:endParaRPr lang="en-US" sz="950" dirty="0"/>
          </a:p>
        </p:txBody>
      </p:sp>
      <p:sp>
        <p:nvSpPr>
          <p:cNvPr id="13" name="Text 11"/>
          <p:cNvSpPr txBox="1"/>
          <p:nvPr/>
        </p:nvSpPr>
        <p:spPr>
          <a:xfrm>
            <a:off x="804672" y="3566160"/>
            <a:ext cx="3054096" cy="859536"/>
          </a:xfrm>
          <a:prstGeom prst="rect">
            <a:avLst/>
          </a:prstGeom>
          <a:noFill/>
          <a:ln/>
        </p:spPr>
        <p:txBody>
          <a:bodyPr wrap="square" lIns="0" tIns="0" rIns="0" bIns="0" rtlCol="0" anchor="t"/>
          <a:lstStyle/>
          <a:p>
            <a:pPr indent="0" marL="0">
              <a:lnSpc>
                <a:spcPts val="1400"/>
              </a:lnSpc>
              <a:buNone/>
            </a:pPr>
            <a:r>
              <a:rPr lang="en-US" sz="1100" dirty="0">
                <a:solidFill>
                  <a:srgbClr val="2C5566"/>
                </a:solidFill>
                <a:latin typeface="Calibri" pitchFamily="34" charset="0"/>
                <a:ea typeface="Calibri" pitchFamily="34" charset="-122"/>
                <a:cs typeface="Calibri" pitchFamily="34" charset="-120"/>
              </a:rPr>
              <a:t>S$300,000 is the general VentureForGood track. The youth track is a different, much smaller figure.</a:t>
            </a:r>
            <a:endParaRPr lang="en-US" sz="1100" dirty="0"/>
          </a:p>
        </p:txBody>
      </p:sp>
      <p:sp>
        <p:nvSpPr>
          <p:cNvPr id="14" name="Text 12"/>
          <p:cNvSpPr txBox="1"/>
          <p:nvPr/>
        </p:nvSpPr>
        <p:spPr>
          <a:xfrm>
            <a:off x="804672" y="4480560"/>
            <a:ext cx="3054096" cy="201168"/>
          </a:xfrm>
          <a:prstGeom prst="rect">
            <a:avLst/>
          </a:prstGeom>
          <a:noFill/>
          <a:ln/>
        </p:spPr>
        <p:txBody>
          <a:bodyPr wrap="square" lIns="0" tIns="0" rIns="0" bIns="0" rtlCol="0" anchor="ctr"/>
          <a:lstStyle/>
          <a:p>
            <a:pPr indent="0" marL="0">
              <a:buNone/>
            </a:pPr>
            <a:r>
              <a:rPr lang="en-US" sz="900" b="1" spc="100" kern="0" dirty="0">
                <a:solidFill>
                  <a:srgbClr val="1C7293"/>
                </a:solidFill>
                <a:latin typeface="Calibri" pitchFamily="34" charset="0"/>
                <a:ea typeface="Calibri" pitchFamily="34" charset="-122"/>
                <a:cs typeface="Calibri" pitchFamily="34" charset="-120"/>
              </a:rPr>
              <a:t>What changed</a:t>
            </a:r>
            <a:endParaRPr lang="en-US" sz="900" dirty="0"/>
          </a:p>
        </p:txBody>
      </p:sp>
      <p:sp>
        <p:nvSpPr>
          <p:cNvPr id="15" name="Text 13"/>
          <p:cNvSpPr txBox="1"/>
          <p:nvPr/>
        </p:nvSpPr>
        <p:spPr>
          <a:xfrm>
            <a:off x="804672" y="4681728"/>
            <a:ext cx="3054096" cy="694944"/>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The number is absent from this deck rather than guessed. Putting it beside the word “Youth” would have been a factual error on a slide.</a:t>
            </a:r>
            <a:endParaRPr lang="en-US" sz="1050" dirty="0"/>
          </a:p>
        </p:txBody>
      </p:sp>
      <p:sp>
        <p:nvSpPr>
          <p:cNvPr id="16" name="Shape 14"/>
          <p:cNvSpPr/>
          <p:nvPr/>
        </p:nvSpPr>
        <p:spPr>
          <a:xfrm>
            <a:off x="4334256" y="1920240"/>
            <a:ext cx="3529584" cy="3529584"/>
          </a:xfrm>
          <a:prstGeom prst="roundRect">
            <a:avLst>
              <a:gd name="adj" fmla="val 1813"/>
            </a:avLst>
          </a:prstGeom>
          <a:solidFill>
            <a:srgbClr val="EDF2F3"/>
          </a:solidFill>
          <a:ln w="9525">
            <a:solidFill>
              <a:srgbClr val="D5DFE2"/>
            </a:solidFill>
            <a:prstDash val="solid"/>
          </a:ln>
        </p:spPr>
      </p:sp>
      <p:sp>
        <p:nvSpPr>
          <p:cNvPr id="17" name="Shape 15"/>
          <p:cNvSpPr/>
          <p:nvPr/>
        </p:nvSpPr>
        <p:spPr>
          <a:xfrm>
            <a:off x="4572000" y="2121408"/>
            <a:ext cx="1225296" cy="256032"/>
          </a:xfrm>
          <a:prstGeom prst="roundRect">
            <a:avLst>
              <a:gd name="adj" fmla="val 50000"/>
            </a:avLst>
          </a:prstGeom>
          <a:solidFill>
            <a:srgbClr val="8A5A5A"/>
          </a:solidFill>
          <a:ln w="12700">
            <a:solidFill>
              <a:srgbClr val="8A5A5A"/>
            </a:solidFill>
            <a:prstDash val="solid"/>
          </a:ln>
        </p:spPr>
      </p:sp>
      <p:sp>
        <p:nvSpPr>
          <p:cNvPr id="18" name="Text 16"/>
          <p:cNvSpPr txBox="1"/>
          <p:nvPr/>
        </p:nvSpPr>
        <p:spPr>
          <a:xfrm>
            <a:off x="4572000" y="2121408"/>
            <a:ext cx="12252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We believed</a:t>
            </a:r>
            <a:endParaRPr lang="en-US" sz="950" dirty="0"/>
          </a:p>
        </p:txBody>
      </p:sp>
      <p:sp>
        <p:nvSpPr>
          <p:cNvPr id="19" name="Text 17"/>
          <p:cNvSpPr txBox="1"/>
          <p:nvPr/>
        </p:nvSpPr>
        <p:spPr>
          <a:xfrm>
            <a:off x="4572000" y="2487168"/>
            <a:ext cx="3054096" cy="658368"/>
          </a:xfrm>
          <a:prstGeom prst="rect">
            <a:avLst/>
          </a:prstGeom>
          <a:noFill/>
          <a:ln/>
        </p:spPr>
        <p:txBody>
          <a:bodyPr wrap="square" lIns="0" tIns="0" rIns="0" bIns="0" rtlCol="0" anchor="t"/>
          <a:lstStyle/>
          <a:p>
            <a:pPr indent="0" marL="0">
              <a:lnSpc>
                <a:spcPts val="1500"/>
              </a:lnSpc>
              <a:buNone/>
            </a:pPr>
            <a:r>
              <a:rPr lang="en-US" sz="1150" dirty="0">
                <a:solidFill>
                  <a:srgbClr val="123A47"/>
                </a:solidFill>
                <a:latin typeface="Calibri" pitchFamily="34" charset="0"/>
                <a:ea typeface="Calibri" pitchFamily="34" charset="-122"/>
                <a:cs typeface="Calibri" pitchFamily="34" charset="-120"/>
              </a:rPr>
              <a:t>raiSE expects an SSO partnership for unincorporated applicants</a:t>
            </a:r>
            <a:endParaRPr lang="en-US" sz="1150" dirty="0"/>
          </a:p>
        </p:txBody>
      </p:sp>
      <p:sp>
        <p:nvSpPr>
          <p:cNvPr id="20" name="Shape 18"/>
          <p:cNvSpPr/>
          <p:nvPr/>
        </p:nvSpPr>
        <p:spPr>
          <a:xfrm>
            <a:off x="4572000" y="3200400"/>
            <a:ext cx="1225296" cy="256032"/>
          </a:xfrm>
          <a:prstGeom prst="roundRect">
            <a:avLst>
              <a:gd name="adj" fmla="val 50000"/>
            </a:avLst>
          </a:prstGeom>
          <a:solidFill>
            <a:srgbClr val="2E7D5B"/>
          </a:solidFill>
          <a:ln w="12700">
            <a:solidFill>
              <a:srgbClr val="2E7D5B"/>
            </a:solidFill>
            <a:prstDash val="solid"/>
          </a:ln>
        </p:spPr>
      </p:sp>
      <p:sp>
        <p:nvSpPr>
          <p:cNvPr id="21" name="Text 19"/>
          <p:cNvSpPr txBox="1"/>
          <p:nvPr/>
        </p:nvSpPr>
        <p:spPr>
          <a:xfrm>
            <a:off x="4572000" y="3200400"/>
            <a:ext cx="12252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Actually</a:t>
            </a:r>
            <a:endParaRPr lang="en-US" sz="950" dirty="0"/>
          </a:p>
        </p:txBody>
      </p:sp>
      <p:sp>
        <p:nvSpPr>
          <p:cNvPr id="22" name="Text 20"/>
          <p:cNvSpPr txBox="1"/>
          <p:nvPr/>
        </p:nvSpPr>
        <p:spPr>
          <a:xfrm>
            <a:off x="4572000" y="3566160"/>
            <a:ext cx="3054096" cy="859536"/>
          </a:xfrm>
          <a:prstGeom prst="rect">
            <a:avLst/>
          </a:prstGeom>
          <a:noFill/>
          <a:ln/>
        </p:spPr>
        <p:txBody>
          <a:bodyPr wrap="square" lIns="0" tIns="0" rIns="0" bIns="0" rtlCol="0" anchor="t"/>
          <a:lstStyle/>
          <a:p>
            <a:pPr indent="0" marL="0">
              <a:lnSpc>
                <a:spcPts val="1400"/>
              </a:lnSpc>
              <a:buNone/>
            </a:pPr>
            <a:r>
              <a:rPr lang="en-US" sz="1100" dirty="0">
                <a:solidFill>
                  <a:srgbClr val="2C5566"/>
                </a:solidFill>
                <a:latin typeface="Calibri" pitchFamily="34" charset="0"/>
                <a:ea typeface="Calibri" pitchFamily="34" charset="-122"/>
                <a:cs typeface="Calibri" pitchFamily="34" charset="-120"/>
              </a:rPr>
              <a:t>raiSE says VWO — Voluntary Welfare Organisation. A Social Service Office is a different kind of body entirely.</a:t>
            </a:r>
            <a:endParaRPr lang="en-US" sz="1100" dirty="0"/>
          </a:p>
        </p:txBody>
      </p:sp>
      <p:sp>
        <p:nvSpPr>
          <p:cNvPr id="23" name="Text 21"/>
          <p:cNvSpPr txBox="1"/>
          <p:nvPr/>
        </p:nvSpPr>
        <p:spPr>
          <a:xfrm>
            <a:off x="4572000" y="4480560"/>
            <a:ext cx="3054096" cy="201168"/>
          </a:xfrm>
          <a:prstGeom prst="rect">
            <a:avLst/>
          </a:prstGeom>
          <a:noFill/>
          <a:ln/>
        </p:spPr>
        <p:txBody>
          <a:bodyPr wrap="square" lIns="0" tIns="0" rIns="0" bIns="0" rtlCol="0" anchor="ctr"/>
          <a:lstStyle/>
          <a:p>
            <a:pPr indent="0" marL="0">
              <a:buNone/>
            </a:pPr>
            <a:r>
              <a:rPr lang="en-US" sz="900" b="1" spc="100" kern="0" dirty="0">
                <a:solidFill>
                  <a:srgbClr val="1C7293"/>
                </a:solidFill>
                <a:latin typeface="Calibri" pitchFamily="34" charset="0"/>
                <a:ea typeface="Calibri" pitchFamily="34" charset="-122"/>
                <a:cs typeface="Calibri" pitchFamily="34" charset="-120"/>
              </a:rPr>
              <a:t>What changed</a:t>
            </a:r>
            <a:endParaRPr lang="en-US" sz="900" dirty="0"/>
          </a:p>
        </p:txBody>
      </p:sp>
      <p:sp>
        <p:nvSpPr>
          <p:cNvPr id="24" name="Text 22"/>
          <p:cNvSpPr txBox="1"/>
          <p:nvPr/>
        </p:nvSpPr>
        <p:spPr>
          <a:xfrm>
            <a:off x="4572000" y="4681728"/>
            <a:ext cx="3054096" cy="694944"/>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The product now shows the funder’s own term everywhere a founder reads it, so she recognises the wording on the real form.</a:t>
            </a:r>
            <a:endParaRPr lang="en-US" sz="1050" dirty="0"/>
          </a:p>
        </p:txBody>
      </p:sp>
      <p:sp>
        <p:nvSpPr>
          <p:cNvPr id="25" name="Shape 23"/>
          <p:cNvSpPr/>
          <p:nvPr/>
        </p:nvSpPr>
        <p:spPr>
          <a:xfrm>
            <a:off x="8101584" y="1920240"/>
            <a:ext cx="3529584" cy="3529584"/>
          </a:xfrm>
          <a:prstGeom prst="roundRect">
            <a:avLst>
              <a:gd name="adj" fmla="val 1813"/>
            </a:avLst>
          </a:prstGeom>
          <a:solidFill>
            <a:srgbClr val="EDF2F3"/>
          </a:solidFill>
          <a:ln w="9525">
            <a:solidFill>
              <a:srgbClr val="D5DFE2"/>
            </a:solidFill>
            <a:prstDash val="solid"/>
          </a:ln>
        </p:spPr>
      </p:sp>
      <p:sp>
        <p:nvSpPr>
          <p:cNvPr id="26" name="Shape 24"/>
          <p:cNvSpPr/>
          <p:nvPr/>
        </p:nvSpPr>
        <p:spPr>
          <a:xfrm>
            <a:off x="8339328" y="2121408"/>
            <a:ext cx="1225296" cy="256032"/>
          </a:xfrm>
          <a:prstGeom prst="roundRect">
            <a:avLst>
              <a:gd name="adj" fmla="val 50000"/>
            </a:avLst>
          </a:prstGeom>
          <a:solidFill>
            <a:srgbClr val="8A5A5A"/>
          </a:solidFill>
          <a:ln w="12700">
            <a:solidFill>
              <a:srgbClr val="8A5A5A"/>
            </a:solidFill>
            <a:prstDash val="solid"/>
          </a:ln>
        </p:spPr>
      </p:sp>
      <p:sp>
        <p:nvSpPr>
          <p:cNvPr id="27" name="Text 25"/>
          <p:cNvSpPr txBox="1"/>
          <p:nvPr/>
        </p:nvSpPr>
        <p:spPr>
          <a:xfrm>
            <a:off x="8339328" y="2121408"/>
            <a:ext cx="12252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We believed</a:t>
            </a:r>
            <a:endParaRPr lang="en-US" sz="950" dirty="0"/>
          </a:p>
        </p:txBody>
      </p:sp>
      <p:sp>
        <p:nvSpPr>
          <p:cNvPr id="28" name="Text 26"/>
          <p:cNvSpPr txBox="1"/>
          <p:nvPr/>
        </p:nvSpPr>
        <p:spPr>
          <a:xfrm>
            <a:off x="8339328" y="2487168"/>
            <a:ext cx="3054096" cy="658368"/>
          </a:xfrm>
          <a:prstGeom prst="rect">
            <a:avLst/>
          </a:prstGeom>
          <a:noFill/>
          <a:ln/>
        </p:spPr>
        <p:txBody>
          <a:bodyPr wrap="square" lIns="0" tIns="0" rIns="0" bIns="0" rtlCol="0" anchor="t"/>
          <a:lstStyle/>
          <a:p>
            <a:pPr indent="0" marL="0">
              <a:lnSpc>
                <a:spcPts val="1500"/>
              </a:lnSpc>
              <a:buNone/>
            </a:pPr>
            <a:r>
              <a:rPr lang="en-US" sz="1150" dirty="0">
                <a:solidFill>
                  <a:srgbClr val="123A47"/>
                </a:solidFill>
                <a:latin typeface="Calibri" pitchFamily="34" charset="0"/>
                <a:ea typeface="Calibri" pitchFamily="34" charset="-122"/>
                <a:cs typeface="Calibri" pitchFamily="34" charset="-120"/>
              </a:rPr>
              <a:t>A blocking criterion with no fix means “permanently disqualified”</a:t>
            </a:r>
            <a:endParaRPr lang="en-US" sz="1150" dirty="0"/>
          </a:p>
        </p:txBody>
      </p:sp>
      <p:sp>
        <p:nvSpPr>
          <p:cNvPr id="29" name="Shape 27"/>
          <p:cNvSpPr/>
          <p:nvPr/>
        </p:nvSpPr>
        <p:spPr>
          <a:xfrm>
            <a:off x="8339328" y="3200400"/>
            <a:ext cx="1225296" cy="256032"/>
          </a:xfrm>
          <a:prstGeom prst="roundRect">
            <a:avLst>
              <a:gd name="adj" fmla="val 50000"/>
            </a:avLst>
          </a:prstGeom>
          <a:solidFill>
            <a:srgbClr val="2E7D5B"/>
          </a:solidFill>
          <a:ln w="12700">
            <a:solidFill>
              <a:srgbClr val="2E7D5B"/>
            </a:solidFill>
            <a:prstDash val="solid"/>
          </a:ln>
        </p:spPr>
      </p:sp>
      <p:sp>
        <p:nvSpPr>
          <p:cNvPr id="30" name="Text 28"/>
          <p:cNvSpPr txBox="1"/>
          <p:nvPr/>
        </p:nvSpPr>
        <p:spPr>
          <a:xfrm>
            <a:off x="8339328" y="3200400"/>
            <a:ext cx="12252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Actually</a:t>
            </a:r>
            <a:endParaRPr lang="en-US" sz="950" dirty="0"/>
          </a:p>
        </p:txBody>
      </p:sp>
      <p:sp>
        <p:nvSpPr>
          <p:cNvPr id="31" name="Text 29"/>
          <p:cNvSpPr txBox="1"/>
          <p:nvPr/>
        </p:nvSpPr>
        <p:spPr>
          <a:xfrm>
            <a:off x="8339328" y="3566160"/>
            <a:ext cx="3054096" cy="859536"/>
          </a:xfrm>
          <a:prstGeom prst="rect">
            <a:avLst/>
          </a:prstGeom>
          <a:noFill/>
          <a:ln/>
        </p:spPr>
        <p:txBody>
          <a:bodyPr wrap="square" lIns="0" tIns="0" rIns="0" bIns="0" rtlCol="0" anchor="t"/>
          <a:lstStyle/>
          <a:p>
            <a:pPr indent="0" marL="0">
              <a:lnSpc>
                <a:spcPts val="1400"/>
              </a:lnSpc>
              <a:buNone/>
            </a:pPr>
            <a:r>
              <a:rPr lang="en-US" sz="1100" dirty="0">
                <a:solidFill>
                  <a:srgbClr val="2C5566"/>
                </a:solidFill>
                <a:latin typeface="Calibri" pitchFamily="34" charset="0"/>
                <a:ea typeface="Calibri" pitchFamily="34" charset="-122"/>
                <a:cs typeface="Calibri" pitchFamily="34" charset="-120"/>
              </a:rPr>
              <a:t>Then forgetting to write the fix looks identical to deciding someone is beyond help.</a:t>
            </a:r>
            <a:endParaRPr lang="en-US" sz="1100" dirty="0"/>
          </a:p>
        </p:txBody>
      </p:sp>
      <p:sp>
        <p:nvSpPr>
          <p:cNvPr id="32" name="Text 30"/>
          <p:cNvSpPr txBox="1"/>
          <p:nvPr/>
        </p:nvSpPr>
        <p:spPr>
          <a:xfrm>
            <a:off x="8339328" y="4480560"/>
            <a:ext cx="3054096" cy="201168"/>
          </a:xfrm>
          <a:prstGeom prst="rect">
            <a:avLst/>
          </a:prstGeom>
          <a:noFill/>
          <a:ln/>
        </p:spPr>
        <p:txBody>
          <a:bodyPr wrap="square" lIns="0" tIns="0" rIns="0" bIns="0" rtlCol="0" anchor="ctr"/>
          <a:lstStyle/>
          <a:p>
            <a:pPr indent="0" marL="0">
              <a:buNone/>
            </a:pPr>
            <a:r>
              <a:rPr lang="en-US" sz="900" b="1" spc="100" kern="0" dirty="0">
                <a:solidFill>
                  <a:srgbClr val="1C7293"/>
                </a:solidFill>
                <a:latin typeface="Calibri" pitchFamily="34" charset="0"/>
                <a:ea typeface="Calibri" pitchFamily="34" charset="-122"/>
                <a:cs typeface="Calibri" pitchFamily="34" charset="-120"/>
              </a:rPr>
              <a:t>What changed</a:t>
            </a:r>
            <a:endParaRPr lang="en-US" sz="900" dirty="0"/>
          </a:p>
        </p:txBody>
      </p:sp>
      <p:sp>
        <p:nvSpPr>
          <p:cNvPr id="33" name="Text 31"/>
          <p:cNvSpPr txBox="1"/>
          <p:nvPr/>
        </p:nvSpPr>
        <p:spPr>
          <a:xfrm>
            <a:off x="8339328" y="4681728"/>
            <a:ext cx="3054096" cy="694944"/>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Rules must now declare a remedy or state a terminal reason explicitly. The build fails if a criterion does neither.</a:t>
            </a:r>
            <a:endParaRPr lang="en-US" sz="1050" dirty="0"/>
          </a:p>
        </p:txBody>
      </p:sp>
      <p:sp>
        <p:nvSpPr>
          <p:cNvPr id="34" name="Text 32"/>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We treat “we found no evidence of X” and “X does not exist” as different statements, and only ever claim the first.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IMPACT AND SCALE</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Impact</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Built for the hardest case, on purpose.</a:t>
            </a:r>
            <a:endParaRPr lang="en-US" sz="2700" dirty="0"/>
          </a:p>
        </p:txBody>
      </p:sp>
      <p:sp>
        <p:nvSpPr>
          <p:cNvPr id="6" name="Shape 4"/>
          <p:cNvSpPr/>
          <p:nvPr/>
        </p:nvSpPr>
        <p:spPr>
          <a:xfrm>
            <a:off x="566928" y="1408176"/>
            <a:ext cx="768096" cy="256032"/>
          </a:xfrm>
          <a:prstGeom prst="roundRect">
            <a:avLst>
              <a:gd name="adj" fmla="val 50000"/>
            </a:avLst>
          </a:prstGeom>
          <a:solidFill>
            <a:srgbClr val="1C7293"/>
          </a:solidFill>
          <a:ln w="12700">
            <a:solidFill>
              <a:srgbClr val="1C7293"/>
            </a:solidFill>
            <a:prstDash val="solid"/>
          </a:ln>
        </p:spPr>
      </p:sp>
      <p:sp>
        <p:nvSpPr>
          <p:cNvPr id="7" name="Text 5"/>
          <p:cNvSpPr txBox="1"/>
          <p:nvPr/>
        </p:nvSpPr>
        <p:spPr>
          <a:xfrm>
            <a:off x="566928" y="1408176"/>
            <a:ext cx="7680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Now</a:t>
            </a:r>
            <a:endParaRPr lang="en-US" sz="950" dirty="0"/>
          </a:p>
        </p:txBody>
      </p:sp>
      <p:sp>
        <p:nvSpPr>
          <p:cNvPr id="8" name="Text 6"/>
          <p:cNvSpPr txBox="1"/>
          <p:nvPr/>
        </p:nvSpPr>
        <p:spPr>
          <a:xfrm>
            <a:off x="1517904" y="1280160"/>
            <a:ext cx="5852160" cy="512064"/>
          </a:xfrm>
          <a:prstGeom prst="rect">
            <a:avLst/>
          </a:prstGeom>
          <a:noFill/>
          <a:ln/>
        </p:spPr>
        <p:txBody>
          <a:bodyPr wrap="square" lIns="0" tIns="0" rIns="0" bIns="0" rtlCol="0" anchor="ctr"/>
          <a:lstStyle/>
          <a:p>
            <a:pPr indent="0" marL="0">
              <a:lnSpc>
                <a:spcPts val="1600"/>
              </a:lnSpc>
              <a:buNone/>
            </a:pPr>
            <a:r>
              <a:rPr lang="en-US" sz="1250" b="1" dirty="0">
                <a:solidFill>
                  <a:srgbClr val="123A47"/>
                </a:solidFill>
                <a:latin typeface="Calibri" pitchFamily="34" charset="0"/>
                <a:ea typeface="Calibri" pitchFamily="34" charset="-122"/>
                <a:cs typeface="Calibri" pitchFamily="34" charset="-120"/>
              </a:rPr>
              <a:t>Singapore youth aged 18–35, with a disability, pre-incorporation, applying for the first time.</a:t>
            </a:r>
            <a:endParaRPr lang="en-US" sz="1250" dirty="0"/>
          </a:p>
        </p:txBody>
      </p:sp>
      <p:sp>
        <p:nvSpPr>
          <p:cNvPr id="9" name="Text 7"/>
          <p:cNvSpPr txBox="1"/>
          <p:nvPr/>
        </p:nvSpPr>
        <p:spPr>
          <a:xfrm>
            <a:off x="1517904" y="1792224"/>
            <a:ext cx="5852160" cy="420624"/>
          </a:xfrm>
          <a:prstGeom prst="rect">
            <a:avLst/>
          </a:prstGeom>
          <a:noFill/>
          <a:ln/>
        </p:spPr>
        <p:txBody>
          <a:bodyPr wrap="square" lIns="0" tIns="0" rIns="0" bIns="0" rtlCol="0" anchor="t"/>
          <a:lstStyle/>
          <a:p>
            <a:pPr indent="0" marL="0">
              <a:lnSpc>
                <a:spcPts val="1400"/>
              </a:lnSpc>
              <a:buNone/>
            </a:pPr>
            <a:r>
              <a:rPr lang="en-US" sz="1100" dirty="0">
                <a:solidFill>
                  <a:srgbClr val="6B7C83"/>
                </a:solidFill>
                <a:latin typeface="Calibri" pitchFamily="34" charset="0"/>
                <a:ea typeface="Calibri" pitchFamily="34" charset="-122"/>
                <a:cs typeface="Calibri" pitchFamily="34" charset="-120"/>
              </a:rPr>
              <a:t>The wedge. Accessibility is the design constraint that produces the differentiator.</a:t>
            </a:r>
            <a:endParaRPr lang="en-US" sz="1100" dirty="0"/>
          </a:p>
        </p:txBody>
      </p:sp>
      <p:sp>
        <p:nvSpPr>
          <p:cNvPr id="10" name="Shape 8"/>
          <p:cNvSpPr/>
          <p:nvPr/>
        </p:nvSpPr>
        <p:spPr>
          <a:xfrm>
            <a:off x="566928" y="2468880"/>
            <a:ext cx="768096" cy="256032"/>
          </a:xfrm>
          <a:prstGeom prst="roundRect">
            <a:avLst>
              <a:gd name="adj" fmla="val 50000"/>
            </a:avLst>
          </a:prstGeom>
          <a:solidFill>
            <a:srgbClr val="C77D22"/>
          </a:solidFill>
          <a:ln w="12700">
            <a:solidFill>
              <a:srgbClr val="C77D22"/>
            </a:solidFill>
            <a:prstDash val="solid"/>
          </a:ln>
        </p:spPr>
      </p:sp>
      <p:sp>
        <p:nvSpPr>
          <p:cNvPr id="11" name="Text 9"/>
          <p:cNvSpPr txBox="1"/>
          <p:nvPr/>
        </p:nvSpPr>
        <p:spPr>
          <a:xfrm>
            <a:off x="566928" y="2468880"/>
            <a:ext cx="7680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Next</a:t>
            </a:r>
            <a:endParaRPr lang="en-US" sz="950" dirty="0"/>
          </a:p>
        </p:txBody>
      </p:sp>
      <p:sp>
        <p:nvSpPr>
          <p:cNvPr id="12" name="Text 10"/>
          <p:cNvSpPr txBox="1"/>
          <p:nvPr/>
        </p:nvSpPr>
        <p:spPr>
          <a:xfrm>
            <a:off x="1517904" y="2340864"/>
            <a:ext cx="5852160" cy="512064"/>
          </a:xfrm>
          <a:prstGeom prst="rect">
            <a:avLst/>
          </a:prstGeom>
          <a:noFill/>
          <a:ln/>
        </p:spPr>
        <p:txBody>
          <a:bodyPr wrap="square" lIns="0" tIns="0" rIns="0" bIns="0" rtlCol="0" anchor="ctr"/>
          <a:lstStyle/>
          <a:p>
            <a:pPr indent="0" marL="0">
              <a:lnSpc>
                <a:spcPts val="1600"/>
              </a:lnSpc>
              <a:buNone/>
            </a:pPr>
            <a:r>
              <a:rPr lang="en-US" sz="1250" b="1" dirty="0">
                <a:solidFill>
                  <a:srgbClr val="123A47"/>
                </a:solidFill>
                <a:latin typeface="Calibri" pitchFamily="34" charset="0"/>
                <a:ea typeface="Calibri" pitchFamily="34" charset="-122"/>
                <a:cs typeface="Calibri" pitchFamily="34" charset="-120"/>
              </a:rPr>
              <a:t>Low-income youth in informal micro-business — home-based food, gig work, tuition.</a:t>
            </a:r>
            <a:endParaRPr lang="en-US" sz="1250" dirty="0"/>
          </a:p>
        </p:txBody>
      </p:sp>
      <p:sp>
        <p:nvSpPr>
          <p:cNvPr id="13" name="Text 11"/>
          <p:cNvSpPr txBox="1"/>
          <p:nvPr/>
        </p:nvSpPr>
        <p:spPr>
          <a:xfrm>
            <a:off x="1517904" y="2852928"/>
            <a:ext cx="5852160" cy="420624"/>
          </a:xfrm>
          <a:prstGeom prst="rect">
            <a:avLst/>
          </a:prstGeom>
          <a:noFill/>
          <a:ln/>
        </p:spPr>
        <p:txBody>
          <a:bodyPr wrap="square" lIns="0" tIns="0" rIns="0" bIns="0" rtlCol="0" anchor="t"/>
          <a:lstStyle/>
          <a:p>
            <a:pPr indent="0" marL="0">
              <a:lnSpc>
                <a:spcPts val="1400"/>
              </a:lnSpc>
              <a:buNone/>
            </a:pPr>
            <a:r>
              <a:rPr lang="en-US" sz="1100" dirty="0">
                <a:solidFill>
                  <a:srgbClr val="6B7C83"/>
                </a:solidFill>
                <a:latin typeface="Calibri" pitchFamily="34" charset="0"/>
                <a:ea typeface="Calibri" pitchFamily="34" charset="-122"/>
                <a:cs typeface="Calibri" pitchFamily="34" charset="-120"/>
              </a:rPr>
              <a:t>Same cold start, same forms, no new product surface needed.</a:t>
            </a:r>
            <a:endParaRPr lang="en-US" sz="1100" dirty="0"/>
          </a:p>
        </p:txBody>
      </p:sp>
      <p:sp>
        <p:nvSpPr>
          <p:cNvPr id="14" name="Shape 12"/>
          <p:cNvSpPr/>
          <p:nvPr/>
        </p:nvSpPr>
        <p:spPr>
          <a:xfrm>
            <a:off x="566928" y="3529584"/>
            <a:ext cx="768096" cy="256032"/>
          </a:xfrm>
          <a:prstGeom prst="roundRect">
            <a:avLst>
              <a:gd name="adj" fmla="val 50000"/>
            </a:avLst>
          </a:prstGeom>
          <a:solidFill>
            <a:srgbClr val="2E7D5B"/>
          </a:solidFill>
          <a:ln w="12700">
            <a:solidFill>
              <a:srgbClr val="2E7D5B"/>
            </a:solidFill>
            <a:prstDash val="solid"/>
          </a:ln>
        </p:spPr>
      </p:sp>
      <p:sp>
        <p:nvSpPr>
          <p:cNvPr id="15" name="Text 13"/>
          <p:cNvSpPr txBox="1"/>
          <p:nvPr/>
        </p:nvSpPr>
        <p:spPr>
          <a:xfrm>
            <a:off x="566928" y="3529584"/>
            <a:ext cx="7680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Then</a:t>
            </a:r>
            <a:endParaRPr lang="en-US" sz="950" dirty="0"/>
          </a:p>
        </p:txBody>
      </p:sp>
      <p:sp>
        <p:nvSpPr>
          <p:cNvPr id="16" name="Text 14"/>
          <p:cNvSpPr txBox="1"/>
          <p:nvPr/>
        </p:nvSpPr>
        <p:spPr>
          <a:xfrm>
            <a:off x="1517904" y="3401568"/>
            <a:ext cx="5852160" cy="512064"/>
          </a:xfrm>
          <a:prstGeom prst="rect">
            <a:avLst/>
          </a:prstGeom>
          <a:noFill/>
          <a:ln/>
        </p:spPr>
        <p:txBody>
          <a:bodyPr wrap="square" lIns="0" tIns="0" rIns="0" bIns="0" rtlCol="0" anchor="ctr"/>
          <a:lstStyle/>
          <a:p>
            <a:pPr indent="0" marL="0">
              <a:lnSpc>
                <a:spcPts val="1600"/>
              </a:lnSpc>
              <a:buNone/>
            </a:pPr>
            <a:r>
              <a:rPr lang="en-US" sz="1250" b="1" dirty="0">
                <a:solidFill>
                  <a:srgbClr val="123A47"/>
                </a:solidFill>
                <a:latin typeface="Calibri" pitchFamily="34" charset="0"/>
                <a:ea typeface="Calibri" pitchFamily="34" charset="-122"/>
                <a:cs typeface="Calibri" pitchFamily="34" charset="-120"/>
              </a:rPr>
              <a:t>Underserved youth across ASEAN, the challenge statement’s “developing countries” clause.</a:t>
            </a:r>
            <a:endParaRPr lang="en-US" sz="1250" dirty="0"/>
          </a:p>
        </p:txBody>
      </p:sp>
      <p:sp>
        <p:nvSpPr>
          <p:cNvPr id="17" name="Text 15"/>
          <p:cNvSpPr txBox="1"/>
          <p:nvPr/>
        </p:nvSpPr>
        <p:spPr>
          <a:xfrm>
            <a:off x="1517904" y="3913632"/>
            <a:ext cx="5852160" cy="420624"/>
          </a:xfrm>
          <a:prstGeom prst="rect">
            <a:avLst/>
          </a:prstGeom>
          <a:noFill/>
          <a:ln/>
        </p:spPr>
        <p:txBody>
          <a:bodyPr wrap="square" lIns="0" tIns="0" rIns="0" bIns="0" rtlCol="0" anchor="t"/>
          <a:lstStyle/>
          <a:p>
            <a:pPr indent="0" marL="0">
              <a:lnSpc>
                <a:spcPts val="1400"/>
              </a:lnSpc>
              <a:buNone/>
            </a:pPr>
            <a:r>
              <a:rPr lang="en-US" sz="1100" dirty="0">
                <a:solidFill>
                  <a:srgbClr val="6B7C83"/>
                </a:solidFill>
                <a:latin typeface="Calibri" pitchFamily="34" charset="0"/>
                <a:ea typeface="Calibri" pitchFamily="34" charset="-122"/>
                <a:cs typeface="Calibri" pitchFamily="34" charset="-120"/>
              </a:rPr>
              <a:t>Rules are data, not code. A new country is a new rules file, reviewed by a local partner.</a:t>
            </a:r>
            <a:endParaRPr lang="en-US" sz="1100" dirty="0"/>
          </a:p>
        </p:txBody>
      </p:sp>
      <p:sp>
        <p:nvSpPr>
          <p:cNvPr id="18" name="Shape 16"/>
          <p:cNvSpPr/>
          <p:nvPr/>
        </p:nvSpPr>
        <p:spPr>
          <a:xfrm>
            <a:off x="7534656" y="1280160"/>
            <a:ext cx="4059936" cy="3182112"/>
          </a:xfrm>
          <a:prstGeom prst="roundRect">
            <a:avLst>
              <a:gd name="adj" fmla="val 2011"/>
            </a:avLst>
          </a:prstGeom>
          <a:solidFill>
            <a:srgbClr val="EDF2F3"/>
          </a:solidFill>
          <a:ln w="9525">
            <a:solidFill>
              <a:srgbClr val="D5DFE2"/>
            </a:solidFill>
            <a:prstDash val="solid"/>
          </a:ln>
        </p:spPr>
      </p:sp>
      <p:sp>
        <p:nvSpPr>
          <p:cNvPr id="19" name="Text 17"/>
          <p:cNvSpPr txBox="1"/>
          <p:nvPr/>
        </p:nvSpPr>
        <p:spPr>
          <a:xfrm>
            <a:off x="7790688" y="1481328"/>
            <a:ext cx="3566160" cy="603504"/>
          </a:xfrm>
          <a:prstGeom prst="rect">
            <a:avLst/>
          </a:prstGeom>
          <a:noFill/>
          <a:ln/>
        </p:spPr>
        <p:txBody>
          <a:bodyPr wrap="square" lIns="0" tIns="0" rIns="0" bIns="0" rtlCol="0" anchor="ctr"/>
          <a:lstStyle/>
          <a:p>
            <a:pPr indent="0" marL="0">
              <a:buNone/>
            </a:pPr>
            <a:r>
              <a:rPr lang="en-US" sz="3600" b="1" dirty="0">
                <a:solidFill>
                  <a:srgbClr val="123A47"/>
                </a:solidFill>
                <a:latin typeface="Cambria" pitchFamily="34" charset="0"/>
                <a:ea typeface="Cambria" pitchFamily="34" charset="-122"/>
                <a:cs typeface="Cambria" pitchFamily="34" charset="-120"/>
              </a:rPr>
              <a:t>32.7%</a:t>
            </a:r>
            <a:endParaRPr lang="en-US" sz="3600" dirty="0"/>
          </a:p>
        </p:txBody>
      </p:sp>
      <p:sp>
        <p:nvSpPr>
          <p:cNvPr id="20" name="Text 18"/>
          <p:cNvSpPr txBox="1"/>
          <p:nvPr/>
        </p:nvSpPr>
        <p:spPr>
          <a:xfrm>
            <a:off x="7790688" y="2103120"/>
            <a:ext cx="3566160" cy="786384"/>
          </a:xfrm>
          <a:prstGeom prst="rect">
            <a:avLst/>
          </a:prstGeom>
          <a:noFill/>
          <a:ln/>
        </p:spPr>
        <p:txBody>
          <a:bodyPr wrap="square" lIns="0" tIns="0" rIns="0" bIns="0" rtlCol="0" anchor="t"/>
          <a:lstStyle/>
          <a:p>
            <a:pPr indent="0" marL="0">
              <a:lnSpc>
                <a:spcPts val="1400"/>
              </a:lnSpc>
              <a:buNone/>
            </a:pPr>
            <a:r>
              <a:rPr lang="en-US" sz="1100" dirty="0">
                <a:solidFill>
                  <a:srgbClr val="6B7C83"/>
                </a:solidFill>
                <a:latin typeface="Calibri" pitchFamily="34" charset="0"/>
                <a:ea typeface="Calibri" pitchFamily="34" charset="-122"/>
                <a:cs typeface="Calibri" pitchFamily="34" charset="-120"/>
              </a:rPr>
              <a:t>employment rate for persons with disabilities in Singapore, 2022/2023. The national target is 40% by 2030.</a:t>
            </a:r>
            <a:endParaRPr lang="en-US" sz="1100" dirty="0"/>
          </a:p>
        </p:txBody>
      </p:sp>
      <p:sp>
        <p:nvSpPr>
          <p:cNvPr id="21" name="Text 19"/>
          <p:cNvSpPr txBox="1"/>
          <p:nvPr/>
        </p:nvSpPr>
        <p:spPr>
          <a:xfrm>
            <a:off x="7790688" y="2944368"/>
            <a:ext cx="3566160" cy="640080"/>
          </a:xfrm>
          <a:prstGeom prst="rect">
            <a:avLst/>
          </a:prstGeom>
          <a:noFill/>
          <a:ln/>
        </p:spPr>
        <p:txBody>
          <a:bodyPr wrap="square" lIns="0" tIns="0" rIns="0" bIns="0" rtlCol="0" anchor="ctr"/>
          <a:lstStyle/>
          <a:p>
            <a:pPr indent="0" marL="0">
              <a:lnSpc>
                <a:spcPts val="1500"/>
              </a:lnSpc>
              <a:buNone/>
            </a:pPr>
            <a:r>
              <a:rPr lang="en-US" sz="1150" b="1" dirty="0">
                <a:solidFill>
                  <a:srgbClr val="123A47"/>
                </a:solidFill>
                <a:latin typeface="Calibri" pitchFamily="34" charset="0"/>
                <a:ea typeface="Calibri" pitchFamily="34" charset="-122"/>
                <a:cs typeface="Calibri" pitchFamily="34" charset="-120"/>
              </a:rPr>
              <a:t>We found no dedicated entrepreneurship track for disabled founders here.</a:t>
            </a:r>
            <a:endParaRPr lang="en-US" sz="1150" dirty="0"/>
          </a:p>
        </p:txBody>
      </p:sp>
      <p:sp>
        <p:nvSpPr>
          <p:cNvPr id="22" name="Text 20"/>
          <p:cNvSpPr txBox="1"/>
          <p:nvPr/>
        </p:nvSpPr>
        <p:spPr>
          <a:xfrm>
            <a:off x="7790688" y="3602736"/>
            <a:ext cx="3566160" cy="731520"/>
          </a:xfrm>
          <a:prstGeom prst="rect">
            <a:avLst/>
          </a:prstGeom>
          <a:noFill/>
          <a:ln/>
        </p:spPr>
        <p:txBody>
          <a:bodyPr wrap="square" lIns="0" tIns="0" rIns="0" bIns="0" rtlCol="0" anchor="t"/>
          <a:lstStyle/>
          <a:p>
            <a:pPr indent="0" marL="0">
              <a:lnSpc>
                <a:spcPts val="1350"/>
              </a:lnSpc>
              <a:buNone/>
            </a:pPr>
            <a:r>
              <a:rPr lang="en-US" sz="1050" dirty="0">
                <a:solidFill>
                  <a:srgbClr val="6B7C83"/>
                </a:solidFill>
                <a:latin typeface="Calibri" pitchFamily="34" charset="0"/>
                <a:ea typeface="Calibri" pitchFamily="34" charset="-122"/>
                <a:cs typeface="Calibri" pitchFamily="34" charset="-120"/>
              </a:rPr>
              <a:t>Employment is being worked on. Self-employment is not. We state this as a gap we could not disprove, not a proven absence.</a:t>
            </a:r>
            <a:endParaRPr lang="en-US" sz="1050" dirty="0"/>
          </a:p>
        </p:txBody>
      </p:sp>
      <p:sp>
        <p:nvSpPr>
          <p:cNvPr id="23" name="Text 21"/>
          <p:cNvSpPr txBox="1"/>
          <p:nvPr/>
        </p:nvSpPr>
        <p:spPr>
          <a:xfrm>
            <a:off x="566928" y="4626864"/>
            <a:ext cx="5486400" cy="256032"/>
          </a:xfrm>
          <a:prstGeom prst="rect">
            <a:avLst/>
          </a:prstGeom>
          <a:noFill/>
          <a:ln/>
        </p:spPr>
        <p:txBody>
          <a:bodyPr wrap="square" lIns="0" tIns="0" rIns="0" bIns="0" rtlCol="0" anchor="ctr"/>
          <a:lstStyle/>
          <a:p>
            <a:pPr indent="0" marL="0">
              <a:buNone/>
            </a:pPr>
            <a:r>
              <a:rPr lang="en-US" sz="1100" b="1" spc="100" kern="0" dirty="0">
                <a:solidFill>
                  <a:srgbClr val="6B7C83"/>
                </a:solidFill>
                <a:latin typeface="Calibri" pitchFamily="34" charset="0"/>
                <a:ea typeface="Calibri" pitchFamily="34" charset="-122"/>
                <a:cs typeface="Calibri" pitchFamily="34" charset="-120"/>
              </a:rPr>
              <a:t>What we would measure</a:t>
            </a:r>
            <a:endParaRPr lang="en-US" sz="1100" dirty="0"/>
          </a:p>
        </p:txBody>
      </p:sp>
      <p:sp>
        <p:nvSpPr>
          <p:cNvPr id="24" name="Text 22"/>
          <p:cNvSpPr txBox="1"/>
          <p:nvPr/>
        </p:nvSpPr>
        <p:spPr>
          <a:xfrm>
            <a:off x="566928" y="4919472"/>
            <a:ext cx="3566160" cy="256032"/>
          </a:xfrm>
          <a:prstGeom prst="rect">
            <a:avLst/>
          </a:prstGeom>
          <a:noFill/>
          <a:ln/>
        </p:spPr>
        <p:txBody>
          <a:bodyPr wrap="square" lIns="0" tIns="0" rIns="0" bIns="0" rtlCol="0" anchor="ctr"/>
          <a:lstStyle/>
          <a:p>
            <a:pPr indent="0" marL="0">
              <a:buNone/>
            </a:pPr>
            <a:r>
              <a:rPr lang="en-US" sz="1150" b="1" dirty="0">
                <a:solidFill>
                  <a:srgbClr val="123A47"/>
                </a:solidFill>
                <a:latin typeface="Calibri" pitchFamily="34" charset="0"/>
                <a:ea typeface="Calibri" pitchFamily="34" charset="-122"/>
                <a:cs typeface="Calibri" pitchFamily="34" charset="-120"/>
              </a:rPr>
              <a:t>Founders who reach a decision</a:t>
            </a:r>
            <a:endParaRPr lang="en-US" sz="1150" dirty="0"/>
          </a:p>
        </p:txBody>
      </p:sp>
      <p:sp>
        <p:nvSpPr>
          <p:cNvPr id="25" name="Text 23"/>
          <p:cNvSpPr txBox="1"/>
          <p:nvPr/>
        </p:nvSpPr>
        <p:spPr>
          <a:xfrm>
            <a:off x="566928" y="5175504"/>
            <a:ext cx="3566160" cy="457200"/>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rather than abandoning mid-process</a:t>
            </a:r>
            <a:endParaRPr lang="en-US" sz="1050" dirty="0"/>
          </a:p>
        </p:txBody>
      </p:sp>
      <p:sp>
        <p:nvSpPr>
          <p:cNvPr id="26" name="Text 24"/>
          <p:cNvSpPr txBox="1"/>
          <p:nvPr/>
        </p:nvSpPr>
        <p:spPr>
          <a:xfrm>
            <a:off x="4334256" y="4919472"/>
            <a:ext cx="3566160" cy="256032"/>
          </a:xfrm>
          <a:prstGeom prst="rect">
            <a:avLst/>
          </a:prstGeom>
          <a:noFill/>
          <a:ln/>
        </p:spPr>
        <p:txBody>
          <a:bodyPr wrap="square" lIns="0" tIns="0" rIns="0" bIns="0" rtlCol="0" anchor="ctr"/>
          <a:lstStyle/>
          <a:p>
            <a:pPr indent="0" marL="0">
              <a:buNone/>
            </a:pPr>
            <a:r>
              <a:rPr lang="en-US" sz="1150" b="1" dirty="0">
                <a:solidFill>
                  <a:srgbClr val="123A47"/>
                </a:solidFill>
                <a:latin typeface="Calibri" pitchFamily="34" charset="0"/>
                <a:ea typeface="Calibri" pitchFamily="34" charset="-122"/>
                <a:cs typeface="Calibri" pitchFamily="34" charset="-120"/>
              </a:rPr>
              <a:t>Applications completed</a:t>
            </a:r>
            <a:endParaRPr lang="en-US" sz="1150" dirty="0"/>
          </a:p>
        </p:txBody>
      </p:sp>
      <p:sp>
        <p:nvSpPr>
          <p:cNvPr id="27" name="Text 25"/>
          <p:cNvSpPr txBox="1"/>
          <p:nvPr/>
        </p:nvSpPr>
        <p:spPr>
          <a:xfrm>
            <a:off x="4334256" y="5175504"/>
            <a:ext cx="3566160" cy="457200"/>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per founder, and per advisory hour spent</a:t>
            </a:r>
            <a:endParaRPr lang="en-US" sz="1050" dirty="0"/>
          </a:p>
        </p:txBody>
      </p:sp>
      <p:sp>
        <p:nvSpPr>
          <p:cNvPr id="28" name="Text 26"/>
          <p:cNvSpPr txBox="1"/>
          <p:nvPr/>
        </p:nvSpPr>
        <p:spPr>
          <a:xfrm>
            <a:off x="8101584" y="4919472"/>
            <a:ext cx="3566160" cy="256032"/>
          </a:xfrm>
          <a:prstGeom prst="rect">
            <a:avLst/>
          </a:prstGeom>
          <a:noFill/>
          <a:ln/>
        </p:spPr>
        <p:txBody>
          <a:bodyPr wrap="square" lIns="0" tIns="0" rIns="0" bIns="0" rtlCol="0" anchor="ctr"/>
          <a:lstStyle/>
          <a:p>
            <a:pPr indent="0" marL="0">
              <a:buNone/>
            </a:pPr>
            <a:r>
              <a:rPr lang="en-US" sz="1150" b="1" dirty="0">
                <a:solidFill>
                  <a:srgbClr val="123A47"/>
                </a:solidFill>
                <a:latin typeface="Calibri" pitchFamily="34" charset="0"/>
                <a:ea typeface="Calibri" pitchFamily="34" charset="-122"/>
                <a:cs typeface="Calibri" pitchFamily="34" charset="-120"/>
              </a:rPr>
              <a:t>Time to first “no”</a:t>
            </a:r>
            <a:endParaRPr lang="en-US" sz="1150" dirty="0"/>
          </a:p>
        </p:txBody>
      </p:sp>
      <p:sp>
        <p:nvSpPr>
          <p:cNvPr id="29" name="Text 27"/>
          <p:cNvSpPr txBox="1"/>
          <p:nvPr/>
        </p:nvSpPr>
        <p:spPr>
          <a:xfrm>
            <a:off x="8101584" y="5175504"/>
            <a:ext cx="3566160" cy="457200"/>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the earlier a bad fit surfaces, the more it is worth</a:t>
            </a:r>
            <a:endParaRPr lang="en-US" sz="1050" dirty="0"/>
          </a:p>
        </p:txBody>
      </p:sp>
      <p:sp>
        <p:nvSpPr>
          <p:cNvPr id="30" name="Text 28"/>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Disability employment figures: Ministry of Social and Family Development.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BUSINESS MODEL</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Viability</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Free for founders. The intermediary pays.</a:t>
            </a:r>
            <a:endParaRPr lang="en-US" sz="2700" dirty="0"/>
          </a:p>
        </p:txBody>
      </p:sp>
      <p:sp>
        <p:nvSpPr>
          <p:cNvPr id="6" name="Shape 4"/>
          <p:cNvSpPr/>
          <p:nvPr/>
        </p:nvSpPr>
        <p:spPr>
          <a:xfrm>
            <a:off x="566928" y="1280160"/>
            <a:ext cx="5541264" cy="2286000"/>
          </a:xfrm>
          <a:prstGeom prst="roundRect">
            <a:avLst>
              <a:gd name="adj" fmla="val 2800"/>
            </a:avLst>
          </a:prstGeom>
          <a:solidFill>
            <a:srgbClr val="EDF2F3"/>
          </a:solidFill>
          <a:ln w="9525">
            <a:solidFill>
              <a:srgbClr val="D5DFE2"/>
            </a:solidFill>
            <a:prstDash val="solid"/>
          </a:ln>
        </p:spPr>
      </p:sp>
      <p:sp>
        <p:nvSpPr>
          <p:cNvPr id="7" name="Text 5"/>
          <p:cNvSpPr txBox="1"/>
          <p:nvPr/>
        </p:nvSpPr>
        <p:spPr>
          <a:xfrm>
            <a:off x="822960" y="1499616"/>
            <a:ext cx="5029200" cy="1883664"/>
          </a:xfrm>
          <a:prstGeom prst="rect">
            <a:avLst/>
          </a:prstGeom>
          <a:noFill/>
          <a:ln/>
        </p:spPr>
        <p:txBody>
          <a:bodyPr wrap="square" lIns="0" tIns="0" rIns="0" bIns="0" rtlCol="0" anchor="t"/>
          <a:lstStyle/>
          <a:p>
            <a:pPr indent="0" marL="0">
              <a:lnSpc>
                <a:spcPts val="1600"/>
              </a:lnSpc>
              <a:buNone/>
            </a:pPr>
            <a:r>
              <a:rPr lang="en-US" sz="1200" dirty="0">
                <a:solidFill>
                  <a:srgbClr val="2C5566"/>
                </a:solidFill>
                <a:latin typeface="Calibri" pitchFamily="34" charset="0"/>
                <a:ea typeface="Calibri" pitchFamily="34" charset="-122"/>
                <a:cs typeface="Calibri" pitchFamily="34" charset="-120"/>
              </a:rPr>
              <a:t>raiSE, SG Enable and Accredited Mentor Partners such as NUS Enterprise and SMU IIE screen these founders by hand today. The mentor partner route exists precisely because first-time founders need something drawn out of them before they can apply — and it does not scale.</a:t>
            </a:r>
            <a:endParaRPr lang="en-US" sz="1200" dirty="0"/>
          </a:p>
          <a:p>
            <a:pPr indent="0" marL="0">
              <a:lnSpc>
                <a:spcPts val="1600"/>
              </a:lnSpc>
              <a:buNone/>
            </a:pPr>
            <a:endParaRPr lang="en-US" sz="1200" dirty="0"/>
          </a:p>
          <a:p>
            <a:pPr indent="0" marL="0">
              <a:lnSpc>
                <a:spcPts val="1600"/>
              </a:lnSpc>
              <a:buNone/>
            </a:pPr>
            <a:r>
              <a:rPr lang="en-US" sz="1200" dirty="0">
                <a:solidFill>
                  <a:srgbClr val="2C5566"/>
                </a:solidFill>
                <a:latin typeface="Calibri" pitchFamily="34" charset="0"/>
                <a:ea typeface="Calibri" pitchFamily="34" charset="-122"/>
                <a:cs typeface="Calibri" pitchFamily="34" charset="-120"/>
              </a:rPr>
              <a:t>We hand them pre-qualified, complete applications and take the mechanical eighty percent off their desks, so their scarce hours go to judgement calls.</a:t>
            </a:r>
            <a:endParaRPr lang="en-US" sz="1200" dirty="0"/>
          </a:p>
        </p:txBody>
      </p:sp>
      <p:sp>
        <p:nvSpPr>
          <p:cNvPr id="8" name="Shape 6"/>
          <p:cNvSpPr/>
          <p:nvPr/>
        </p:nvSpPr>
        <p:spPr>
          <a:xfrm>
            <a:off x="6437376" y="1280160"/>
            <a:ext cx="5541264" cy="2286000"/>
          </a:xfrm>
          <a:prstGeom prst="roundRect">
            <a:avLst>
              <a:gd name="adj" fmla="val 2800"/>
            </a:avLst>
          </a:prstGeom>
          <a:solidFill>
            <a:srgbClr val="F7EEE1"/>
          </a:solidFill>
          <a:ln w="9525">
            <a:solidFill>
              <a:srgbClr val="C77D22"/>
            </a:solidFill>
            <a:prstDash val="solid"/>
          </a:ln>
        </p:spPr>
      </p:sp>
      <p:sp>
        <p:nvSpPr>
          <p:cNvPr id="9" name="Text 7"/>
          <p:cNvSpPr txBox="1"/>
          <p:nvPr/>
        </p:nvSpPr>
        <p:spPr>
          <a:xfrm>
            <a:off x="6693408" y="1481328"/>
            <a:ext cx="5029200" cy="256032"/>
          </a:xfrm>
          <a:prstGeom prst="rect">
            <a:avLst/>
          </a:prstGeom>
          <a:noFill/>
          <a:ln/>
        </p:spPr>
        <p:txBody>
          <a:bodyPr wrap="square" lIns="0" tIns="0" rIns="0" bIns="0" rtlCol="0" anchor="ctr"/>
          <a:lstStyle/>
          <a:p>
            <a:pPr indent="0" marL="0">
              <a:buNone/>
            </a:pPr>
            <a:r>
              <a:rPr lang="en-US" sz="1000" b="1" spc="100" kern="0" dirty="0">
                <a:solidFill>
                  <a:srgbClr val="C77D22"/>
                </a:solidFill>
                <a:latin typeface="Calibri" pitchFamily="34" charset="0"/>
                <a:ea typeface="Calibri" pitchFamily="34" charset="-122"/>
                <a:cs typeface="Calibri" pitchFamily="34" charset="-120"/>
              </a:rPr>
              <a:t>Stated honestly</a:t>
            </a:r>
            <a:endParaRPr lang="en-US" sz="1000" dirty="0"/>
          </a:p>
        </p:txBody>
      </p:sp>
      <p:sp>
        <p:nvSpPr>
          <p:cNvPr id="10" name="Text 8"/>
          <p:cNvSpPr txBox="1"/>
          <p:nvPr/>
        </p:nvSpPr>
        <p:spPr>
          <a:xfrm>
            <a:off x="6693408" y="1792224"/>
            <a:ext cx="5029200" cy="1609344"/>
          </a:xfrm>
          <a:prstGeom prst="rect">
            <a:avLst/>
          </a:prstGeom>
          <a:noFill/>
          <a:ln/>
        </p:spPr>
        <p:txBody>
          <a:bodyPr wrap="square" lIns="0" tIns="0" rIns="0" bIns="0" rtlCol="0" anchor="t"/>
          <a:lstStyle/>
          <a:p>
            <a:pPr indent="0" marL="0">
              <a:lnSpc>
                <a:spcPts val="1600"/>
              </a:lnSpc>
              <a:buNone/>
            </a:pPr>
            <a:r>
              <a:rPr lang="en-US" sz="1200" b="1" dirty="0">
                <a:solidFill>
                  <a:srgbClr val="123A47"/>
                </a:solidFill>
                <a:latin typeface="Calibri" pitchFamily="34" charset="0"/>
                <a:ea typeface="Calibri" pitchFamily="34" charset="-122"/>
                <a:cs typeface="Calibri" pitchFamily="34" charset="-120"/>
              </a:rPr>
              <a:t>This is a pathway to revenue, not confirmed revenue. Nobody has told us they would pay.</a:t>
            </a:r>
            <a:endParaRPr lang="en-US" sz="1200" dirty="0"/>
          </a:p>
          <a:p>
            <a:pPr indent="0" marL="0">
              <a:lnSpc>
                <a:spcPts val="1600"/>
              </a:lnSpc>
              <a:buNone/>
            </a:pPr>
            <a:endParaRPr lang="en-US" sz="1200" dirty="0"/>
          </a:p>
          <a:p>
            <a:pPr indent="0" marL="0">
              <a:lnSpc>
                <a:spcPts val="1600"/>
              </a:lnSpc>
              <a:buNone/>
            </a:pPr>
            <a:r>
              <a:rPr lang="en-US" sz="1200" dirty="0">
                <a:solidFill>
                  <a:srgbClr val="2C5566"/>
                </a:solidFill>
                <a:latin typeface="Calibri" pitchFamily="34" charset="0"/>
                <a:ea typeface="Calibri" pitchFamily="34" charset="-122"/>
                <a:cs typeface="Calibri" pitchFamily="34" charset="-120"/>
              </a:rPr>
              <a:t>We are not replacing advisors and would not claim to. We feed their pipeline. The validation step we would run next is a single conversation with one intermediary about screening cost per applicant — not a pilot, not a letter of intent, just the number.</a:t>
            </a:r>
            <a:endParaRPr lang="en-US" sz="1200" dirty="0"/>
          </a:p>
        </p:txBody>
      </p:sp>
      <p:sp>
        <p:nvSpPr>
          <p:cNvPr id="11" name="Text 9"/>
          <p:cNvSpPr txBox="1"/>
          <p:nvPr/>
        </p:nvSpPr>
        <p:spPr>
          <a:xfrm>
            <a:off x="566928" y="3730752"/>
            <a:ext cx="5486400" cy="256032"/>
          </a:xfrm>
          <a:prstGeom prst="rect">
            <a:avLst/>
          </a:prstGeom>
          <a:noFill/>
          <a:ln/>
        </p:spPr>
        <p:txBody>
          <a:bodyPr wrap="square" lIns="0" tIns="0" rIns="0" bIns="0" rtlCol="0" anchor="ctr"/>
          <a:lstStyle/>
          <a:p>
            <a:pPr indent="0" marL="0">
              <a:buNone/>
            </a:pPr>
            <a:r>
              <a:rPr lang="en-US" sz="1100" b="1" spc="100" kern="0" dirty="0">
                <a:solidFill>
                  <a:srgbClr val="6B7C83"/>
                </a:solidFill>
                <a:latin typeface="Calibri" pitchFamily="34" charset="0"/>
                <a:ea typeface="Calibri" pitchFamily="34" charset="-122"/>
                <a:cs typeface="Calibri" pitchFamily="34" charset="-120"/>
              </a:rPr>
              <a:t>Team and how we worked</a:t>
            </a:r>
            <a:endParaRPr lang="en-US" sz="1100" dirty="0"/>
          </a:p>
        </p:txBody>
      </p:sp>
      <p:sp>
        <p:nvSpPr>
          <p:cNvPr id="12" name="Shape 10"/>
          <p:cNvSpPr/>
          <p:nvPr/>
        </p:nvSpPr>
        <p:spPr>
          <a:xfrm>
            <a:off x="566928" y="4023360"/>
            <a:ext cx="3529584" cy="1060704"/>
          </a:xfrm>
          <a:prstGeom prst="roundRect">
            <a:avLst>
              <a:gd name="adj" fmla="val 6034"/>
            </a:avLst>
          </a:prstGeom>
          <a:solidFill>
            <a:srgbClr val="EDF2F3"/>
          </a:solidFill>
          <a:ln w="9525">
            <a:solidFill>
              <a:srgbClr val="D5DFE2"/>
            </a:solidFill>
            <a:prstDash val="solid"/>
          </a:ln>
        </p:spPr>
      </p:sp>
      <p:sp>
        <p:nvSpPr>
          <p:cNvPr id="13" name="Text 11"/>
          <p:cNvSpPr txBox="1"/>
          <p:nvPr/>
        </p:nvSpPr>
        <p:spPr>
          <a:xfrm>
            <a:off x="786384" y="4169664"/>
            <a:ext cx="3108960" cy="256032"/>
          </a:xfrm>
          <a:prstGeom prst="rect">
            <a:avLst/>
          </a:prstGeom>
          <a:noFill/>
          <a:ln/>
        </p:spPr>
        <p:txBody>
          <a:bodyPr wrap="square" lIns="0" tIns="0" rIns="0" bIns="0" rtlCol="0" anchor="ctr"/>
          <a:lstStyle/>
          <a:p>
            <a:pPr indent="0" marL="0">
              <a:buNone/>
            </a:pPr>
            <a:r>
              <a:rPr lang="en-US" sz="1200" b="1" dirty="0">
                <a:solidFill>
                  <a:srgbClr val="123A47"/>
                </a:solidFill>
                <a:latin typeface="Calibri" pitchFamily="34" charset="0"/>
                <a:ea typeface="Calibri" pitchFamily="34" charset="-122"/>
                <a:cs typeface="Calibri" pitchFamily="34" charset="-120"/>
              </a:rPr>
              <a:t>Experience Lead</a:t>
            </a:r>
            <a:endParaRPr lang="en-US" sz="1200" dirty="0"/>
          </a:p>
        </p:txBody>
      </p:sp>
      <p:sp>
        <p:nvSpPr>
          <p:cNvPr id="14" name="Text 12"/>
          <p:cNvSpPr txBox="1"/>
          <p:nvPr/>
        </p:nvSpPr>
        <p:spPr>
          <a:xfrm>
            <a:off x="786384" y="4425696"/>
            <a:ext cx="3108960" cy="566928"/>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Screens, voice input, accessibility, the demo click path.</a:t>
            </a:r>
            <a:endParaRPr lang="en-US" sz="1050" dirty="0"/>
          </a:p>
        </p:txBody>
      </p:sp>
      <p:sp>
        <p:nvSpPr>
          <p:cNvPr id="15" name="Shape 13"/>
          <p:cNvSpPr/>
          <p:nvPr/>
        </p:nvSpPr>
        <p:spPr>
          <a:xfrm>
            <a:off x="4334256" y="4023360"/>
            <a:ext cx="3529584" cy="1060704"/>
          </a:xfrm>
          <a:prstGeom prst="roundRect">
            <a:avLst>
              <a:gd name="adj" fmla="val 6034"/>
            </a:avLst>
          </a:prstGeom>
          <a:solidFill>
            <a:srgbClr val="EDF2F3"/>
          </a:solidFill>
          <a:ln w="9525">
            <a:solidFill>
              <a:srgbClr val="D5DFE2"/>
            </a:solidFill>
            <a:prstDash val="solid"/>
          </a:ln>
        </p:spPr>
      </p:sp>
      <p:sp>
        <p:nvSpPr>
          <p:cNvPr id="16" name="Text 14"/>
          <p:cNvSpPr txBox="1"/>
          <p:nvPr/>
        </p:nvSpPr>
        <p:spPr>
          <a:xfrm>
            <a:off x="4553712" y="4169664"/>
            <a:ext cx="3108960" cy="256032"/>
          </a:xfrm>
          <a:prstGeom prst="rect">
            <a:avLst/>
          </a:prstGeom>
          <a:noFill/>
          <a:ln/>
        </p:spPr>
        <p:txBody>
          <a:bodyPr wrap="square" lIns="0" tIns="0" rIns="0" bIns="0" rtlCol="0" anchor="ctr"/>
          <a:lstStyle/>
          <a:p>
            <a:pPr indent="0" marL="0">
              <a:buNone/>
            </a:pPr>
            <a:r>
              <a:rPr lang="en-US" sz="1200" b="1" dirty="0">
                <a:solidFill>
                  <a:srgbClr val="123A47"/>
                </a:solidFill>
                <a:latin typeface="Calibri" pitchFamily="34" charset="0"/>
                <a:ea typeface="Calibri" pitchFamily="34" charset="-122"/>
                <a:cs typeface="Calibri" pitchFamily="34" charset="-120"/>
              </a:rPr>
              <a:t>Intelligence Lead</a:t>
            </a:r>
            <a:endParaRPr lang="en-US" sz="1200" dirty="0"/>
          </a:p>
        </p:txBody>
      </p:sp>
      <p:sp>
        <p:nvSpPr>
          <p:cNvPr id="17" name="Text 15"/>
          <p:cNvSpPr txBox="1"/>
          <p:nvPr/>
        </p:nvSpPr>
        <p:spPr>
          <a:xfrm>
            <a:off x="4553712" y="4425696"/>
            <a:ext cx="3108960" cy="566928"/>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Profile schema, elicitation and drafting pipeline, ACRA lookup, integration.</a:t>
            </a:r>
            <a:endParaRPr lang="en-US" sz="1050" dirty="0"/>
          </a:p>
        </p:txBody>
      </p:sp>
      <p:sp>
        <p:nvSpPr>
          <p:cNvPr id="18" name="Shape 16"/>
          <p:cNvSpPr/>
          <p:nvPr/>
        </p:nvSpPr>
        <p:spPr>
          <a:xfrm>
            <a:off x="8101584" y="4023360"/>
            <a:ext cx="3529584" cy="1060704"/>
          </a:xfrm>
          <a:prstGeom prst="roundRect">
            <a:avLst>
              <a:gd name="adj" fmla="val 6034"/>
            </a:avLst>
          </a:prstGeom>
          <a:solidFill>
            <a:srgbClr val="EDF2F3"/>
          </a:solidFill>
          <a:ln w="9525">
            <a:solidFill>
              <a:srgbClr val="D5DFE2"/>
            </a:solidFill>
            <a:prstDash val="solid"/>
          </a:ln>
        </p:spPr>
      </p:sp>
      <p:sp>
        <p:nvSpPr>
          <p:cNvPr id="19" name="Text 17"/>
          <p:cNvSpPr txBox="1"/>
          <p:nvPr/>
        </p:nvSpPr>
        <p:spPr>
          <a:xfrm>
            <a:off x="8321040" y="4169664"/>
            <a:ext cx="3108960" cy="256032"/>
          </a:xfrm>
          <a:prstGeom prst="rect">
            <a:avLst/>
          </a:prstGeom>
          <a:noFill/>
          <a:ln/>
        </p:spPr>
        <p:txBody>
          <a:bodyPr wrap="square" lIns="0" tIns="0" rIns="0" bIns="0" rtlCol="0" anchor="ctr"/>
          <a:lstStyle/>
          <a:p>
            <a:pPr indent="0" marL="0">
              <a:buNone/>
            </a:pPr>
            <a:r>
              <a:rPr lang="en-US" sz="1200" b="1" dirty="0">
                <a:solidFill>
                  <a:srgbClr val="123A47"/>
                </a:solidFill>
                <a:latin typeface="Calibri" pitchFamily="34" charset="0"/>
                <a:ea typeface="Calibri" pitchFamily="34" charset="-122"/>
                <a:cs typeface="Calibri" pitchFamily="34" charset="-120"/>
              </a:rPr>
              <a:t>Rules &amp; Strategy Lead</a:t>
            </a:r>
            <a:endParaRPr lang="en-US" sz="1200" dirty="0"/>
          </a:p>
        </p:txBody>
      </p:sp>
      <p:sp>
        <p:nvSpPr>
          <p:cNvPr id="20" name="Text 18"/>
          <p:cNvSpPr txBox="1"/>
          <p:nvPr/>
        </p:nvSpPr>
        <p:spPr>
          <a:xfrm>
            <a:off x="8321040" y="4425696"/>
            <a:ext cx="3108960" cy="566928"/>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Grant rules and source verification, stage model, eligibility specification, competitive analysis.</a:t>
            </a:r>
            <a:endParaRPr lang="en-US" sz="1050" dirty="0"/>
          </a:p>
        </p:txBody>
      </p:sp>
      <p:sp>
        <p:nvSpPr>
          <p:cNvPr id="21" name="Text 19"/>
          <p:cNvSpPr txBox="1"/>
          <p:nvPr/>
        </p:nvSpPr>
        <p:spPr>
          <a:xfrm>
            <a:off x="566928" y="5230368"/>
            <a:ext cx="10972800" cy="402336"/>
          </a:xfrm>
          <a:prstGeom prst="rect">
            <a:avLst/>
          </a:prstGeom>
          <a:noFill/>
          <a:ln/>
        </p:spPr>
        <p:txBody>
          <a:bodyPr wrap="square" lIns="0" tIns="0" rIns="0" bIns="0" rtlCol="0" anchor="ctr"/>
          <a:lstStyle/>
          <a:p>
            <a:pPr indent="0" marL="0">
              <a:lnSpc>
                <a:spcPts val="1400"/>
              </a:lnSpc>
              <a:buNone/>
            </a:pPr>
            <a:r>
              <a:rPr lang="en-US" sz="1100" i="1" dirty="0">
                <a:solidFill>
                  <a:srgbClr val="6B7C83"/>
                </a:solidFill>
                <a:latin typeface="Calibri" pitchFamily="34" charset="0"/>
                <a:ea typeface="Calibri" pitchFamily="34" charset="-122"/>
                <a:cs typeface="Calibri" pitchFamily="34" charset="-120"/>
              </a:rPr>
              <a:t>Three people, three days. The data schema was frozen on day one and the rules author never wrote the engine that reads them — so every rule is reviewable by someone who did not write the code.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3A47"/>
        </a:solidFill>
      </p:bgPr>
    </p:bg>
    <p:spTree>
      <p:nvGrpSpPr>
        <p:cNvPr id="1" name=""/>
        <p:cNvGrpSpPr/>
        <p:nvPr/>
      </p:nvGrpSpPr>
      <p:grpSpPr>
        <a:xfrm>
          <a:off x="0" y="0"/>
          <a:ext cx="0" cy="0"/>
          <a:chOff x="0" y="0"/>
          <a:chExt cx="0" cy="0"/>
        </a:xfrm>
      </p:grpSpPr>
      <p:sp>
        <p:nvSpPr>
          <p:cNvPr id="2" name="Text 0"/>
          <p:cNvSpPr txBox="1"/>
          <p:nvPr/>
        </p:nvSpPr>
        <p:spPr>
          <a:xfrm>
            <a:off x="566928" y="1316736"/>
            <a:ext cx="9692640" cy="1554480"/>
          </a:xfrm>
          <a:prstGeom prst="rect">
            <a:avLst/>
          </a:prstGeom>
          <a:noFill/>
          <a:ln/>
        </p:spPr>
        <p:txBody>
          <a:bodyPr wrap="square" lIns="0" tIns="0" rIns="0" bIns="0" rtlCol="0" anchor="ctr"/>
          <a:lstStyle/>
          <a:p>
            <a:pPr indent="0" marL="0">
              <a:lnSpc>
                <a:spcPts val="5000"/>
              </a:lnSpc>
              <a:buNone/>
            </a:pPr>
            <a:r>
              <a:rPr lang="en-US" sz="4000" b="1" dirty="0">
                <a:solidFill>
                  <a:srgbClr val="FFFFFF"/>
                </a:solidFill>
                <a:latin typeface="Cambria" pitchFamily="34" charset="0"/>
                <a:ea typeface="Cambria" pitchFamily="34" charset="-122"/>
                <a:cs typeface="Cambria" pitchFamily="34" charset="-120"/>
              </a:rPr>
              <a:t>Ren finds out on day one,</a:t>
            </a:r>
            <a:endParaRPr lang="en-US" sz="4000" dirty="0"/>
          </a:p>
          <a:p>
            <a:pPr indent="0" marL="0">
              <a:lnSpc>
                <a:spcPts val="5000"/>
              </a:lnSpc>
              <a:buNone/>
            </a:pPr>
            <a:r>
              <a:rPr lang="en-US" sz="4000" b="1" dirty="0">
                <a:solidFill>
                  <a:srgbClr val="FFFFFF"/>
                </a:solidFill>
                <a:latin typeface="Cambria" pitchFamily="34" charset="0"/>
                <a:ea typeface="Cambria" pitchFamily="34" charset="-122"/>
                <a:cs typeface="Cambria" pitchFamily="34" charset="-120"/>
              </a:rPr>
              <a:t>not month five.</a:t>
            </a:r>
            <a:endParaRPr lang="en-US" sz="4000" dirty="0"/>
          </a:p>
        </p:txBody>
      </p:sp>
      <p:sp>
        <p:nvSpPr>
          <p:cNvPr id="3" name="Shape 1"/>
          <p:cNvSpPr/>
          <p:nvPr/>
        </p:nvSpPr>
        <p:spPr>
          <a:xfrm>
            <a:off x="566928" y="3127248"/>
            <a:ext cx="5413248" cy="1572768"/>
          </a:xfrm>
          <a:prstGeom prst="roundRect">
            <a:avLst>
              <a:gd name="adj" fmla="val 4070"/>
            </a:avLst>
          </a:prstGeom>
          <a:solidFill>
            <a:srgbClr val="1B4A59"/>
          </a:solidFill>
          <a:ln w="12700">
            <a:solidFill>
              <a:srgbClr val="2C6577"/>
            </a:solidFill>
            <a:prstDash val="solid"/>
          </a:ln>
        </p:spPr>
      </p:sp>
      <p:sp>
        <p:nvSpPr>
          <p:cNvPr id="4" name="Text 2"/>
          <p:cNvSpPr txBox="1"/>
          <p:nvPr/>
        </p:nvSpPr>
        <p:spPr>
          <a:xfrm>
            <a:off x="822960" y="3310128"/>
            <a:ext cx="4901184"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Singapore already built half of this</a:t>
            </a:r>
            <a:endParaRPr lang="en-US" sz="1250" dirty="0"/>
          </a:p>
        </p:txBody>
      </p:sp>
      <p:sp>
        <p:nvSpPr>
          <p:cNvPr id="5" name="Text 3"/>
          <p:cNvSpPr txBox="1"/>
          <p:nvPr/>
        </p:nvSpPr>
        <p:spPr>
          <a:xfrm>
            <a:off x="822960" y="3602736"/>
            <a:ext cx="4901184" cy="914400"/>
          </a:xfrm>
          <a:prstGeom prst="rect">
            <a:avLst/>
          </a:prstGeom>
          <a:noFill/>
          <a:ln/>
        </p:spPr>
        <p:txBody>
          <a:bodyPr wrap="square" lIns="0" tIns="0" rIns="0" bIns="0" rtlCol="0" anchor="ctr"/>
          <a:lstStyle/>
          <a:p>
            <a:pPr indent="0" marL="0">
              <a:lnSpc>
                <a:spcPts val="1500"/>
              </a:lnSpc>
              <a:buNone/>
            </a:pPr>
            <a:r>
              <a:rPr lang="en-US" sz="1150" dirty="0">
                <a:solidFill>
                  <a:srgbClr val="9FBCC6"/>
                </a:solidFill>
                <a:latin typeface="Calibri" pitchFamily="34" charset="0"/>
                <a:ea typeface="Calibri" pitchFamily="34" charset="-122"/>
                <a:cs typeface="Calibri" pitchFamily="34" charset="-120"/>
              </a:rPr>
              <a:t>Myinfo Business proves you should never re-enter what the system already knows. It cannot help a founder with no ACRA record yet.</a:t>
            </a:r>
            <a:endParaRPr lang="en-US" sz="1150" dirty="0"/>
          </a:p>
        </p:txBody>
      </p:sp>
      <p:sp>
        <p:nvSpPr>
          <p:cNvPr id="6" name="Shape 4"/>
          <p:cNvSpPr/>
          <p:nvPr/>
        </p:nvSpPr>
        <p:spPr>
          <a:xfrm>
            <a:off x="6272784" y="3127248"/>
            <a:ext cx="5413248" cy="1572768"/>
          </a:xfrm>
          <a:prstGeom prst="roundRect">
            <a:avLst>
              <a:gd name="adj" fmla="val 4070"/>
            </a:avLst>
          </a:prstGeom>
          <a:solidFill>
            <a:srgbClr val="1B4A59"/>
          </a:solidFill>
          <a:ln w="12700">
            <a:solidFill>
              <a:srgbClr val="2C6577"/>
            </a:solidFill>
            <a:prstDash val="solid"/>
          </a:ln>
        </p:spPr>
      </p:sp>
      <p:sp>
        <p:nvSpPr>
          <p:cNvPr id="7" name="Text 5"/>
          <p:cNvSpPr txBox="1"/>
          <p:nvPr/>
        </p:nvSpPr>
        <p:spPr>
          <a:xfrm>
            <a:off x="6528816" y="3310128"/>
            <a:ext cx="4901184"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And the other half</a:t>
            </a:r>
            <a:endParaRPr lang="en-US" sz="1250" dirty="0"/>
          </a:p>
        </p:txBody>
      </p:sp>
      <p:sp>
        <p:nvSpPr>
          <p:cNvPr id="8" name="Text 6"/>
          <p:cNvSpPr txBox="1"/>
          <p:nvPr/>
        </p:nvSpPr>
        <p:spPr>
          <a:xfrm>
            <a:off x="6528816" y="3602736"/>
            <a:ext cx="4901184" cy="914400"/>
          </a:xfrm>
          <a:prstGeom prst="rect">
            <a:avLst/>
          </a:prstGeom>
          <a:noFill/>
          <a:ln/>
        </p:spPr>
        <p:txBody>
          <a:bodyPr wrap="square" lIns="0" tIns="0" rIns="0" bIns="0" rtlCol="0" anchor="ctr"/>
          <a:lstStyle/>
          <a:p>
            <a:pPr indent="0" marL="0">
              <a:lnSpc>
                <a:spcPts val="1500"/>
              </a:lnSpc>
              <a:buNone/>
            </a:pPr>
            <a:r>
              <a:rPr lang="en-US" sz="1150" dirty="0">
                <a:solidFill>
                  <a:srgbClr val="9FBCC6"/>
                </a:solidFill>
                <a:latin typeface="Calibri" pitchFamily="34" charset="0"/>
                <a:ea typeface="Calibri" pitchFamily="34" charset="-122"/>
                <a:cs typeface="Calibri" pitchFamily="34" charset="-120"/>
              </a:rPr>
              <a:t>The Accredited Mentor Partner network proves first-time founders need something drawn out of them before they can apply. It does not scale, and it gates on whether you are worth a mentor’s hour.</a:t>
            </a:r>
            <a:endParaRPr lang="en-US" sz="1150" dirty="0"/>
          </a:p>
        </p:txBody>
      </p:sp>
      <p:sp>
        <p:nvSpPr>
          <p:cNvPr id="9" name="Text 7"/>
          <p:cNvSpPr txBox="1"/>
          <p:nvPr/>
        </p:nvSpPr>
        <p:spPr>
          <a:xfrm>
            <a:off x="566928" y="4956048"/>
            <a:ext cx="10972800" cy="365760"/>
          </a:xfrm>
          <a:prstGeom prst="rect">
            <a:avLst/>
          </a:prstGeom>
          <a:noFill/>
          <a:ln/>
        </p:spPr>
        <p:txBody>
          <a:bodyPr wrap="square" lIns="0" tIns="0" rIns="0" bIns="0" rtlCol="0" anchor="ctr"/>
          <a:lstStyle/>
          <a:p>
            <a:pPr indent="0" marL="0">
              <a:buNone/>
            </a:pPr>
            <a:r>
              <a:rPr lang="en-US" sz="1400" b="1" dirty="0">
                <a:solidFill>
                  <a:srgbClr val="BFD3D9"/>
                </a:solidFill>
                <a:latin typeface="Calibri" pitchFamily="34" charset="0"/>
                <a:ea typeface="Calibri" pitchFamily="34" charset="-122"/>
                <a:cs typeface="Calibri" pitchFamily="34" charset="-120"/>
              </a:rPr>
              <a:t>We sit between the two: the pre-incorporation founder who has nothing for Myinfo to prefill, and has not yet earned an advisor’s hour.</a:t>
            </a:r>
            <a:endParaRPr lang="en-US" sz="1400" dirty="0"/>
          </a:p>
        </p:txBody>
      </p:sp>
      <p:sp>
        <p:nvSpPr>
          <p:cNvPr id="10" name="Text 8"/>
          <p:cNvSpPr txBox="1"/>
          <p:nvPr/>
        </p:nvSpPr>
        <p:spPr>
          <a:xfrm>
            <a:off x="566928" y="5632704"/>
            <a:ext cx="4572000" cy="365760"/>
          </a:xfrm>
          <a:prstGeom prst="rect">
            <a:avLst/>
          </a:prstGeom>
          <a:noFill/>
          <a:ln/>
        </p:spPr>
        <p:txBody>
          <a:bodyPr wrap="square" lIns="0" tIns="0" rIns="0" bIns="0" rtlCol="0" anchor="ctr"/>
          <a:lstStyle/>
          <a:p>
            <a:pPr indent="0" marL="0">
              <a:buNone/>
            </a:pPr>
            <a:r>
              <a:rPr lang="en-US" sz="1800" b="1" dirty="0">
                <a:solidFill>
                  <a:srgbClr val="1C7293"/>
                </a:solidFill>
                <a:latin typeface="Cambria" pitchFamily="34" charset="0"/>
                <a:ea typeface="Cambria" pitchFamily="34" charset="-122"/>
                <a:cs typeface="Cambria" pitchFamily="34" charset="-120"/>
              </a:rPr>
              <a:t>Groundwork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APPENDIX A1</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Appendix</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Every fact, and where it came from.</a:t>
            </a:r>
            <a:endParaRPr lang="en-US" sz="2700" dirty="0"/>
          </a:p>
        </p:txBody>
      </p:sp>
      <p:sp>
        <p:nvSpPr>
          <p:cNvPr id="6" name="Text 4"/>
          <p:cNvSpPr txBox="1"/>
          <p:nvPr/>
        </p:nvSpPr>
        <p:spPr>
          <a:xfrm>
            <a:off x="566928" y="1188720"/>
            <a:ext cx="6291072" cy="256032"/>
          </a:xfrm>
          <a:prstGeom prst="rect">
            <a:avLst/>
          </a:prstGeom>
          <a:noFill/>
          <a:ln/>
        </p:spPr>
        <p:txBody>
          <a:bodyPr wrap="square" lIns="0" tIns="0" rIns="0" bIns="0" rtlCol="0" anchor="ctr"/>
          <a:lstStyle/>
          <a:p>
            <a:pPr indent="0" marL="0">
              <a:buNone/>
            </a:pPr>
            <a:r>
              <a:rPr lang="en-US" sz="1000" b="1" spc="100" kern="0" dirty="0">
                <a:solidFill>
                  <a:srgbClr val="6B7C83"/>
                </a:solidFill>
                <a:latin typeface="Calibri" pitchFamily="34" charset="0"/>
                <a:ea typeface="Calibri" pitchFamily="34" charset="-122"/>
                <a:cs typeface="Calibri" pitchFamily="34" charset="-120"/>
              </a:rPr>
              <a:t>Claim</a:t>
            </a:r>
            <a:endParaRPr lang="en-US" sz="1000" dirty="0"/>
          </a:p>
        </p:txBody>
      </p:sp>
      <p:sp>
        <p:nvSpPr>
          <p:cNvPr id="7" name="Text 5"/>
          <p:cNvSpPr txBox="1"/>
          <p:nvPr/>
        </p:nvSpPr>
        <p:spPr>
          <a:xfrm>
            <a:off x="6967728" y="1188720"/>
            <a:ext cx="3090672" cy="256032"/>
          </a:xfrm>
          <a:prstGeom prst="rect">
            <a:avLst/>
          </a:prstGeom>
          <a:noFill/>
          <a:ln/>
        </p:spPr>
        <p:txBody>
          <a:bodyPr wrap="square" lIns="0" tIns="0" rIns="0" bIns="0" rtlCol="0" anchor="ctr"/>
          <a:lstStyle/>
          <a:p>
            <a:pPr indent="0" marL="0">
              <a:buNone/>
            </a:pPr>
            <a:r>
              <a:rPr lang="en-US" sz="1000" b="1" spc="100" kern="0" dirty="0">
                <a:solidFill>
                  <a:srgbClr val="6B7C83"/>
                </a:solidFill>
                <a:latin typeface="Calibri" pitchFamily="34" charset="0"/>
                <a:ea typeface="Calibri" pitchFamily="34" charset="-122"/>
                <a:cs typeface="Calibri" pitchFamily="34" charset="-120"/>
              </a:rPr>
              <a:t>Source</a:t>
            </a:r>
            <a:endParaRPr lang="en-US" sz="1000" dirty="0"/>
          </a:p>
        </p:txBody>
      </p:sp>
      <p:sp>
        <p:nvSpPr>
          <p:cNvPr id="8" name="Text 6"/>
          <p:cNvSpPr txBox="1"/>
          <p:nvPr/>
        </p:nvSpPr>
        <p:spPr>
          <a:xfrm>
            <a:off x="10168128" y="1188720"/>
            <a:ext cx="1316736" cy="256032"/>
          </a:xfrm>
          <a:prstGeom prst="rect">
            <a:avLst/>
          </a:prstGeom>
          <a:noFill/>
          <a:ln/>
        </p:spPr>
        <p:txBody>
          <a:bodyPr wrap="square" lIns="0" tIns="0" rIns="0" bIns="0" rtlCol="0" anchor="ctr"/>
          <a:lstStyle/>
          <a:p>
            <a:pPr indent="0" marL="0">
              <a:buNone/>
            </a:pPr>
            <a:r>
              <a:rPr lang="en-US" sz="1000" b="1" spc="100" kern="0" dirty="0">
                <a:solidFill>
                  <a:srgbClr val="6B7C83"/>
                </a:solidFill>
                <a:latin typeface="Calibri" pitchFamily="34" charset="0"/>
                <a:ea typeface="Calibri" pitchFamily="34" charset="-122"/>
                <a:cs typeface="Calibri" pitchFamily="34" charset="-120"/>
              </a:rPr>
              <a:t>Confidence</a:t>
            </a:r>
            <a:endParaRPr lang="en-US" sz="1000" dirty="0"/>
          </a:p>
        </p:txBody>
      </p:sp>
      <p:sp>
        <p:nvSpPr>
          <p:cNvPr id="9" name="Shape 7"/>
          <p:cNvSpPr/>
          <p:nvPr/>
        </p:nvSpPr>
        <p:spPr>
          <a:xfrm>
            <a:off x="475488" y="1472184"/>
            <a:ext cx="11210544" cy="384048"/>
          </a:xfrm>
          <a:prstGeom prst="rect">
            <a:avLst/>
          </a:prstGeom>
          <a:solidFill>
            <a:srgbClr val="EDF2F3"/>
          </a:solidFill>
          <a:ln w="12700">
            <a:solidFill>
              <a:srgbClr val="EDF2F3"/>
            </a:solidFill>
            <a:prstDash val="solid"/>
          </a:ln>
        </p:spPr>
      </p:sp>
      <p:sp>
        <p:nvSpPr>
          <p:cNvPr id="10" name="Text 8"/>
          <p:cNvSpPr txBox="1"/>
          <p:nvPr/>
        </p:nvSpPr>
        <p:spPr>
          <a:xfrm>
            <a:off x="566928" y="1499616"/>
            <a:ext cx="6291072" cy="365760"/>
          </a:xfrm>
          <a:prstGeom prst="rect">
            <a:avLst/>
          </a:prstGeom>
          <a:noFill/>
          <a:ln/>
        </p:spPr>
        <p:txBody>
          <a:bodyPr wrap="square" lIns="0" tIns="0" rIns="0" bIns="0" rtlCol="0" anchor="ctr"/>
          <a:lstStyle/>
          <a:p>
            <a:pPr indent="0" marL="0">
              <a:lnSpc>
                <a:spcPts val="1150"/>
              </a:lnSpc>
              <a:buNone/>
            </a:pPr>
            <a:r>
              <a:rPr lang="en-US" sz="950" dirty="0">
                <a:solidFill>
                  <a:srgbClr val="123A47"/>
                </a:solidFill>
                <a:latin typeface="Calibri" pitchFamily="34" charset="0"/>
                <a:ea typeface="Calibri" pitchFamily="34" charset="-122"/>
                <a:cs typeface="Calibri" pitchFamily="34" charset="-120"/>
              </a:rPr>
              <a:t>VentureForGood runs five stages over roughly 4–6 months, with the stated per-stage durations</a:t>
            </a:r>
            <a:endParaRPr lang="en-US" sz="950" dirty="0"/>
          </a:p>
        </p:txBody>
      </p:sp>
      <p:sp>
        <p:nvSpPr>
          <p:cNvPr id="11" name="Text 9"/>
          <p:cNvSpPr txBox="1"/>
          <p:nvPr/>
        </p:nvSpPr>
        <p:spPr>
          <a:xfrm>
            <a:off x="6967728" y="1499616"/>
            <a:ext cx="3090672" cy="365760"/>
          </a:xfrm>
          <a:prstGeom prst="rect">
            <a:avLst/>
          </a:prstGeom>
          <a:noFill/>
          <a:ln/>
        </p:spPr>
        <p:txBody>
          <a:bodyPr wrap="square" lIns="0" tIns="0" rIns="0" bIns="0" rtlCol="0" anchor="ctr"/>
          <a:lstStyle/>
          <a:p>
            <a:pPr indent="0" marL="0">
              <a:lnSpc>
                <a:spcPts val="1150"/>
              </a:lnSpc>
              <a:buNone/>
            </a:pPr>
            <a:r>
              <a:rPr lang="en-US" sz="950" dirty="0">
                <a:solidFill>
                  <a:srgbClr val="6B7C83"/>
                </a:solidFill>
                <a:latin typeface="Calibri" pitchFamily="34" charset="0"/>
                <a:ea typeface="Calibri" pitchFamily="34" charset="-122"/>
                <a:cs typeface="Calibri" pitchFamily="34" charset="-120"/>
              </a:rPr>
              <a:t>raise.sg/ventureforgood-grant</a:t>
            </a:r>
            <a:endParaRPr lang="en-US" sz="950" dirty="0"/>
          </a:p>
        </p:txBody>
      </p:sp>
      <p:sp>
        <p:nvSpPr>
          <p:cNvPr id="12" name="Text 10"/>
          <p:cNvSpPr txBox="1"/>
          <p:nvPr/>
        </p:nvSpPr>
        <p:spPr>
          <a:xfrm>
            <a:off x="10168128" y="1499616"/>
            <a:ext cx="1316736" cy="365760"/>
          </a:xfrm>
          <a:prstGeom prst="rect">
            <a:avLst/>
          </a:prstGeom>
          <a:noFill/>
          <a:ln/>
        </p:spPr>
        <p:txBody>
          <a:bodyPr wrap="square" lIns="0" tIns="0" rIns="0" bIns="0" rtlCol="0" anchor="ctr"/>
          <a:lstStyle/>
          <a:p>
            <a:pPr indent="0" marL="0">
              <a:lnSpc>
                <a:spcPts val="1150"/>
              </a:lnSpc>
              <a:buNone/>
            </a:pPr>
            <a:r>
              <a:rPr lang="en-US" sz="950" b="1" dirty="0">
                <a:solidFill>
                  <a:srgbClr val="2E7D5B"/>
                </a:solidFill>
                <a:latin typeface="Calibri" pitchFamily="34" charset="0"/>
                <a:ea typeface="Calibri" pitchFamily="34" charset="-122"/>
                <a:cs typeface="Calibri" pitchFamily="34" charset="-120"/>
              </a:rPr>
              <a:t>Primary</a:t>
            </a:r>
            <a:endParaRPr lang="en-US" sz="950" dirty="0"/>
          </a:p>
        </p:txBody>
      </p:sp>
      <p:sp>
        <p:nvSpPr>
          <p:cNvPr id="13" name="Text 11"/>
          <p:cNvSpPr txBox="1"/>
          <p:nvPr/>
        </p:nvSpPr>
        <p:spPr>
          <a:xfrm>
            <a:off x="566928" y="1901952"/>
            <a:ext cx="6291072" cy="365760"/>
          </a:xfrm>
          <a:prstGeom prst="rect">
            <a:avLst/>
          </a:prstGeom>
          <a:noFill/>
          <a:ln/>
        </p:spPr>
        <p:txBody>
          <a:bodyPr wrap="square" lIns="0" tIns="0" rIns="0" bIns="0" rtlCol="0" anchor="ctr"/>
          <a:lstStyle/>
          <a:p>
            <a:pPr indent="0" marL="0">
              <a:lnSpc>
                <a:spcPts val="1150"/>
              </a:lnSpc>
              <a:buNone/>
            </a:pPr>
            <a:r>
              <a:rPr lang="en-US" sz="950" dirty="0">
                <a:solidFill>
                  <a:srgbClr val="123A47"/>
                </a:solidFill>
                <a:latin typeface="Calibri" pitchFamily="34" charset="0"/>
                <a:ea typeface="Calibri" pitchFamily="34" charset="-122"/>
                <a:cs typeface="Calibri" pitchFamily="34" charset="-120"/>
              </a:rPr>
              <a:t>VFG (Youth): ages 18–35, key applicant Singaporean or PR, raiSE membership required</a:t>
            </a:r>
            <a:endParaRPr lang="en-US" sz="950" dirty="0"/>
          </a:p>
        </p:txBody>
      </p:sp>
      <p:sp>
        <p:nvSpPr>
          <p:cNvPr id="14" name="Text 12"/>
          <p:cNvSpPr txBox="1"/>
          <p:nvPr/>
        </p:nvSpPr>
        <p:spPr>
          <a:xfrm>
            <a:off x="6967728" y="1901952"/>
            <a:ext cx="3090672" cy="365760"/>
          </a:xfrm>
          <a:prstGeom prst="rect">
            <a:avLst/>
          </a:prstGeom>
          <a:noFill/>
          <a:ln/>
        </p:spPr>
        <p:txBody>
          <a:bodyPr wrap="square" lIns="0" tIns="0" rIns="0" bIns="0" rtlCol="0" anchor="ctr"/>
          <a:lstStyle/>
          <a:p>
            <a:pPr indent="0" marL="0">
              <a:lnSpc>
                <a:spcPts val="1150"/>
              </a:lnSpc>
              <a:buNone/>
            </a:pPr>
            <a:r>
              <a:rPr lang="en-US" sz="950" dirty="0">
                <a:solidFill>
                  <a:srgbClr val="6B7C83"/>
                </a:solidFill>
                <a:latin typeface="Calibri" pitchFamily="34" charset="0"/>
                <a:ea typeface="Calibri" pitchFamily="34" charset="-122"/>
                <a:cs typeface="Calibri" pitchFamily="34" charset="-120"/>
              </a:rPr>
              <a:t>raise.sg</a:t>
            </a:r>
            <a:endParaRPr lang="en-US" sz="950" dirty="0"/>
          </a:p>
        </p:txBody>
      </p:sp>
      <p:sp>
        <p:nvSpPr>
          <p:cNvPr id="15" name="Text 13"/>
          <p:cNvSpPr txBox="1"/>
          <p:nvPr/>
        </p:nvSpPr>
        <p:spPr>
          <a:xfrm>
            <a:off x="10168128" y="1901952"/>
            <a:ext cx="1316736" cy="365760"/>
          </a:xfrm>
          <a:prstGeom prst="rect">
            <a:avLst/>
          </a:prstGeom>
          <a:noFill/>
          <a:ln/>
        </p:spPr>
        <p:txBody>
          <a:bodyPr wrap="square" lIns="0" tIns="0" rIns="0" bIns="0" rtlCol="0" anchor="ctr"/>
          <a:lstStyle/>
          <a:p>
            <a:pPr indent="0" marL="0">
              <a:lnSpc>
                <a:spcPts val="1150"/>
              </a:lnSpc>
              <a:buNone/>
            </a:pPr>
            <a:r>
              <a:rPr lang="en-US" sz="950" b="1" dirty="0">
                <a:solidFill>
                  <a:srgbClr val="2E7D5B"/>
                </a:solidFill>
                <a:latin typeface="Calibri" pitchFamily="34" charset="0"/>
                <a:ea typeface="Calibri" pitchFamily="34" charset="-122"/>
                <a:cs typeface="Calibri" pitchFamily="34" charset="-120"/>
              </a:rPr>
              <a:t>Primary</a:t>
            </a:r>
            <a:endParaRPr lang="en-US" sz="950" dirty="0"/>
          </a:p>
        </p:txBody>
      </p:sp>
      <p:sp>
        <p:nvSpPr>
          <p:cNvPr id="16" name="Shape 14"/>
          <p:cNvSpPr/>
          <p:nvPr/>
        </p:nvSpPr>
        <p:spPr>
          <a:xfrm>
            <a:off x="475488" y="2276856"/>
            <a:ext cx="11210544" cy="384048"/>
          </a:xfrm>
          <a:prstGeom prst="rect">
            <a:avLst/>
          </a:prstGeom>
          <a:solidFill>
            <a:srgbClr val="EDF2F3"/>
          </a:solidFill>
          <a:ln w="12700">
            <a:solidFill>
              <a:srgbClr val="EDF2F3"/>
            </a:solidFill>
            <a:prstDash val="solid"/>
          </a:ln>
        </p:spPr>
      </p:sp>
      <p:sp>
        <p:nvSpPr>
          <p:cNvPr id="17" name="Text 15"/>
          <p:cNvSpPr txBox="1"/>
          <p:nvPr/>
        </p:nvSpPr>
        <p:spPr>
          <a:xfrm>
            <a:off x="566928" y="2304288"/>
            <a:ext cx="6291072" cy="365760"/>
          </a:xfrm>
          <a:prstGeom prst="rect">
            <a:avLst/>
          </a:prstGeom>
          <a:noFill/>
          <a:ln/>
        </p:spPr>
        <p:txBody>
          <a:bodyPr wrap="square" lIns="0" tIns="0" rIns="0" bIns="0" rtlCol="0" anchor="ctr"/>
          <a:lstStyle/>
          <a:p>
            <a:pPr indent="0" marL="0">
              <a:lnSpc>
                <a:spcPts val="1150"/>
              </a:lnSpc>
              <a:buNone/>
            </a:pPr>
            <a:r>
              <a:rPr lang="en-US" sz="950" dirty="0">
                <a:solidFill>
                  <a:srgbClr val="123A47"/>
                </a:solidFill>
                <a:latin typeface="Calibri" pitchFamily="34" charset="0"/>
                <a:ea typeface="Calibri" pitchFamily="34" charset="-122"/>
                <a:cs typeface="Calibri" pitchFamily="34" charset="-120"/>
              </a:rPr>
              <a:t>raiSE membership requires an ACRA-registered business, so the ordering ACRA → raiSE → VFG is forced</a:t>
            </a:r>
            <a:endParaRPr lang="en-US" sz="950" dirty="0"/>
          </a:p>
        </p:txBody>
      </p:sp>
      <p:sp>
        <p:nvSpPr>
          <p:cNvPr id="18" name="Text 16"/>
          <p:cNvSpPr txBox="1"/>
          <p:nvPr/>
        </p:nvSpPr>
        <p:spPr>
          <a:xfrm>
            <a:off x="6967728" y="2304288"/>
            <a:ext cx="3090672" cy="365760"/>
          </a:xfrm>
          <a:prstGeom prst="rect">
            <a:avLst/>
          </a:prstGeom>
          <a:noFill/>
          <a:ln/>
        </p:spPr>
        <p:txBody>
          <a:bodyPr wrap="square" lIns="0" tIns="0" rIns="0" bIns="0" rtlCol="0" anchor="ctr"/>
          <a:lstStyle/>
          <a:p>
            <a:pPr indent="0" marL="0">
              <a:lnSpc>
                <a:spcPts val="1150"/>
              </a:lnSpc>
              <a:buNone/>
            </a:pPr>
            <a:r>
              <a:rPr lang="en-US" sz="950" dirty="0">
                <a:solidFill>
                  <a:srgbClr val="6B7C83"/>
                </a:solidFill>
                <a:latin typeface="Calibri" pitchFamily="34" charset="0"/>
                <a:ea typeface="Calibri" pitchFamily="34" charset="-122"/>
                <a:cs typeface="Calibri" pitchFamily="34" charset="-120"/>
              </a:rPr>
              <a:t>raise.sg membership + grant pages</a:t>
            </a:r>
            <a:endParaRPr lang="en-US" sz="950" dirty="0"/>
          </a:p>
        </p:txBody>
      </p:sp>
      <p:sp>
        <p:nvSpPr>
          <p:cNvPr id="19" name="Text 17"/>
          <p:cNvSpPr txBox="1"/>
          <p:nvPr/>
        </p:nvSpPr>
        <p:spPr>
          <a:xfrm>
            <a:off x="10168128" y="2304288"/>
            <a:ext cx="1316736" cy="365760"/>
          </a:xfrm>
          <a:prstGeom prst="rect">
            <a:avLst/>
          </a:prstGeom>
          <a:noFill/>
          <a:ln/>
        </p:spPr>
        <p:txBody>
          <a:bodyPr wrap="square" lIns="0" tIns="0" rIns="0" bIns="0" rtlCol="0" anchor="ctr"/>
          <a:lstStyle/>
          <a:p>
            <a:pPr indent="0" marL="0">
              <a:lnSpc>
                <a:spcPts val="1150"/>
              </a:lnSpc>
              <a:buNone/>
            </a:pPr>
            <a:r>
              <a:rPr lang="en-US" sz="950" b="1" dirty="0">
                <a:solidFill>
                  <a:srgbClr val="2E7D5B"/>
                </a:solidFill>
                <a:latin typeface="Calibri" pitchFamily="34" charset="0"/>
                <a:ea typeface="Calibri" pitchFamily="34" charset="-122"/>
                <a:cs typeface="Calibri" pitchFamily="34" charset="-120"/>
              </a:rPr>
              <a:t>Primary</a:t>
            </a:r>
            <a:endParaRPr lang="en-US" sz="950" dirty="0"/>
          </a:p>
        </p:txBody>
      </p:sp>
      <p:sp>
        <p:nvSpPr>
          <p:cNvPr id="20" name="Text 18"/>
          <p:cNvSpPr txBox="1"/>
          <p:nvPr/>
        </p:nvSpPr>
        <p:spPr>
          <a:xfrm>
            <a:off x="566928" y="2706624"/>
            <a:ext cx="6291072" cy="365760"/>
          </a:xfrm>
          <a:prstGeom prst="rect">
            <a:avLst/>
          </a:prstGeom>
          <a:noFill/>
          <a:ln/>
        </p:spPr>
        <p:txBody>
          <a:bodyPr wrap="square" lIns="0" tIns="0" rIns="0" bIns="0" rtlCol="0" anchor="ctr"/>
          <a:lstStyle/>
          <a:p>
            <a:pPr indent="0" marL="0">
              <a:lnSpc>
                <a:spcPts val="1150"/>
              </a:lnSpc>
              <a:buNone/>
            </a:pPr>
            <a:r>
              <a:rPr lang="en-US" sz="950" dirty="0">
                <a:solidFill>
                  <a:srgbClr val="123A47"/>
                </a:solidFill>
                <a:latin typeface="Calibri" pitchFamily="34" charset="0"/>
                <a:ea typeface="Calibri" pitchFamily="34" charset="-122"/>
                <a:cs typeface="Calibri" pitchFamily="34" charset="-120"/>
              </a:rPr>
              <a:t>Startup SG Founder: first-time founders only, must not have previously incorporated, ≥30% equity, applies via an Accredited Mentor Partner</a:t>
            </a:r>
            <a:endParaRPr lang="en-US" sz="950" dirty="0"/>
          </a:p>
        </p:txBody>
      </p:sp>
      <p:sp>
        <p:nvSpPr>
          <p:cNvPr id="21" name="Text 19"/>
          <p:cNvSpPr txBox="1"/>
          <p:nvPr/>
        </p:nvSpPr>
        <p:spPr>
          <a:xfrm>
            <a:off x="6967728" y="2706624"/>
            <a:ext cx="3090672" cy="365760"/>
          </a:xfrm>
          <a:prstGeom prst="rect">
            <a:avLst/>
          </a:prstGeom>
          <a:noFill/>
          <a:ln/>
        </p:spPr>
        <p:txBody>
          <a:bodyPr wrap="square" lIns="0" tIns="0" rIns="0" bIns="0" rtlCol="0" anchor="ctr"/>
          <a:lstStyle/>
          <a:p>
            <a:pPr indent="0" marL="0">
              <a:lnSpc>
                <a:spcPts val="1150"/>
              </a:lnSpc>
              <a:buNone/>
            </a:pPr>
            <a:r>
              <a:rPr lang="en-US" sz="950" dirty="0">
                <a:solidFill>
                  <a:srgbClr val="6B7C83"/>
                </a:solidFill>
                <a:latin typeface="Calibri" pitchFamily="34" charset="0"/>
                <a:ea typeface="Calibri" pitchFamily="34" charset="-122"/>
                <a:cs typeface="Calibri" pitchFamily="34" charset="-120"/>
              </a:rPr>
              <a:t>enterprisesg.gov.sg, AMP pages</a:t>
            </a:r>
            <a:endParaRPr lang="en-US" sz="950" dirty="0"/>
          </a:p>
        </p:txBody>
      </p:sp>
      <p:sp>
        <p:nvSpPr>
          <p:cNvPr id="22" name="Text 20"/>
          <p:cNvSpPr txBox="1"/>
          <p:nvPr/>
        </p:nvSpPr>
        <p:spPr>
          <a:xfrm>
            <a:off x="10168128" y="2706624"/>
            <a:ext cx="1316736" cy="365760"/>
          </a:xfrm>
          <a:prstGeom prst="rect">
            <a:avLst/>
          </a:prstGeom>
          <a:noFill/>
          <a:ln/>
        </p:spPr>
        <p:txBody>
          <a:bodyPr wrap="square" lIns="0" tIns="0" rIns="0" bIns="0" rtlCol="0" anchor="ctr"/>
          <a:lstStyle/>
          <a:p>
            <a:pPr indent="0" marL="0">
              <a:lnSpc>
                <a:spcPts val="1150"/>
              </a:lnSpc>
              <a:buNone/>
            </a:pPr>
            <a:r>
              <a:rPr lang="en-US" sz="950" b="1" dirty="0">
                <a:solidFill>
                  <a:srgbClr val="2E7D5B"/>
                </a:solidFill>
                <a:latin typeface="Calibri" pitchFamily="34" charset="0"/>
                <a:ea typeface="Calibri" pitchFamily="34" charset="-122"/>
                <a:cs typeface="Calibri" pitchFamily="34" charset="-120"/>
              </a:rPr>
              <a:t>Primary</a:t>
            </a:r>
            <a:endParaRPr lang="en-US" sz="950" dirty="0"/>
          </a:p>
        </p:txBody>
      </p:sp>
      <p:sp>
        <p:nvSpPr>
          <p:cNvPr id="23" name="Shape 21"/>
          <p:cNvSpPr/>
          <p:nvPr/>
        </p:nvSpPr>
        <p:spPr>
          <a:xfrm>
            <a:off x="475488" y="3081528"/>
            <a:ext cx="11210544" cy="384048"/>
          </a:xfrm>
          <a:prstGeom prst="rect">
            <a:avLst/>
          </a:prstGeom>
          <a:solidFill>
            <a:srgbClr val="EDF2F3"/>
          </a:solidFill>
          <a:ln w="12700">
            <a:solidFill>
              <a:srgbClr val="EDF2F3"/>
            </a:solidFill>
            <a:prstDash val="solid"/>
          </a:ln>
        </p:spPr>
      </p:sp>
      <p:sp>
        <p:nvSpPr>
          <p:cNvPr id="24" name="Text 22"/>
          <p:cNvSpPr txBox="1"/>
          <p:nvPr/>
        </p:nvSpPr>
        <p:spPr>
          <a:xfrm>
            <a:off x="566928" y="3108960"/>
            <a:ext cx="6291072" cy="365760"/>
          </a:xfrm>
          <a:prstGeom prst="rect">
            <a:avLst/>
          </a:prstGeom>
          <a:noFill/>
          <a:ln/>
        </p:spPr>
        <p:txBody>
          <a:bodyPr wrap="square" lIns="0" tIns="0" rIns="0" bIns="0" rtlCol="0" anchor="ctr"/>
          <a:lstStyle/>
          <a:p>
            <a:pPr indent="0" marL="0">
              <a:lnSpc>
                <a:spcPts val="1150"/>
              </a:lnSpc>
              <a:buNone/>
            </a:pPr>
            <a:r>
              <a:rPr lang="en-US" sz="950" dirty="0">
                <a:solidFill>
                  <a:srgbClr val="123A47"/>
                </a:solidFill>
                <a:latin typeface="Calibri" pitchFamily="34" charset="0"/>
                <a:ea typeface="Calibri" pitchFamily="34" charset="-122"/>
                <a:cs typeface="Calibri" pitchFamily="34" charset="-120"/>
              </a:rPr>
              <a:t>Startup SG Founder grant quantum and matching ratio</a:t>
            </a:r>
            <a:endParaRPr lang="en-US" sz="950" dirty="0"/>
          </a:p>
        </p:txBody>
      </p:sp>
      <p:sp>
        <p:nvSpPr>
          <p:cNvPr id="25" name="Text 23"/>
          <p:cNvSpPr txBox="1"/>
          <p:nvPr/>
        </p:nvSpPr>
        <p:spPr>
          <a:xfrm>
            <a:off x="6967728" y="3108960"/>
            <a:ext cx="3090672" cy="365760"/>
          </a:xfrm>
          <a:prstGeom prst="rect">
            <a:avLst/>
          </a:prstGeom>
          <a:noFill/>
          <a:ln/>
        </p:spPr>
        <p:txBody>
          <a:bodyPr wrap="square" lIns="0" tIns="0" rIns="0" bIns="0" rtlCol="0" anchor="ctr"/>
          <a:lstStyle/>
          <a:p>
            <a:pPr indent="0" marL="0">
              <a:lnSpc>
                <a:spcPts val="1150"/>
              </a:lnSpc>
              <a:buNone/>
            </a:pPr>
            <a:r>
              <a:rPr lang="en-US" sz="950" dirty="0">
                <a:solidFill>
                  <a:srgbClr val="6B7C83"/>
                </a:solidFill>
                <a:latin typeface="Calibri" pitchFamily="34" charset="0"/>
                <a:ea typeface="Calibri" pitchFamily="34" charset="-122"/>
                <a:cs typeface="Calibri" pitchFamily="34" charset="-120"/>
              </a:rPr>
              <a:t>Vendor blogs only; agency page did not resolve</a:t>
            </a:r>
            <a:endParaRPr lang="en-US" sz="950" dirty="0"/>
          </a:p>
        </p:txBody>
      </p:sp>
      <p:sp>
        <p:nvSpPr>
          <p:cNvPr id="26" name="Text 24"/>
          <p:cNvSpPr txBox="1"/>
          <p:nvPr/>
        </p:nvSpPr>
        <p:spPr>
          <a:xfrm>
            <a:off x="10168128" y="3108960"/>
            <a:ext cx="1316736" cy="365760"/>
          </a:xfrm>
          <a:prstGeom prst="rect">
            <a:avLst/>
          </a:prstGeom>
          <a:noFill/>
          <a:ln/>
        </p:spPr>
        <p:txBody>
          <a:bodyPr wrap="square" lIns="0" tIns="0" rIns="0" bIns="0" rtlCol="0" anchor="ctr"/>
          <a:lstStyle/>
          <a:p>
            <a:pPr indent="0" marL="0">
              <a:lnSpc>
                <a:spcPts val="1150"/>
              </a:lnSpc>
              <a:buNone/>
            </a:pPr>
            <a:r>
              <a:rPr lang="en-US" sz="950" b="1" dirty="0">
                <a:solidFill>
                  <a:srgbClr val="8A5A5A"/>
                </a:solidFill>
                <a:latin typeface="Calibri" pitchFamily="34" charset="0"/>
                <a:ea typeface="Calibri" pitchFamily="34" charset="-122"/>
                <a:cs typeface="Calibri" pitchFamily="34" charset="-120"/>
              </a:rPr>
              <a:t>Unverified — never blocks</a:t>
            </a:r>
            <a:endParaRPr lang="en-US" sz="950" dirty="0"/>
          </a:p>
        </p:txBody>
      </p:sp>
      <p:sp>
        <p:nvSpPr>
          <p:cNvPr id="27" name="Text 25"/>
          <p:cNvSpPr txBox="1"/>
          <p:nvPr/>
        </p:nvSpPr>
        <p:spPr>
          <a:xfrm>
            <a:off x="566928" y="3511296"/>
            <a:ext cx="6291072" cy="365760"/>
          </a:xfrm>
          <a:prstGeom prst="rect">
            <a:avLst/>
          </a:prstGeom>
          <a:noFill/>
          <a:ln/>
        </p:spPr>
        <p:txBody>
          <a:bodyPr wrap="square" lIns="0" tIns="0" rIns="0" bIns="0" rtlCol="0" anchor="ctr"/>
          <a:lstStyle/>
          <a:p>
            <a:pPr indent="0" marL="0">
              <a:lnSpc>
                <a:spcPts val="1150"/>
              </a:lnSpc>
              <a:buNone/>
            </a:pPr>
            <a:r>
              <a:rPr lang="en-US" sz="950" dirty="0">
                <a:solidFill>
                  <a:srgbClr val="123A47"/>
                </a:solidFill>
                <a:latin typeface="Calibri" pitchFamily="34" charset="0"/>
                <a:ea typeface="Calibri" pitchFamily="34" charset="-122"/>
                <a:cs typeface="Calibri" pitchFamily="34" charset="-120"/>
              </a:rPr>
              <a:t>Myinfo Business auto-populates corporate data with consent; integration requires a government-assessed linkup</a:t>
            </a:r>
            <a:endParaRPr lang="en-US" sz="950" dirty="0"/>
          </a:p>
        </p:txBody>
      </p:sp>
      <p:sp>
        <p:nvSpPr>
          <p:cNvPr id="28" name="Text 26"/>
          <p:cNvSpPr txBox="1"/>
          <p:nvPr/>
        </p:nvSpPr>
        <p:spPr>
          <a:xfrm>
            <a:off x="6967728" y="3511296"/>
            <a:ext cx="3090672" cy="365760"/>
          </a:xfrm>
          <a:prstGeom prst="rect">
            <a:avLst/>
          </a:prstGeom>
          <a:noFill/>
          <a:ln/>
        </p:spPr>
        <p:txBody>
          <a:bodyPr wrap="square" lIns="0" tIns="0" rIns="0" bIns="0" rtlCol="0" anchor="ctr"/>
          <a:lstStyle/>
          <a:p>
            <a:pPr indent="0" marL="0">
              <a:lnSpc>
                <a:spcPts val="1150"/>
              </a:lnSpc>
              <a:buNone/>
            </a:pPr>
            <a:r>
              <a:rPr lang="en-US" sz="950" dirty="0">
                <a:solidFill>
                  <a:srgbClr val="6B7C83"/>
                </a:solidFill>
                <a:latin typeface="Calibri" pitchFamily="34" charset="0"/>
                <a:ea typeface="Calibri" pitchFamily="34" charset="-122"/>
                <a:cs typeface="Calibri" pitchFamily="34" charset="-120"/>
              </a:rPr>
              <a:t>singpass.gov.sg, GovTech</a:t>
            </a:r>
            <a:endParaRPr lang="en-US" sz="950" dirty="0"/>
          </a:p>
        </p:txBody>
      </p:sp>
      <p:sp>
        <p:nvSpPr>
          <p:cNvPr id="29" name="Text 27"/>
          <p:cNvSpPr txBox="1"/>
          <p:nvPr/>
        </p:nvSpPr>
        <p:spPr>
          <a:xfrm>
            <a:off x="10168128" y="3511296"/>
            <a:ext cx="1316736" cy="365760"/>
          </a:xfrm>
          <a:prstGeom prst="rect">
            <a:avLst/>
          </a:prstGeom>
          <a:noFill/>
          <a:ln/>
        </p:spPr>
        <p:txBody>
          <a:bodyPr wrap="square" lIns="0" tIns="0" rIns="0" bIns="0" rtlCol="0" anchor="ctr"/>
          <a:lstStyle/>
          <a:p>
            <a:pPr indent="0" marL="0">
              <a:lnSpc>
                <a:spcPts val="1150"/>
              </a:lnSpc>
              <a:buNone/>
            </a:pPr>
            <a:r>
              <a:rPr lang="en-US" sz="950" b="1" dirty="0">
                <a:solidFill>
                  <a:srgbClr val="2E7D5B"/>
                </a:solidFill>
                <a:latin typeface="Calibri" pitchFamily="34" charset="0"/>
                <a:ea typeface="Calibri" pitchFamily="34" charset="-122"/>
                <a:cs typeface="Calibri" pitchFamily="34" charset="-120"/>
              </a:rPr>
              <a:t>Primary</a:t>
            </a:r>
            <a:endParaRPr lang="en-US" sz="950" dirty="0"/>
          </a:p>
        </p:txBody>
      </p:sp>
      <p:sp>
        <p:nvSpPr>
          <p:cNvPr id="30" name="Shape 28"/>
          <p:cNvSpPr/>
          <p:nvPr/>
        </p:nvSpPr>
        <p:spPr>
          <a:xfrm>
            <a:off x="475488" y="3886200"/>
            <a:ext cx="11210544" cy="384048"/>
          </a:xfrm>
          <a:prstGeom prst="rect">
            <a:avLst/>
          </a:prstGeom>
          <a:solidFill>
            <a:srgbClr val="EDF2F3"/>
          </a:solidFill>
          <a:ln w="12700">
            <a:solidFill>
              <a:srgbClr val="EDF2F3"/>
            </a:solidFill>
            <a:prstDash val="solid"/>
          </a:ln>
        </p:spPr>
      </p:sp>
      <p:sp>
        <p:nvSpPr>
          <p:cNvPr id="31" name="Text 29"/>
          <p:cNvSpPr txBox="1"/>
          <p:nvPr/>
        </p:nvSpPr>
        <p:spPr>
          <a:xfrm>
            <a:off x="566928" y="3913632"/>
            <a:ext cx="6291072" cy="365760"/>
          </a:xfrm>
          <a:prstGeom prst="rect">
            <a:avLst/>
          </a:prstGeom>
          <a:noFill/>
          <a:ln/>
        </p:spPr>
        <p:txBody>
          <a:bodyPr wrap="square" lIns="0" tIns="0" rIns="0" bIns="0" rtlCol="0" anchor="ctr"/>
          <a:lstStyle/>
          <a:p>
            <a:pPr indent="0" marL="0">
              <a:lnSpc>
                <a:spcPts val="1150"/>
              </a:lnSpc>
              <a:buNone/>
            </a:pPr>
            <a:r>
              <a:rPr lang="en-US" sz="950" dirty="0">
                <a:solidFill>
                  <a:srgbClr val="123A47"/>
                </a:solidFill>
                <a:latin typeface="Calibri" pitchFamily="34" charset="0"/>
                <a:ea typeface="Calibri" pitchFamily="34" charset="-122"/>
                <a:cs typeface="Calibri" pitchFamily="34" charset="-120"/>
              </a:rPr>
              <a:t>ACRA registered-entity data is free under the Open Data Licence and needs no authentication</a:t>
            </a:r>
            <a:endParaRPr lang="en-US" sz="950" dirty="0"/>
          </a:p>
        </p:txBody>
      </p:sp>
      <p:sp>
        <p:nvSpPr>
          <p:cNvPr id="32" name="Text 30"/>
          <p:cNvSpPr txBox="1"/>
          <p:nvPr/>
        </p:nvSpPr>
        <p:spPr>
          <a:xfrm>
            <a:off x="6967728" y="3913632"/>
            <a:ext cx="3090672" cy="365760"/>
          </a:xfrm>
          <a:prstGeom prst="rect">
            <a:avLst/>
          </a:prstGeom>
          <a:noFill/>
          <a:ln/>
        </p:spPr>
        <p:txBody>
          <a:bodyPr wrap="square" lIns="0" tIns="0" rIns="0" bIns="0" rtlCol="0" anchor="ctr"/>
          <a:lstStyle/>
          <a:p>
            <a:pPr indent="0" marL="0">
              <a:lnSpc>
                <a:spcPts val="1150"/>
              </a:lnSpc>
              <a:buNone/>
            </a:pPr>
            <a:r>
              <a:rPr lang="en-US" sz="950" dirty="0">
                <a:solidFill>
                  <a:srgbClr val="6B7C83"/>
                </a:solidFill>
                <a:latin typeface="Calibri" pitchFamily="34" charset="0"/>
                <a:ea typeface="Calibri" pitchFamily="34" charset="-122"/>
                <a:cs typeface="Calibri" pitchFamily="34" charset="-120"/>
              </a:rPr>
              <a:t>data.gov.sg</a:t>
            </a:r>
            <a:endParaRPr lang="en-US" sz="950" dirty="0"/>
          </a:p>
        </p:txBody>
      </p:sp>
      <p:sp>
        <p:nvSpPr>
          <p:cNvPr id="33" name="Text 31"/>
          <p:cNvSpPr txBox="1"/>
          <p:nvPr/>
        </p:nvSpPr>
        <p:spPr>
          <a:xfrm>
            <a:off x="10168128" y="3913632"/>
            <a:ext cx="1316736" cy="365760"/>
          </a:xfrm>
          <a:prstGeom prst="rect">
            <a:avLst/>
          </a:prstGeom>
          <a:noFill/>
          <a:ln/>
        </p:spPr>
        <p:txBody>
          <a:bodyPr wrap="square" lIns="0" tIns="0" rIns="0" bIns="0" rtlCol="0" anchor="ctr"/>
          <a:lstStyle/>
          <a:p>
            <a:pPr indent="0" marL="0">
              <a:lnSpc>
                <a:spcPts val="1150"/>
              </a:lnSpc>
              <a:buNone/>
            </a:pPr>
            <a:r>
              <a:rPr lang="en-US" sz="950" b="1" dirty="0">
                <a:solidFill>
                  <a:srgbClr val="2E7D5B"/>
                </a:solidFill>
                <a:latin typeface="Calibri" pitchFamily="34" charset="0"/>
                <a:ea typeface="Calibri" pitchFamily="34" charset="-122"/>
                <a:cs typeface="Calibri" pitchFamily="34" charset="-120"/>
              </a:rPr>
              <a:t>Primary</a:t>
            </a:r>
            <a:endParaRPr lang="en-US" sz="950" dirty="0"/>
          </a:p>
        </p:txBody>
      </p:sp>
      <p:sp>
        <p:nvSpPr>
          <p:cNvPr id="34" name="Text 32"/>
          <p:cNvSpPr txBox="1"/>
          <p:nvPr/>
        </p:nvSpPr>
        <p:spPr>
          <a:xfrm>
            <a:off x="566928" y="4315968"/>
            <a:ext cx="6291072" cy="365760"/>
          </a:xfrm>
          <a:prstGeom prst="rect">
            <a:avLst/>
          </a:prstGeom>
          <a:noFill/>
          <a:ln/>
        </p:spPr>
        <p:txBody>
          <a:bodyPr wrap="square" lIns="0" tIns="0" rIns="0" bIns="0" rtlCol="0" anchor="ctr"/>
          <a:lstStyle/>
          <a:p>
            <a:pPr indent="0" marL="0">
              <a:lnSpc>
                <a:spcPts val="1150"/>
              </a:lnSpc>
              <a:buNone/>
            </a:pPr>
            <a:r>
              <a:rPr lang="en-US" sz="950" dirty="0">
                <a:solidFill>
                  <a:srgbClr val="123A47"/>
                </a:solidFill>
                <a:latin typeface="Calibri" pitchFamily="34" charset="0"/>
                <a:ea typeface="Calibri" pitchFamily="34" charset="-122"/>
                <a:cs typeface="Calibri" pitchFamily="34" charset="-120"/>
              </a:rPr>
              <a:t>Persons with disabilities employment rate 32.7% (2022/2023); target 40% by 2030</a:t>
            </a:r>
            <a:endParaRPr lang="en-US" sz="950" dirty="0"/>
          </a:p>
        </p:txBody>
      </p:sp>
      <p:sp>
        <p:nvSpPr>
          <p:cNvPr id="35" name="Text 33"/>
          <p:cNvSpPr txBox="1"/>
          <p:nvPr/>
        </p:nvSpPr>
        <p:spPr>
          <a:xfrm>
            <a:off x="6967728" y="4315968"/>
            <a:ext cx="3090672" cy="365760"/>
          </a:xfrm>
          <a:prstGeom prst="rect">
            <a:avLst/>
          </a:prstGeom>
          <a:noFill/>
          <a:ln/>
        </p:spPr>
        <p:txBody>
          <a:bodyPr wrap="square" lIns="0" tIns="0" rIns="0" bIns="0" rtlCol="0" anchor="ctr"/>
          <a:lstStyle/>
          <a:p>
            <a:pPr indent="0" marL="0">
              <a:lnSpc>
                <a:spcPts val="1150"/>
              </a:lnSpc>
              <a:buNone/>
            </a:pPr>
            <a:r>
              <a:rPr lang="en-US" sz="950" dirty="0">
                <a:solidFill>
                  <a:srgbClr val="6B7C83"/>
                </a:solidFill>
                <a:latin typeface="Calibri" pitchFamily="34" charset="0"/>
                <a:ea typeface="Calibri" pitchFamily="34" charset="-122"/>
                <a:cs typeface="Calibri" pitchFamily="34" charset="-120"/>
              </a:rPr>
              <a:t>Ministry of Social and Family Development</a:t>
            </a:r>
            <a:endParaRPr lang="en-US" sz="950" dirty="0"/>
          </a:p>
        </p:txBody>
      </p:sp>
      <p:sp>
        <p:nvSpPr>
          <p:cNvPr id="36" name="Text 34"/>
          <p:cNvSpPr txBox="1"/>
          <p:nvPr/>
        </p:nvSpPr>
        <p:spPr>
          <a:xfrm>
            <a:off x="10168128" y="4315968"/>
            <a:ext cx="1316736" cy="365760"/>
          </a:xfrm>
          <a:prstGeom prst="rect">
            <a:avLst/>
          </a:prstGeom>
          <a:noFill/>
          <a:ln/>
        </p:spPr>
        <p:txBody>
          <a:bodyPr wrap="square" lIns="0" tIns="0" rIns="0" bIns="0" rtlCol="0" anchor="ctr"/>
          <a:lstStyle/>
          <a:p>
            <a:pPr indent="0" marL="0">
              <a:lnSpc>
                <a:spcPts val="1150"/>
              </a:lnSpc>
              <a:buNone/>
            </a:pPr>
            <a:r>
              <a:rPr lang="en-US" sz="950" b="1" dirty="0">
                <a:solidFill>
                  <a:srgbClr val="2E7D5B"/>
                </a:solidFill>
                <a:latin typeface="Calibri" pitchFamily="34" charset="0"/>
                <a:ea typeface="Calibri" pitchFamily="34" charset="-122"/>
                <a:cs typeface="Calibri" pitchFamily="34" charset="-120"/>
              </a:rPr>
              <a:t>Primary</a:t>
            </a:r>
            <a:endParaRPr lang="en-US" sz="950" dirty="0"/>
          </a:p>
        </p:txBody>
      </p:sp>
      <p:sp>
        <p:nvSpPr>
          <p:cNvPr id="37" name="Shape 35"/>
          <p:cNvSpPr/>
          <p:nvPr/>
        </p:nvSpPr>
        <p:spPr>
          <a:xfrm>
            <a:off x="475488" y="4690872"/>
            <a:ext cx="11210544" cy="384048"/>
          </a:xfrm>
          <a:prstGeom prst="rect">
            <a:avLst/>
          </a:prstGeom>
          <a:solidFill>
            <a:srgbClr val="EDF2F3"/>
          </a:solidFill>
          <a:ln w="12700">
            <a:solidFill>
              <a:srgbClr val="EDF2F3"/>
            </a:solidFill>
            <a:prstDash val="solid"/>
          </a:ln>
        </p:spPr>
      </p:sp>
      <p:sp>
        <p:nvSpPr>
          <p:cNvPr id="38" name="Text 36"/>
          <p:cNvSpPr txBox="1"/>
          <p:nvPr/>
        </p:nvSpPr>
        <p:spPr>
          <a:xfrm>
            <a:off x="566928" y="4718304"/>
            <a:ext cx="6291072" cy="365760"/>
          </a:xfrm>
          <a:prstGeom prst="rect">
            <a:avLst/>
          </a:prstGeom>
          <a:noFill/>
          <a:ln/>
        </p:spPr>
        <p:txBody>
          <a:bodyPr wrap="square" lIns="0" tIns="0" rIns="0" bIns="0" rtlCol="0" anchor="ctr"/>
          <a:lstStyle/>
          <a:p>
            <a:pPr indent="0" marL="0">
              <a:lnSpc>
                <a:spcPts val="1150"/>
              </a:lnSpc>
              <a:buNone/>
            </a:pPr>
            <a:r>
              <a:rPr lang="en-US" sz="950" dirty="0">
                <a:solidFill>
                  <a:srgbClr val="123A47"/>
                </a:solidFill>
                <a:latin typeface="Calibri" pitchFamily="34" charset="0"/>
                <a:ea typeface="Calibri" pitchFamily="34" charset="-122"/>
                <a:cs typeface="Calibri" pitchFamily="34" charset="-120"/>
              </a:rPr>
              <a:t>SME Centres: EnterpriseSG plus five trade associations, ten centres, free advisory</a:t>
            </a:r>
            <a:endParaRPr lang="en-US" sz="950" dirty="0"/>
          </a:p>
        </p:txBody>
      </p:sp>
      <p:sp>
        <p:nvSpPr>
          <p:cNvPr id="39" name="Text 37"/>
          <p:cNvSpPr txBox="1"/>
          <p:nvPr/>
        </p:nvSpPr>
        <p:spPr>
          <a:xfrm>
            <a:off x="6967728" y="4718304"/>
            <a:ext cx="3090672" cy="365760"/>
          </a:xfrm>
          <a:prstGeom prst="rect">
            <a:avLst/>
          </a:prstGeom>
          <a:noFill/>
          <a:ln/>
        </p:spPr>
        <p:txBody>
          <a:bodyPr wrap="square" lIns="0" tIns="0" rIns="0" bIns="0" rtlCol="0" anchor="ctr"/>
          <a:lstStyle/>
          <a:p>
            <a:pPr indent="0" marL="0">
              <a:lnSpc>
                <a:spcPts val="1150"/>
              </a:lnSpc>
              <a:buNone/>
            </a:pPr>
            <a:r>
              <a:rPr lang="en-US" sz="950" dirty="0">
                <a:solidFill>
                  <a:srgbClr val="6B7C83"/>
                </a:solidFill>
                <a:latin typeface="Calibri" pitchFamily="34" charset="0"/>
                <a:ea typeface="Calibri" pitchFamily="34" charset="-122"/>
                <a:cs typeface="Calibri" pitchFamily="34" charset="-120"/>
              </a:rPr>
              <a:t>enterprisesg.gov.sg</a:t>
            </a:r>
            <a:endParaRPr lang="en-US" sz="950" dirty="0"/>
          </a:p>
        </p:txBody>
      </p:sp>
      <p:sp>
        <p:nvSpPr>
          <p:cNvPr id="40" name="Text 38"/>
          <p:cNvSpPr txBox="1"/>
          <p:nvPr/>
        </p:nvSpPr>
        <p:spPr>
          <a:xfrm>
            <a:off x="10168128" y="4718304"/>
            <a:ext cx="1316736" cy="365760"/>
          </a:xfrm>
          <a:prstGeom prst="rect">
            <a:avLst/>
          </a:prstGeom>
          <a:noFill/>
          <a:ln/>
        </p:spPr>
        <p:txBody>
          <a:bodyPr wrap="square" lIns="0" tIns="0" rIns="0" bIns="0" rtlCol="0" anchor="ctr"/>
          <a:lstStyle/>
          <a:p>
            <a:pPr indent="0" marL="0">
              <a:lnSpc>
                <a:spcPts val="1150"/>
              </a:lnSpc>
              <a:buNone/>
            </a:pPr>
            <a:r>
              <a:rPr lang="en-US" sz="950" b="1" dirty="0">
                <a:solidFill>
                  <a:srgbClr val="2E7D5B"/>
                </a:solidFill>
                <a:latin typeface="Calibri" pitchFamily="34" charset="0"/>
                <a:ea typeface="Calibri" pitchFamily="34" charset="-122"/>
                <a:cs typeface="Calibri" pitchFamily="34" charset="-120"/>
              </a:rPr>
              <a:t>Primary</a:t>
            </a:r>
            <a:endParaRPr lang="en-US" sz="950" dirty="0"/>
          </a:p>
        </p:txBody>
      </p:sp>
      <p:sp>
        <p:nvSpPr>
          <p:cNvPr id="41" name="Text 39"/>
          <p:cNvSpPr txBox="1"/>
          <p:nvPr/>
        </p:nvSpPr>
        <p:spPr>
          <a:xfrm>
            <a:off x="566928" y="5120640"/>
            <a:ext cx="6291072" cy="365760"/>
          </a:xfrm>
          <a:prstGeom prst="rect">
            <a:avLst/>
          </a:prstGeom>
          <a:noFill/>
          <a:ln/>
        </p:spPr>
        <p:txBody>
          <a:bodyPr wrap="square" lIns="0" tIns="0" rIns="0" bIns="0" rtlCol="0" anchor="ctr"/>
          <a:lstStyle/>
          <a:p>
            <a:pPr indent="0" marL="0">
              <a:lnSpc>
                <a:spcPts val="1150"/>
              </a:lnSpc>
              <a:buNone/>
            </a:pPr>
            <a:r>
              <a:rPr lang="en-US" sz="950" dirty="0">
                <a:solidFill>
                  <a:srgbClr val="123A47"/>
                </a:solidFill>
                <a:latin typeface="Calibri" pitchFamily="34" charset="0"/>
                <a:ea typeface="Calibri" pitchFamily="34" charset="-122"/>
                <a:cs typeface="Calibri" pitchFamily="34" charset="-120"/>
              </a:rPr>
              <a:t>Grantable and Instrumentl pricing, mechanics and positioning</a:t>
            </a:r>
            <a:endParaRPr lang="en-US" sz="950" dirty="0"/>
          </a:p>
        </p:txBody>
      </p:sp>
      <p:sp>
        <p:nvSpPr>
          <p:cNvPr id="42" name="Text 40"/>
          <p:cNvSpPr txBox="1"/>
          <p:nvPr/>
        </p:nvSpPr>
        <p:spPr>
          <a:xfrm>
            <a:off x="6967728" y="5120640"/>
            <a:ext cx="3090672" cy="365760"/>
          </a:xfrm>
          <a:prstGeom prst="rect">
            <a:avLst/>
          </a:prstGeom>
          <a:noFill/>
          <a:ln/>
        </p:spPr>
        <p:txBody>
          <a:bodyPr wrap="square" lIns="0" tIns="0" rIns="0" bIns="0" rtlCol="0" anchor="ctr"/>
          <a:lstStyle/>
          <a:p>
            <a:pPr indent="0" marL="0">
              <a:lnSpc>
                <a:spcPts val="1150"/>
              </a:lnSpc>
              <a:buNone/>
            </a:pPr>
            <a:r>
              <a:rPr lang="en-US" sz="950" dirty="0">
                <a:solidFill>
                  <a:srgbClr val="6B7C83"/>
                </a:solidFill>
                <a:latin typeface="Calibri" pitchFamily="34" charset="0"/>
                <a:ea typeface="Calibri" pitchFamily="34" charset="-122"/>
                <a:cs typeface="Calibri" pitchFamily="34" charset="-120"/>
              </a:rPr>
              <a:t>Published industry reviews</a:t>
            </a:r>
            <a:endParaRPr lang="en-US" sz="950" dirty="0"/>
          </a:p>
        </p:txBody>
      </p:sp>
      <p:sp>
        <p:nvSpPr>
          <p:cNvPr id="43" name="Text 41"/>
          <p:cNvSpPr txBox="1"/>
          <p:nvPr/>
        </p:nvSpPr>
        <p:spPr>
          <a:xfrm>
            <a:off x="10168128" y="5120640"/>
            <a:ext cx="1316736" cy="365760"/>
          </a:xfrm>
          <a:prstGeom prst="rect">
            <a:avLst/>
          </a:prstGeom>
          <a:noFill/>
          <a:ln/>
        </p:spPr>
        <p:txBody>
          <a:bodyPr wrap="square" lIns="0" tIns="0" rIns="0" bIns="0" rtlCol="0" anchor="ctr"/>
          <a:lstStyle/>
          <a:p>
            <a:pPr indent="0" marL="0">
              <a:lnSpc>
                <a:spcPts val="1150"/>
              </a:lnSpc>
              <a:buNone/>
            </a:pPr>
            <a:r>
              <a:rPr lang="en-US" sz="950" b="1" dirty="0">
                <a:solidFill>
                  <a:srgbClr val="C77D22"/>
                </a:solidFill>
                <a:latin typeface="Calibri" pitchFamily="34" charset="0"/>
                <a:ea typeface="Calibri" pitchFamily="34" charset="-122"/>
                <a:cs typeface="Calibri" pitchFamily="34" charset="-120"/>
              </a:rPr>
              <a:t>Secondary — attributed</a:t>
            </a:r>
            <a:endParaRPr lang="en-US" sz="950" dirty="0"/>
          </a:p>
        </p:txBody>
      </p:sp>
      <p:sp>
        <p:nvSpPr>
          <p:cNvPr id="44" name="Shape 42"/>
          <p:cNvSpPr/>
          <p:nvPr/>
        </p:nvSpPr>
        <p:spPr>
          <a:xfrm>
            <a:off x="475488" y="5495544"/>
            <a:ext cx="11210544" cy="384048"/>
          </a:xfrm>
          <a:prstGeom prst="rect">
            <a:avLst/>
          </a:prstGeom>
          <a:solidFill>
            <a:srgbClr val="EDF2F3"/>
          </a:solidFill>
          <a:ln w="12700">
            <a:solidFill>
              <a:srgbClr val="EDF2F3"/>
            </a:solidFill>
            <a:prstDash val="solid"/>
          </a:ln>
        </p:spPr>
      </p:sp>
      <p:sp>
        <p:nvSpPr>
          <p:cNvPr id="45" name="Text 43"/>
          <p:cNvSpPr txBox="1"/>
          <p:nvPr/>
        </p:nvSpPr>
        <p:spPr>
          <a:xfrm>
            <a:off x="566928" y="5522976"/>
            <a:ext cx="6291072" cy="365760"/>
          </a:xfrm>
          <a:prstGeom prst="rect">
            <a:avLst/>
          </a:prstGeom>
          <a:noFill/>
          <a:ln/>
        </p:spPr>
        <p:txBody>
          <a:bodyPr wrap="square" lIns="0" tIns="0" rIns="0" bIns="0" rtlCol="0" anchor="ctr"/>
          <a:lstStyle/>
          <a:p>
            <a:pPr indent="0" marL="0">
              <a:lnSpc>
                <a:spcPts val="1150"/>
              </a:lnSpc>
              <a:buNone/>
            </a:pPr>
            <a:r>
              <a:rPr lang="en-US" sz="950" dirty="0">
                <a:solidFill>
                  <a:srgbClr val="123A47"/>
                </a:solidFill>
                <a:latin typeface="Calibri" pitchFamily="34" charset="0"/>
                <a:ea typeface="Calibri" pitchFamily="34" charset="-122"/>
                <a:cs typeface="Calibri" pitchFamily="34" charset="-120"/>
              </a:rPr>
              <a:t>68% of nonprofits cite time as their main grant-seeking challenge; 24% cite lack of staff</a:t>
            </a:r>
            <a:endParaRPr lang="en-US" sz="950" dirty="0"/>
          </a:p>
        </p:txBody>
      </p:sp>
      <p:sp>
        <p:nvSpPr>
          <p:cNvPr id="46" name="Text 44"/>
          <p:cNvSpPr txBox="1"/>
          <p:nvPr/>
        </p:nvSpPr>
        <p:spPr>
          <a:xfrm>
            <a:off x="6967728" y="5522976"/>
            <a:ext cx="3090672" cy="365760"/>
          </a:xfrm>
          <a:prstGeom prst="rect">
            <a:avLst/>
          </a:prstGeom>
          <a:noFill/>
          <a:ln/>
        </p:spPr>
        <p:txBody>
          <a:bodyPr wrap="square" lIns="0" tIns="0" rIns="0" bIns="0" rtlCol="0" anchor="ctr"/>
          <a:lstStyle/>
          <a:p>
            <a:pPr indent="0" marL="0">
              <a:lnSpc>
                <a:spcPts val="1150"/>
              </a:lnSpc>
              <a:buNone/>
            </a:pPr>
            <a:r>
              <a:rPr lang="en-US" sz="950" dirty="0">
                <a:solidFill>
                  <a:srgbClr val="6B7C83"/>
                </a:solidFill>
                <a:latin typeface="Calibri" pitchFamily="34" charset="0"/>
                <a:ea typeface="Calibri" pitchFamily="34" charset="-122"/>
                <a:cs typeface="Calibri" pitchFamily="34" charset="-120"/>
              </a:rPr>
              <a:t>Sector report cited in reviews</a:t>
            </a:r>
            <a:endParaRPr lang="en-US" sz="950" dirty="0"/>
          </a:p>
        </p:txBody>
      </p:sp>
      <p:sp>
        <p:nvSpPr>
          <p:cNvPr id="47" name="Text 45"/>
          <p:cNvSpPr txBox="1"/>
          <p:nvPr/>
        </p:nvSpPr>
        <p:spPr>
          <a:xfrm>
            <a:off x="10168128" y="5522976"/>
            <a:ext cx="1316736" cy="365760"/>
          </a:xfrm>
          <a:prstGeom prst="rect">
            <a:avLst/>
          </a:prstGeom>
          <a:noFill/>
          <a:ln/>
        </p:spPr>
        <p:txBody>
          <a:bodyPr wrap="square" lIns="0" tIns="0" rIns="0" bIns="0" rtlCol="0" anchor="ctr"/>
          <a:lstStyle/>
          <a:p>
            <a:pPr indent="0" marL="0">
              <a:lnSpc>
                <a:spcPts val="1150"/>
              </a:lnSpc>
              <a:buNone/>
            </a:pPr>
            <a:r>
              <a:rPr lang="en-US" sz="950" b="1" dirty="0">
                <a:solidFill>
                  <a:srgbClr val="C77D22"/>
                </a:solidFill>
                <a:latin typeface="Calibri" pitchFamily="34" charset="0"/>
                <a:ea typeface="Calibri" pitchFamily="34" charset="-122"/>
                <a:cs typeface="Calibri" pitchFamily="34" charset="-120"/>
              </a:rPr>
              <a:t>Secondary — attributed</a:t>
            </a:r>
            <a:endParaRPr lang="en-US" sz="950" dirty="0"/>
          </a:p>
        </p:txBody>
      </p:sp>
      <p:sp>
        <p:nvSpPr>
          <p:cNvPr id="48" name="Text 46"/>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Rules in the product carry the same source URL and a last-checked date, shown to the founder on the result. When a funder changes a criterion, that is a one-line data edit, not a code change.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APPENDIX A2</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Appendix</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Why the order of the steps is the product.</a:t>
            </a:r>
            <a:endParaRPr lang="en-US" sz="2700" dirty="0"/>
          </a:p>
        </p:txBody>
      </p:sp>
      <p:sp>
        <p:nvSpPr>
          <p:cNvPr id="6" name="Text 4"/>
          <p:cNvSpPr txBox="1"/>
          <p:nvPr/>
        </p:nvSpPr>
        <p:spPr>
          <a:xfrm>
            <a:off x="566928" y="1170432"/>
            <a:ext cx="9509760" cy="457200"/>
          </a:xfrm>
          <a:prstGeom prst="rect">
            <a:avLst/>
          </a:prstGeom>
          <a:noFill/>
          <a:ln/>
        </p:spPr>
        <p:txBody>
          <a:bodyPr wrap="square" lIns="0" tIns="0" rIns="0" bIns="0" rtlCol="0" anchor="t"/>
          <a:lstStyle/>
          <a:p>
            <a:pPr indent="0" marL="0">
              <a:lnSpc>
                <a:spcPts val="1600"/>
              </a:lnSpc>
              <a:buNone/>
            </a:pPr>
            <a:r>
              <a:rPr lang="en-US" sz="1250" dirty="0">
                <a:solidFill>
                  <a:srgbClr val="123A47"/>
                </a:solidFill>
                <a:latin typeface="Calibri" pitchFamily="34" charset="0"/>
                <a:ea typeface="Calibri" pitchFamily="34" charset="-122"/>
                <a:cs typeface="Calibri" pitchFamily="34" charset="-120"/>
              </a:rPr>
              <a:t>A readiness checklist that lists what is missing is not enough. The steps depend on each other, and getting the order wrong tells a founder to do something impossible.</a:t>
            </a:r>
            <a:endParaRPr lang="en-US" sz="1250" dirty="0"/>
          </a:p>
        </p:txBody>
      </p:sp>
      <p:sp>
        <p:nvSpPr>
          <p:cNvPr id="7" name="Shape 5"/>
          <p:cNvSpPr/>
          <p:nvPr/>
        </p:nvSpPr>
        <p:spPr>
          <a:xfrm>
            <a:off x="566928" y="1828800"/>
            <a:ext cx="2615184" cy="1463040"/>
          </a:xfrm>
          <a:prstGeom prst="roundRect">
            <a:avLst>
              <a:gd name="adj" fmla="val 4375"/>
            </a:avLst>
          </a:prstGeom>
          <a:solidFill>
            <a:srgbClr val="FFFFFF"/>
          </a:solidFill>
          <a:ln w="9525">
            <a:solidFill>
              <a:srgbClr val="D5DFE2"/>
            </a:solidFill>
            <a:prstDash val="solid"/>
          </a:ln>
        </p:spPr>
      </p:sp>
      <p:sp>
        <p:nvSpPr>
          <p:cNvPr id="8" name="Text 6"/>
          <p:cNvSpPr txBox="1"/>
          <p:nvPr/>
        </p:nvSpPr>
        <p:spPr>
          <a:xfrm>
            <a:off x="749808" y="1993392"/>
            <a:ext cx="2249424" cy="512064"/>
          </a:xfrm>
          <a:prstGeom prst="rect">
            <a:avLst/>
          </a:prstGeom>
          <a:noFill/>
          <a:ln/>
        </p:spPr>
        <p:txBody>
          <a:bodyPr wrap="square" lIns="0" tIns="0" rIns="0" bIns="0" rtlCol="0" anchor="ctr"/>
          <a:lstStyle/>
          <a:p>
            <a:pPr indent="0" marL="0">
              <a:lnSpc>
                <a:spcPts val="1500"/>
              </a:lnSpc>
              <a:buNone/>
            </a:pPr>
            <a:r>
              <a:rPr lang="en-US" sz="1200" b="1" dirty="0">
                <a:solidFill>
                  <a:srgbClr val="123A47"/>
                </a:solidFill>
                <a:latin typeface="Calibri" pitchFamily="34" charset="0"/>
                <a:ea typeface="Calibri" pitchFamily="34" charset="-122"/>
                <a:cs typeface="Calibri" pitchFamily="34" charset="-120"/>
              </a:rPr>
              <a:t>Ren today</a:t>
            </a:r>
            <a:endParaRPr lang="en-US" sz="1200" dirty="0"/>
          </a:p>
        </p:txBody>
      </p:sp>
      <p:sp>
        <p:nvSpPr>
          <p:cNvPr id="9" name="Text 7"/>
          <p:cNvSpPr txBox="1"/>
          <p:nvPr/>
        </p:nvSpPr>
        <p:spPr>
          <a:xfrm>
            <a:off x="749808" y="2523744"/>
            <a:ext cx="2249424" cy="658368"/>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Pre-incorporation. No ACRA record, no raiSE membership.</a:t>
            </a:r>
            <a:endParaRPr lang="en-US" sz="1050" dirty="0"/>
          </a:p>
        </p:txBody>
      </p:sp>
      <p:sp>
        <p:nvSpPr>
          <p:cNvPr id="10" name="Text 8"/>
          <p:cNvSpPr txBox="1"/>
          <p:nvPr/>
        </p:nvSpPr>
        <p:spPr>
          <a:xfrm>
            <a:off x="3182112" y="2377440"/>
            <a:ext cx="256032" cy="365760"/>
          </a:xfrm>
          <a:prstGeom prst="rect">
            <a:avLst/>
          </a:prstGeom>
          <a:noFill/>
          <a:ln/>
        </p:spPr>
        <p:txBody>
          <a:bodyPr wrap="square" lIns="0" tIns="0" rIns="0" bIns="0" rtlCol="0" anchor="ctr"/>
          <a:lstStyle/>
          <a:p>
            <a:pPr algn="ctr" indent="0" marL="0">
              <a:buNone/>
            </a:pPr>
            <a:r>
              <a:rPr lang="en-US" sz="1800" dirty="0">
                <a:solidFill>
                  <a:srgbClr val="6B7C83"/>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438144" y="1828800"/>
            <a:ext cx="2615184" cy="1463040"/>
          </a:xfrm>
          <a:prstGeom prst="roundRect">
            <a:avLst>
              <a:gd name="adj" fmla="val 4375"/>
            </a:avLst>
          </a:prstGeom>
          <a:solidFill>
            <a:srgbClr val="EDF2F3"/>
          </a:solidFill>
          <a:ln w="9525">
            <a:solidFill>
              <a:srgbClr val="1C7293"/>
            </a:solidFill>
            <a:prstDash val="solid"/>
          </a:ln>
        </p:spPr>
      </p:sp>
      <p:sp>
        <p:nvSpPr>
          <p:cNvPr id="12" name="Text 10"/>
          <p:cNvSpPr txBox="1"/>
          <p:nvPr/>
        </p:nvSpPr>
        <p:spPr>
          <a:xfrm>
            <a:off x="3621024" y="1993392"/>
            <a:ext cx="2249424" cy="512064"/>
          </a:xfrm>
          <a:prstGeom prst="rect">
            <a:avLst/>
          </a:prstGeom>
          <a:noFill/>
          <a:ln/>
        </p:spPr>
        <p:txBody>
          <a:bodyPr wrap="square" lIns="0" tIns="0" rIns="0" bIns="0" rtlCol="0" anchor="ctr"/>
          <a:lstStyle/>
          <a:p>
            <a:pPr indent="0" marL="0">
              <a:lnSpc>
                <a:spcPts val="1500"/>
              </a:lnSpc>
              <a:buNone/>
            </a:pPr>
            <a:r>
              <a:rPr lang="en-US" sz="1200" b="1" dirty="0">
                <a:solidFill>
                  <a:srgbClr val="123A47"/>
                </a:solidFill>
                <a:latin typeface="Calibri" pitchFamily="34" charset="0"/>
                <a:ea typeface="Calibri" pitchFamily="34" charset="-122"/>
                <a:cs typeface="Calibri" pitchFamily="34" charset="-120"/>
              </a:rPr>
              <a:t>Step 1 · Register with ACRA</a:t>
            </a:r>
            <a:endParaRPr lang="en-US" sz="1200" dirty="0"/>
          </a:p>
        </p:txBody>
      </p:sp>
      <p:sp>
        <p:nvSpPr>
          <p:cNvPr id="13" name="Text 11"/>
          <p:cNvSpPr txBox="1"/>
          <p:nvPr/>
        </p:nvSpPr>
        <p:spPr>
          <a:xfrm>
            <a:off x="3621024" y="2523744"/>
            <a:ext cx="2249424" cy="658368"/>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About one week. Cannot be skipped, because the next step requires it.</a:t>
            </a:r>
            <a:endParaRPr lang="en-US" sz="1050" dirty="0"/>
          </a:p>
        </p:txBody>
      </p:sp>
      <p:sp>
        <p:nvSpPr>
          <p:cNvPr id="14" name="Text 12"/>
          <p:cNvSpPr txBox="1"/>
          <p:nvPr/>
        </p:nvSpPr>
        <p:spPr>
          <a:xfrm>
            <a:off x="6053328" y="2377440"/>
            <a:ext cx="256032" cy="365760"/>
          </a:xfrm>
          <a:prstGeom prst="rect">
            <a:avLst/>
          </a:prstGeom>
          <a:noFill/>
          <a:ln/>
        </p:spPr>
        <p:txBody>
          <a:bodyPr wrap="square" lIns="0" tIns="0" rIns="0" bIns="0" rtlCol="0" anchor="ctr"/>
          <a:lstStyle/>
          <a:p>
            <a:pPr algn="ctr" indent="0" marL="0">
              <a:buNone/>
            </a:pPr>
            <a:r>
              <a:rPr lang="en-US" sz="1800" dirty="0">
                <a:solidFill>
                  <a:srgbClr val="6B7C83"/>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6309360" y="1828800"/>
            <a:ext cx="2615184" cy="1463040"/>
          </a:xfrm>
          <a:prstGeom prst="roundRect">
            <a:avLst>
              <a:gd name="adj" fmla="val 4375"/>
            </a:avLst>
          </a:prstGeom>
          <a:solidFill>
            <a:srgbClr val="F7EEE1"/>
          </a:solidFill>
          <a:ln w="9525">
            <a:solidFill>
              <a:srgbClr val="C77D22"/>
            </a:solidFill>
            <a:prstDash val="solid"/>
          </a:ln>
        </p:spPr>
      </p:sp>
      <p:sp>
        <p:nvSpPr>
          <p:cNvPr id="16" name="Text 14"/>
          <p:cNvSpPr txBox="1"/>
          <p:nvPr/>
        </p:nvSpPr>
        <p:spPr>
          <a:xfrm>
            <a:off x="6492240" y="1993392"/>
            <a:ext cx="2249424" cy="512064"/>
          </a:xfrm>
          <a:prstGeom prst="rect">
            <a:avLst/>
          </a:prstGeom>
          <a:noFill/>
          <a:ln/>
        </p:spPr>
        <p:txBody>
          <a:bodyPr wrap="square" lIns="0" tIns="0" rIns="0" bIns="0" rtlCol="0" anchor="ctr"/>
          <a:lstStyle/>
          <a:p>
            <a:pPr indent="0" marL="0">
              <a:lnSpc>
                <a:spcPts val="1500"/>
              </a:lnSpc>
              <a:buNone/>
            </a:pPr>
            <a:r>
              <a:rPr lang="en-US" sz="1200" b="1" dirty="0">
                <a:solidFill>
                  <a:srgbClr val="123A47"/>
                </a:solidFill>
                <a:latin typeface="Calibri" pitchFamily="34" charset="0"/>
                <a:ea typeface="Calibri" pitchFamily="34" charset="-122"/>
                <a:cs typeface="Calibri" pitchFamily="34" charset="-120"/>
              </a:rPr>
              <a:t>Step 2 · Apply for raiSE membership</a:t>
            </a:r>
            <a:endParaRPr lang="en-US" sz="1200" dirty="0"/>
          </a:p>
        </p:txBody>
      </p:sp>
      <p:sp>
        <p:nvSpPr>
          <p:cNvPr id="17" name="Text 15"/>
          <p:cNvSpPr txBox="1"/>
          <p:nvPr/>
        </p:nvSpPr>
        <p:spPr>
          <a:xfrm>
            <a:off x="6492240" y="2523744"/>
            <a:ext cx="2249424" cy="658368"/>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Four to eight weeks. raiSE will not accept an unregistered business.</a:t>
            </a:r>
            <a:endParaRPr lang="en-US" sz="1050" dirty="0"/>
          </a:p>
        </p:txBody>
      </p:sp>
      <p:sp>
        <p:nvSpPr>
          <p:cNvPr id="18" name="Text 16"/>
          <p:cNvSpPr txBox="1"/>
          <p:nvPr/>
        </p:nvSpPr>
        <p:spPr>
          <a:xfrm>
            <a:off x="8924544" y="2377440"/>
            <a:ext cx="256032" cy="365760"/>
          </a:xfrm>
          <a:prstGeom prst="rect">
            <a:avLst/>
          </a:prstGeom>
          <a:noFill/>
          <a:ln/>
        </p:spPr>
        <p:txBody>
          <a:bodyPr wrap="square" lIns="0" tIns="0" rIns="0" bIns="0" rtlCol="0" anchor="ctr"/>
          <a:lstStyle/>
          <a:p>
            <a:pPr algn="ctr" indent="0" marL="0">
              <a:buNone/>
            </a:pPr>
            <a:r>
              <a:rPr lang="en-US" sz="1800" dirty="0">
                <a:solidFill>
                  <a:srgbClr val="6B7C83"/>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9180576" y="1828800"/>
            <a:ext cx="2615184" cy="1463040"/>
          </a:xfrm>
          <a:prstGeom prst="roundRect">
            <a:avLst>
              <a:gd name="adj" fmla="val 4375"/>
            </a:avLst>
          </a:prstGeom>
          <a:solidFill>
            <a:srgbClr val="E4EFEA"/>
          </a:solidFill>
          <a:ln w="9525">
            <a:solidFill>
              <a:srgbClr val="2E7D5B"/>
            </a:solidFill>
            <a:prstDash val="solid"/>
          </a:ln>
        </p:spPr>
      </p:sp>
      <p:sp>
        <p:nvSpPr>
          <p:cNvPr id="20" name="Text 18"/>
          <p:cNvSpPr txBox="1"/>
          <p:nvPr/>
        </p:nvSpPr>
        <p:spPr>
          <a:xfrm>
            <a:off x="9363456" y="1993392"/>
            <a:ext cx="2249424" cy="512064"/>
          </a:xfrm>
          <a:prstGeom prst="rect">
            <a:avLst/>
          </a:prstGeom>
          <a:noFill/>
          <a:ln/>
        </p:spPr>
        <p:txBody>
          <a:bodyPr wrap="square" lIns="0" tIns="0" rIns="0" bIns="0" rtlCol="0" anchor="ctr"/>
          <a:lstStyle/>
          <a:p>
            <a:pPr indent="0" marL="0">
              <a:lnSpc>
                <a:spcPts val="1500"/>
              </a:lnSpc>
              <a:buNone/>
            </a:pPr>
            <a:r>
              <a:rPr lang="en-US" sz="1200" b="1" dirty="0">
                <a:solidFill>
                  <a:srgbClr val="123A47"/>
                </a:solidFill>
                <a:latin typeface="Calibri" pitchFamily="34" charset="0"/>
                <a:ea typeface="Calibri" pitchFamily="34" charset="-122"/>
                <a:cs typeface="Calibri" pitchFamily="34" charset="-120"/>
              </a:rPr>
              <a:t>Then VentureForGood</a:t>
            </a:r>
            <a:endParaRPr lang="en-US" sz="1200" dirty="0"/>
          </a:p>
        </p:txBody>
      </p:sp>
      <p:sp>
        <p:nvSpPr>
          <p:cNvPr id="21" name="Text 19"/>
          <p:cNvSpPr txBox="1"/>
          <p:nvPr/>
        </p:nvSpPr>
        <p:spPr>
          <a:xfrm>
            <a:off x="9363456" y="2523744"/>
            <a:ext cx="2249424" cy="658368"/>
          </a:xfrm>
          <a:prstGeom prst="rect">
            <a:avLst/>
          </a:prstGeom>
          <a:noFill/>
          <a:ln/>
        </p:spPr>
        <p:txBody>
          <a:bodyPr wrap="square" lIns="0" tIns="0" rIns="0" bIns="0" rtlCol="0" anchor="t"/>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Five stages, four to six months — and only raiSE members pass stage 3 shortlisting.</a:t>
            </a:r>
            <a:endParaRPr lang="en-US" sz="1050" dirty="0"/>
          </a:p>
        </p:txBody>
      </p:sp>
      <p:sp>
        <p:nvSpPr>
          <p:cNvPr id="22" name="Shape 20"/>
          <p:cNvSpPr/>
          <p:nvPr/>
        </p:nvSpPr>
        <p:spPr>
          <a:xfrm>
            <a:off x="566928" y="3566160"/>
            <a:ext cx="5541264" cy="1737360"/>
          </a:xfrm>
          <a:prstGeom prst="roundRect">
            <a:avLst>
              <a:gd name="adj" fmla="val 3684"/>
            </a:avLst>
          </a:prstGeom>
          <a:solidFill>
            <a:srgbClr val="F7EEE1"/>
          </a:solidFill>
          <a:ln w="9525">
            <a:solidFill>
              <a:srgbClr val="C77D22"/>
            </a:solidFill>
            <a:prstDash val="solid"/>
          </a:ln>
        </p:spPr>
      </p:sp>
      <p:sp>
        <p:nvSpPr>
          <p:cNvPr id="23" name="Text 21"/>
          <p:cNvSpPr txBox="1"/>
          <p:nvPr/>
        </p:nvSpPr>
        <p:spPr>
          <a:xfrm>
            <a:off x="822960" y="3749040"/>
            <a:ext cx="5029200" cy="274320"/>
          </a:xfrm>
          <a:prstGeom prst="rect">
            <a:avLst/>
          </a:prstGeom>
          <a:noFill/>
          <a:ln/>
        </p:spPr>
        <p:txBody>
          <a:bodyPr wrap="square" lIns="0" tIns="0" rIns="0" bIns="0" rtlCol="0" anchor="ctr"/>
          <a:lstStyle/>
          <a:p>
            <a:pPr indent="0" marL="0">
              <a:buNone/>
            </a:pPr>
            <a:r>
              <a:rPr lang="en-US" sz="1200" b="1" dirty="0">
                <a:solidFill>
                  <a:srgbClr val="C77D22"/>
                </a:solidFill>
                <a:latin typeface="Calibri" pitchFamily="34" charset="0"/>
                <a:ea typeface="Calibri" pitchFamily="34" charset="-122"/>
                <a:cs typeface="Calibri" pitchFamily="34" charset="-120"/>
              </a:rPr>
              <a:t>The consequence nobody states upfront</a:t>
            </a:r>
            <a:endParaRPr lang="en-US" sz="1200" dirty="0"/>
          </a:p>
        </p:txBody>
      </p:sp>
      <p:sp>
        <p:nvSpPr>
          <p:cNvPr id="24" name="Text 22"/>
          <p:cNvSpPr txBox="1"/>
          <p:nvPr/>
        </p:nvSpPr>
        <p:spPr>
          <a:xfrm>
            <a:off x="822960" y="4059936"/>
            <a:ext cx="5029200" cy="1133856"/>
          </a:xfrm>
          <a:prstGeom prst="rect">
            <a:avLst/>
          </a:prstGeom>
          <a:noFill/>
          <a:ln/>
        </p:spPr>
        <p:txBody>
          <a:bodyPr wrap="square" lIns="0" tIns="0" rIns="0" bIns="0" rtlCol="0" anchor="t"/>
          <a:lstStyle/>
          <a:p>
            <a:pPr indent="0" marL="0">
              <a:lnSpc>
                <a:spcPts val="1500"/>
              </a:lnSpc>
              <a:buNone/>
            </a:pPr>
            <a:r>
              <a:rPr lang="en-US" sz="1150" dirty="0">
                <a:solidFill>
                  <a:srgbClr val="2C5566"/>
                </a:solidFill>
                <a:latin typeface="Calibri" pitchFamily="34" charset="0"/>
                <a:ea typeface="Calibri" pitchFamily="34" charset="-122"/>
                <a:cs typeface="Calibri" pitchFamily="34" charset="-120"/>
              </a:rPr>
              <a:t>A pre-incorporation founder can submit a VentureForGood application at stage 1 and can never be shortlisted at stage 3, because shortlisting passes only raiSE members and raiSE requires registration. Nothing on the application page says so. That is months of work with a ceiling built into it.</a:t>
            </a:r>
            <a:endParaRPr lang="en-US" sz="1150" dirty="0"/>
          </a:p>
        </p:txBody>
      </p:sp>
      <p:sp>
        <p:nvSpPr>
          <p:cNvPr id="25" name="Shape 23"/>
          <p:cNvSpPr/>
          <p:nvPr/>
        </p:nvSpPr>
        <p:spPr>
          <a:xfrm>
            <a:off x="6437376" y="3566160"/>
            <a:ext cx="5541264" cy="1737360"/>
          </a:xfrm>
          <a:prstGeom prst="roundRect">
            <a:avLst>
              <a:gd name="adj" fmla="val 3684"/>
            </a:avLst>
          </a:prstGeom>
          <a:solidFill>
            <a:srgbClr val="EDF2F3"/>
          </a:solidFill>
          <a:ln w="9525">
            <a:solidFill>
              <a:srgbClr val="D5DFE2"/>
            </a:solidFill>
            <a:prstDash val="solid"/>
          </a:ln>
        </p:spPr>
      </p:sp>
      <p:sp>
        <p:nvSpPr>
          <p:cNvPr id="26" name="Text 24"/>
          <p:cNvSpPr txBox="1"/>
          <p:nvPr/>
        </p:nvSpPr>
        <p:spPr>
          <a:xfrm>
            <a:off x="6693408" y="3749040"/>
            <a:ext cx="5029200" cy="27432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What the engine does with it</a:t>
            </a:r>
            <a:endParaRPr lang="en-US" sz="1200" dirty="0"/>
          </a:p>
        </p:txBody>
      </p:sp>
      <p:sp>
        <p:nvSpPr>
          <p:cNvPr id="27" name="Text 25"/>
          <p:cNvSpPr txBox="1"/>
          <p:nvPr/>
        </p:nvSpPr>
        <p:spPr>
          <a:xfrm>
            <a:off x="6693408" y="4059936"/>
            <a:ext cx="5029200" cy="1133856"/>
          </a:xfrm>
          <a:prstGeom prst="rect">
            <a:avLst/>
          </a:prstGeom>
          <a:noFill/>
          <a:ln/>
        </p:spPr>
        <p:txBody>
          <a:bodyPr wrap="square" lIns="0" tIns="0" rIns="0" bIns="0" rtlCol="0" anchor="t"/>
          <a:lstStyle/>
          <a:p>
            <a:pPr indent="0" marL="0">
              <a:lnSpc>
                <a:spcPts val="1500"/>
              </a:lnSpc>
              <a:buNone/>
            </a:pPr>
            <a:r>
              <a:rPr lang="en-US" sz="1150" dirty="0">
                <a:solidFill>
                  <a:srgbClr val="2C5566"/>
                </a:solidFill>
                <a:latin typeface="Calibri" pitchFamily="34" charset="0"/>
                <a:ea typeface="Calibri" pitchFamily="34" charset="-122"/>
                <a:cs typeface="Calibri" pitchFamily="34" charset="-120"/>
              </a:rPr>
              <a:t>Each remedy carries an order and a realistic duration, and the rules record which step depends on which. The founder receives a sequence, not a checklist — and a validator refuses any rule file that orders a prerequisite after the step that needs it.</a:t>
            </a:r>
            <a:endParaRPr lang="en-US" sz="1150" dirty="0"/>
          </a:p>
        </p:txBody>
      </p:sp>
      <p:sp>
        <p:nvSpPr>
          <p:cNvPr id="28" name="Text 26"/>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Sources: raise.sg membership requirements and raise.sg/ventureforgood-grant stage descriptions.</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APPENDIX A3</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Appendix</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What exists today, and what comes next.</a:t>
            </a:r>
            <a:endParaRPr lang="en-US" sz="2700" dirty="0"/>
          </a:p>
        </p:txBody>
      </p:sp>
      <p:sp>
        <p:nvSpPr>
          <p:cNvPr id="6" name="Shape 4"/>
          <p:cNvSpPr/>
          <p:nvPr/>
        </p:nvSpPr>
        <p:spPr>
          <a:xfrm>
            <a:off x="566928" y="1225296"/>
            <a:ext cx="3529584" cy="4206240"/>
          </a:xfrm>
          <a:prstGeom prst="roundRect">
            <a:avLst>
              <a:gd name="adj" fmla="val 1813"/>
            </a:avLst>
          </a:prstGeom>
          <a:solidFill>
            <a:srgbClr val="E4EFEA"/>
          </a:solidFill>
          <a:ln w="9525">
            <a:solidFill>
              <a:srgbClr val="D5DFE2"/>
            </a:solidFill>
            <a:prstDash val="solid"/>
          </a:ln>
        </p:spPr>
      </p:sp>
      <p:sp>
        <p:nvSpPr>
          <p:cNvPr id="7" name="Shape 5"/>
          <p:cNvSpPr/>
          <p:nvPr/>
        </p:nvSpPr>
        <p:spPr>
          <a:xfrm>
            <a:off x="804672" y="1444752"/>
            <a:ext cx="2011680" cy="274320"/>
          </a:xfrm>
          <a:prstGeom prst="roundRect">
            <a:avLst>
              <a:gd name="adj" fmla="val 50000"/>
            </a:avLst>
          </a:prstGeom>
          <a:solidFill>
            <a:srgbClr val="2E7D5B"/>
          </a:solidFill>
          <a:ln w="12700">
            <a:solidFill>
              <a:srgbClr val="2E7D5B"/>
            </a:solidFill>
            <a:prstDash val="solid"/>
          </a:ln>
        </p:spPr>
      </p:sp>
      <p:sp>
        <p:nvSpPr>
          <p:cNvPr id="8" name="Text 6"/>
          <p:cNvSpPr txBox="1"/>
          <p:nvPr/>
        </p:nvSpPr>
        <p:spPr>
          <a:xfrm>
            <a:off x="804672" y="1444752"/>
            <a:ext cx="2011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Working in the prototype</a:t>
            </a:r>
            <a:endParaRPr lang="en-US" sz="1000" dirty="0"/>
          </a:p>
        </p:txBody>
      </p:sp>
      <p:sp>
        <p:nvSpPr>
          <p:cNvPr id="9" name="Text 7"/>
          <p:cNvSpPr txBox="1"/>
          <p:nvPr/>
        </p:nvSpPr>
        <p:spPr>
          <a:xfrm>
            <a:off x="804672" y="1847088"/>
            <a:ext cx="3054096" cy="3438144"/>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Rules engine covering three Singapore schemes, deterministic and offline</a:t>
            </a:r>
            <a:endParaRPr lang="en-US" sz="1050" dirty="0"/>
          </a:p>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Conversational intake, one question per screen, with voice input</a:t>
            </a:r>
            <a:endParaRPr lang="en-US" sz="1050" dirty="0"/>
          </a:p>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Readiness map with three outcome states and ordered remedies</a:t>
            </a:r>
            <a:endParaRPr lang="en-US" sz="1050" dirty="0"/>
          </a:p>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Drafted funder answers with visible provenance flags</a:t>
            </a:r>
            <a:endParaRPr lang="en-US" sz="1050" dirty="0"/>
          </a:p>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Live company verification against the free ACRA dataset</a:t>
            </a:r>
            <a:endParaRPr lang="en-US" sz="1050" dirty="0"/>
          </a:p>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Profile persisted across stages in the browser</a:t>
            </a:r>
            <a:endParaRPr lang="en-US" sz="1050" dirty="0"/>
          </a:p>
        </p:txBody>
      </p:sp>
      <p:sp>
        <p:nvSpPr>
          <p:cNvPr id="10" name="Shape 8"/>
          <p:cNvSpPr/>
          <p:nvPr/>
        </p:nvSpPr>
        <p:spPr>
          <a:xfrm>
            <a:off x="4334256" y="1225296"/>
            <a:ext cx="3529584" cy="4206240"/>
          </a:xfrm>
          <a:prstGeom prst="roundRect">
            <a:avLst>
              <a:gd name="adj" fmla="val 1813"/>
            </a:avLst>
          </a:prstGeom>
          <a:solidFill>
            <a:srgbClr val="F7EEE1"/>
          </a:solidFill>
          <a:ln w="9525">
            <a:solidFill>
              <a:srgbClr val="D5DFE2"/>
            </a:solidFill>
            <a:prstDash val="solid"/>
          </a:ln>
        </p:spPr>
      </p:sp>
      <p:sp>
        <p:nvSpPr>
          <p:cNvPr id="11" name="Shape 9"/>
          <p:cNvSpPr/>
          <p:nvPr/>
        </p:nvSpPr>
        <p:spPr>
          <a:xfrm>
            <a:off x="4572000" y="1444752"/>
            <a:ext cx="2011680" cy="274320"/>
          </a:xfrm>
          <a:prstGeom prst="roundRect">
            <a:avLst>
              <a:gd name="adj" fmla="val 50000"/>
            </a:avLst>
          </a:prstGeom>
          <a:solidFill>
            <a:srgbClr val="C77D22"/>
          </a:solidFill>
          <a:ln w="12700">
            <a:solidFill>
              <a:srgbClr val="C77D22"/>
            </a:solidFill>
            <a:prstDash val="solid"/>
          </a:ln>
        </p:spPr>
      </p:sp>
      <p:sp>
        <p:nvSpPr>
          <p:cNvPr id="12" name="Text 10"/>
          <p:cNvSpPr txBox="1"/>
          <p:nvPr/>
        </p:nvSpPr>
        <p:spPr>
          <a:xfrm>
            <a:off x="4572000" y="1444752"/>
            <a:ext cx="2011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Mocked, and labelled as such</a:t>
            </a:r>
            <a:endParaRPr lang="en-US" sz="1000" dirty="0"/>
          </a:p>
        </p:txBody>
      </p:sp>
      <p:sp>
        <p:nvSpPr>
          <p:cNvPr id="13" name="Text 11"/>
          <p:cNvSpPr txBox="1"/>
          <p:nvPr/>
        </p:nvSpPr>
        <p:spPr>
          <a:xfrm>
            <a:off x="4572000" y="1847088"/>
            <a:ext cx="3054096" cy="3438144"/>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Myinfo Business prefill — government-gated integration</a:t>
            </a:r>
            <a:endParaRPr lang="en-US" sz="1050" dirty="0"/>
          </a:p>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Submission to any funder portal — we never submit on a founder’s behalf</a:t>
            </a:r>
            <a:endParaRPr lang="en-US" sz="1050" dirty="0"/>
          </a:p>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Partner dashboard for intermediaries</a:t>
            </a:r>
            <a:endParaRPr lang="en-US" sz="1050" dirty="0"/>
          </a:p>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Live model calls; demo outputs are pre-generated for reliability, and the pipeline is wired behind a single flag</a:t>
            </a:r>
            <a:endParaRPr lang="en-US" sz="1050" dirty="0"/>
          </a:p>
        </p:txBody>
      </p:sp>
      <p:sp>
        <p:nvSpPr>
          <p:cNvPr id="14" name="Shape 12"/>
          <p:cNvSpPr/>
          <p:nvPr/>
        </p:nvSpPr>
        <p:spPr>
          <a:xfrm>
            <a:off x="8101584" y="1225296"/>
            <a:ext cx="3529584" cy="4206240"/>
          </a:xfrm>
          <a:prstGeom prst="roundRect">
            <a:avLst>
              <a:gd name="adj" fmla="val 1813"/>
            </a:avLst>
          </a:prstGeom>
          <a:solidFill>
            <a:srgbClr val="EDF2F3"/>
          </a:solidFill>
          <a:ln w="9525">
            <a:solidFill>
              <a:srgbClr val="D5DFE2"/>
            </a:solidFill>
            <a:prstDash val="solid"/>
          </a:ln>
        </p:spPr>
      </p:sp>
      <p:sp>
        <p:nvSpPr>
          <p:cNvPr id="15" name="Shape 13"/>
          <p:cNvSpPr/>
          <p:nvPr/>
        </p:nvSpPr>
        <p:spPr>
          <a:xfrm>
            <a:off x="8339328" y="1444752"/>
            <a:ext cx="2011680" cy="274320"/>
          </a:xfrm>
          <a:prstGeom prst="roundRect">
            <a:avLst>
              <a:gd name="adj" fmla="val 50000"/>
            </a:avLst>
          </a:prstGeom>
          <a:solidFill>
            <a:srgbClr val="1C7293"/>
          </a:solidFill>
          <a:ln w="12700">
            <a:solidFill>
              <a:srgbClr val="1C7293"/>
            </a:solidFill>
            <a:prstDash val="solid"/>
          </a:ln>
        </p:spPr>
      </p:sp>
      <p:sp>
        <p:nvSpPr>
          <p:cNvPr id="16" name="Text 14"/>
          <p:cNvSpPr txBox="1"/>
          <p:nvPr/>
        </p:nvSpPr>
        <p:spPr>
          <a:xfrm>
            <a:off x="8339328" y="1444752"/>
            <a:ext cx="2011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Next, in order</a:t>
            </a:r>
            <a:endParaRPr lang="en-US" sz="1000" dirty="0"/>
          </a:p>
        </p:txBody>
      </p:sp>
      <p:sp>
        <p:nvSpPr>
          <p:cNvPr id="17" name="Text 15"/>
          <p:cNvSpPr txBox="1"/>
          <p:nvPr/>
        </p:nvSpPr>
        <p:spPr>
          <a:xfrm>
            <a:off x="8339328" y="1847088"/>
            <a:ext cx="3054096" cy="3438144"/>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One conversation with an intermediary about screening cost per applicant</a:t>
            </a:r>
            <a:endParaRPr lang="en-US" sz="1050" dirty="0"/>
          </a:p>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Usability testing with founders using screen readers — not a proxy, the actual users</a:t>
            </a:r>
            <a:endParaRPr lang="en-US" sz="1050" dirty="0"/>
          </a:p>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Two more schemes, and a review process with a partner who owns the criteria</a:t>
            </a:r>
            <a:endParaRPr lang="en-US" sz="1050" dirty="0"/>
          </a:p>
          <a:p>
            <a:pPr marL="342900" indent="-342900">
              <a:lnSpc>
                <a:spcPts val="1400"/>
              </a:lnSpc>
              <a:spcAft>
                <a:spcPts val="800"/>
              </a:spcAft>
              <a:buSzPct val="100000"/>
              <a:buChar char="•"/>
            </a:pPr>
            <a:r>
              <a:rPr lang="en-US" sz="1050" dirty="0">
                <a:solidFill>
                  <a:srgbClr val="2C5566"/>
                </a:solidFill>
                <a:latin typeface="Calibri" pitchFamily="34" charset="0"/>
                <a:ea typeface="Calibri" pitchFamily="34" charset="-122"/>
                <a:cs typeface="Calibri" pitchFamily="34" charset="-120"/>
              </a:rPr>
              <a:t>Alternative credit signals for the informal economy, once there is a counterparty willing to act on them</a:t>
            </a:r>
            <a:endParaRPr lang="en-US" sz="1050" dirty="0"/>
          </a:p>
        </p:txBody>
      </p:sp>
      <p:sp>
        <p:nvSpPr>
          <p:cNvPr id="18" name="Text 16"/>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The prototype runs locally on the presenting laptop, with no network dependency and no API key anywhere in the repository.</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8229600"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APPENDIX A4</a:t>
            </a:r>
            <a:endParaRPr lang="en-US" sz="1050" dirty="0"/>
          </a:p>
        </p:txBody>
      </p:sp>
      <p:sp>
        <p:nvSpPr>
          <p:cNvPr id="3" name="Shape 1"/>
          <p:cNvSpPr/>
          <p:nvPr/>
        </p:nvSpPr>
        <p:spPr>
          <a:xfrm>
            <a:off x="10222992" y="292608"/>
            <a:ext cx="1371600" cy="310896"/>
          </a:xfrm>
          <a:prstGeom prst="roundRect">
            <a:avLst>
              <a:gd name="adj" fmla="val 50000"/>
            </a:avLst>
          </a:prstGeom>
          <a:solidFill>
            <a:srgbClr val="EDF2F3"/>
          </a:solidFill>
          <a:ln w="9525">
            <a:solidFill>
              <a:srgbClr val="D5DFE2"/>
            </a:solidFill>
            <a:prstDash val="solid"/>
          </a:ln>
        </p:spPr>
      </p:sp>
      <p:sp>
        <p:nvSpPr>
          <p:cNvPr id="4" name="Text 2"/>
          <p:cNvSpPr txBox="1"/>
          <p:nvPr/>
        </p:nvSpPr>
        <p:spPr>
          <a:xfrm>
            <a:off x="10222992" y="292608"/>
            <a:ext cx="1371600" cy="310896"/>
          </a:xfrm>
          <a:prstGeom prst="rect">
            <a:avLst/>
          </a:prstGeom>
          <a:noFill/>
          <a:ln/>
        </p:spPr>
        <p:txBody>
          <a:bodyPr wrap="square" lIns="0" tIns="0" rIns="0" bIns="0" rtlCol="0" anchor="ctr"/>
          <a:lstStyle/>
          <a:p>
            <a:pPr algn="ctr" indent="0" marL="0">
              <a:buNone/>
            </a:pPr>
            <a:r>
              <a:rPr lang="en-US" sz="950" b="1" dirty="0">
                <a:solidFill>
                  <a:srgbClr val="6B7C83"/>
                </a:solidFill>
                <a:latin typeface="Calibri" pitchFamily="34" charset="0"/>
                <a:ea typeface="Calibri" pitchFamily="34" charset="-122"/>
                <a:cs typeface="Calibri" pitchFamily="34" charset="-120"/>
              </a:rPr>
              <a:t>Appendix</a:t>
            </a:r>
            <a:endParaRPr lang="en-US" sz="950" dirty="0"/>
          </a:p>
        </p:txBody>
      </p:sp>
      <p:sp>
        <p:nvSpPr>
          <p:cNvPr id="5" name="Text 3"/>
          <p:cNvSpPr txBox="1"/>
          <p:nvPr/>
        </p:nvSpPr>
        <p:spPr>
          <a:xfrm>
            <a:off x="566928" y="603504"/>
            <a:ext cx="9473184" cy="548640"/>
          </a:xfrm>
          <a:prstGeom prst="rect">
            <a:avLst/>
          </a:prstGeom>
          <a:noFill/>
          <a:ln/>
        </p:spPr>
        <p:txBody>
          <a:bodyPr wrap="square" lIns="0" tIns="0" rIns="0" bIns="0" rtlCol="0" anchor="ctr"/>
          <a:lstStyle/>
          <a:p>
            <a:pPr indent="0" marL="0">
              <a:buNone/>
            </a:pPr>
            <a:r>
              <a:rPr lang="en-US" sz="2700" b="1" dirty="0">
                <a:solidFill>
                  <a:srgbClr val="123A47"/>
                </a:solidFill>
                <a:latin typeface="Cambria" pitchFamily="34" charset="0"/>
                <a:ea typeface="Cambria" pitchFamily="34" charset="-122"/>
                <a:cs typeface="Cambria" pitchFamily="34" charset="-120"/>
              </a:rPr>
              <a:t>What could go wrong, and what we do about it.</a:t>
            </a:r>
            <a:endParaRPr lang="en-US" sz="2700" dirty="0"/>
          </a:p>
        </p:txBody>
      </p:sp>
      <p:sp>
        <p:nvSpPr>
          <p:cNvPr id="6" name="Shape 4"/>
          <p:cNvSpPr/>
          <p:nvPr/>
        </p:nvSpPr>
        <p:spPr>
          <a:xfrm>
            <a:off x="566928" y="1207008"/>
            <a:ext cx="11027664" cy="877824"/>
          </a:xfrm>
          <a:prstGeom prst="roundRect">
            <a:avLst>
              <a:gd name="adj" fmla="val 7292"/>
            </a:avLst>
          </a:prstGeom>
          <a:solidFill>
            <a:srgbClr val="EDF2F3"/>
          </a:solidFill>
          <a:ln w="9525">
            <a:solidFill>
              <a:srgbClr val="D5DFE2"/>
            </a:solidFill>
            <a:prstDash val="solid"/>
          </a:ln>
        </p:spPr>
      </p:sp>
      <p:sp>
        <p:nvSpPr>
          <p:cNvPr id="7" name="Text 5"/>
          <p:cNvSpPr txBox="1"/>
          <p:nvPr/>
        </p:nvSpPr>
        <p:spPr>
          <a:xfrm>
            <a:off x="786384" y="1316736"/>
            <a:ext cx="3931920" cy="658368"/>
          </a:xfrm>
          <a:prstGeom prst="rect">
            <a:avLst/>
          </a:prstGeom>
          <a:noFill/>
          <a:ln/>
        </p:spPr>
        <p:txBody>
          <a:bodyPr wrap="square" lIns="0" tIns="0" rIns="0" bIns="0" rtlCol="0" anchor="ctr"/>
          <a:lstStyle/>
          <a:p>
            <a:pPr indent="0" marL="0">
              <a:lnSpc>
                <a:spcPts val="1400"/>
              </a:lnSpc>
              <a:buNone/>
            </a:pPr>
            <a:r>
              <a:rPr lang="en-US" sz="1150" b="1" dirty="0">
                <a:solidFill>
                  <a:srgbClr val="123A47"/>
                </a:solidFill>
                <a:latin typeface="Calibri" pitchFamily="34" charset="0"/>
                <a:ea typeface="Calibri" pitchFamily="34" charset="-122"/>
                <a:cs typeface="Calibri" pitchFamily="34" charset="-120"/>
              </a:rPr>
              <a:t>A funder changes a criterion and our rule goes stale</a:t>
            </a:r>
            <a:endParaRPr lang="en-US" sz="1150" dirty="0"/>
          </a:p>
        </p:txBody>
      </p:sp>
      <p:sp>
        <p:nvSpPr>
          <p:cNvPr id="8" name="Text 6"/>
          <p:cNvSpPr txBox="1"/>
          <p:nvPr/>
        </p:nvSpPr>
        <p:spPr>
          <a:xfrm>
            <a:off x="4937760" y="1298448"/>
            <a:ext cx="6638544" cy="694944"/>
          </a:xfrm>
          <a:prstGeom prst="rect">
            <a:avLst/>
          </a:prstGeom>
          <a:noFill/>
          <a:ln/>
        </p:spPr>
        <p:txBody>
          <a:bodyPr wrap="square" lIns="0" tIns="0" rIns="0" bIns="0" rtlCol="0" anchor="ctr"/>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Every rule carries a last-checked date, shown to the founder alongside the funder’s own link. Updating a criterion is a one-line data edit. At scale, the maintainer is the intermediary who already owns that criterion.</a:t>
            </a:r>
            <a:endParaRPr lang="en-US" sz="1050" dirty="0"/>
          </a:p>
        </p:txBody>
      </p:sp>
      <p:sp>
        <p:nvSpPr>
          <p:cNvPr id="9" name="Shape 7"/>
          <p:cNvSpPr/>
          <p:nvPr/>
        </p:nvSpPr>
        <p:spPr>
          <a:xfrm>
            <a:off x="566928" y="2176272"/>
            <a:ext cx="11027664" cy="877824"/>
          </a:xfrm>
          <a:prstGeom prst="roundRect">
            <a:avLst>
              <a:gd name="adj" fmla="val 7292"/>
            </a:avLst>
          </a:prstGeom>
          <a:solidFill>
            <a:srgbClr val="FFFFFF"/>
          </a:solidFill>
          <a:ln w="9525">
            <a:solidFill>
              <a:srgbClr val="D5DFE2"/>
            </a:solidFill>
            <a:prstDash val="solid"/>
          </a:ln>
        </p:spPr>
      </p:sp>
      <p:sp>
        <p:nvSpPr>
          <p:cNvPr id="10" name="Text 8"/>
          <p:cNvSpPr txBox="1"/>
          <p:nvPr/>
        </p:nvSpPr>
        <p:spPr>
          <a:xfrm>
            <a:off x="786384" y="2286000"/>
            <a:ext cx="3931920" cy="658368"/>
          </a:xfrm>
          <a:prstGeom prst="rect">
            <a:avLst/>
          </a:prstGeom>
          <a:noFill/>
          <a:ln/>
        </p:spPr>
        <p:txBody>
          <a:bodyPr wrap="square" lIns="0" tIns="0" rIns="0" bIns="0" rtlCol="0" anchor="ctr"/>
          <a:lstStyle/>
          <a:p>
            <a:pPr indent="0" marL="0">
              <a:lnSpc>
                <a:spcPts val="1400"/>
              </a:lnSpc>
              <a:buNone/>
            </a:pPr>
            <a:r>
              <a:rPr lang="en-US" sz="1150" b="1" dirty="0">
                <a:solidFill>
                  <a:srgbClr val="123A47"/>
                </a:solidFill>
                <a:latin typeface="Calibri" pitchFamily="34" charset="0"/>
                <a:ea typeface="Calibri" pitchFamily="34" charset="-122"/>
                <a:cs typeface="Calibri" pitchFamily="34" charset="-120"/>
              </a:rPr>
              <a:t>A founder relies on an eligibility result that is wrong</a:t>
            </a:r>
            <a:endParaRPr lang="en-US" sz="1150" dirty="0"/>
          </a:p>
        </p:txBody>
      </p:sp>
      <p:sp>
        <p:nvSpPr>
          <p:cNvPr id="11" name="Text 9"/>
          <p:cNvSpPr txBox="1"/>
          <p:nvPr/>
        </p:nvSpPr>
        <p:spPr>
          <a:xfrm>
            <a:off x="4937760" y="2267712"/>
            <a:ext cx="6638544" cy="694944"/>
          </a:xfrm>
          <a:prstGeom prst="rect">
            <a:avLst/>
          </a:prstGeom>
          <a:noFill/>
          <a:ln/>
        </p:spPr>
        <p:txBody>
          <a:bodyPr wrap="square" lIns="0" tIns="0" rIns="0" bIns="0" rtlCol="0" anchor="ctr"/>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Results are never phrased as a guarantee. Each carries its source and the instruction to confirm with the funder. Eligibility is deterministic and auditable, so an error is findable rather than mysterious.</a:t>
            </a:r>
            <a:endParaRPr lang="en-US" sz="1050" dirty="0"/>
          </a:p>
        </p:txBody>
      </p:sp>
      <p:sp>
        <p:nvSpPr>
          <p:cNvPr id="12" name="Shape 10"/>
          <p:cNvSpPr/>
          <p:nvPr/>
        </p:nvSpPr>
        <p:spPr>
          <a:xfrm>
            <a:off x="566928" y="3145536"/>
            <a:ext cx="11027664" cy="877824"/>
          </a:xfrm>
          <a:prstGeom prst="roundRect">
            <a:avLst>
              <a:gd name="adj" fmla="val 7292"/>
            </a:avLst>
          </a:prstGeom>
          <a:solidFill>
            <a:srgbClr val="EDF2F3"/>
          </a:solidFill>
          <a:ln w="9525">
            <a:solidFill>
              <a:srgbClr val="D5DFE2"/>
            </a:solidFill>
            <a:prstDash val="solid"/>
          </a:ln>
        </p:spPr>
      </p:sp>
      <p:sp>
        <p:nvSpPr>
          <p:cNvPr id="13" name="Text 11"/>
          <p:cNvSpPr txBox="1"/>
          <p:nvPr/>
        </p:nvSpPr>
        <p:spPr>
          <a:xfrm>
            <a:off x="786384" y="3255264"/>
            <a:ext cx="3931920" cy="658368"/>
          </a:xfrm>
          <a:prstGeom prst="rect">
            <a:avLst/>
          </a:prstGeom>
          <a:noFill/>
          <a:ln/>
        </p:spPr>
        <p:txBody>
          <a:bodyPr wrap="square" lIns="0" tIns="0" rIns="0" bIns="0" rtlCol="0" anchor="ctr"/>
          <a:lstStyle/>
          <a:p>
            <a:pPr indent="0" marL="0">
              <a:lnSpc>
                <a:spcPts val="1400"/>
              </a:lnSpc>
              <a:buNone/>
            </a:pPr>
            <a:r>
              <a:rPr lang="en-US" sz="1150" b="1" dirty="0">
                <a:solidFill>
                  <a:srgbClr val="123A47"/>
                </a:solidFill>
                <a:latin typeface="Calibri" pitchFamily="34" charset="0"/>
                <a:ea typeface="Calibri" pitchFamily="34" charset="-122"/>
                <a:cs typeface="Calibri" pitchFamily="34" charset="-120"/>
              </a:rPr>
              <a:t>A founder submits an AI-estimated number believing they wrote it</a:t>
            </a:r>
            <a:endParaRPr lang="en-US" sz="1150" dirty="0"/>
          </a:p>
        </p:txBody>
      </p:sp>
      <p:sp>
        <p:nvSpPr>
          <p:cNvPr id="14" name="Text 12"/>
          <p:cNvSpPr txBox="1"/>
          <p:nvPr/>
        </p:nvSpPr>
        <p:spPr>
          <a:xfrm>
            <a:off x="4937760" y="3236976"/>
            <a:ext cx="6638544" cy="694944"/>
          </a:xfrm>
          <a:prstGeom prst="rect">
            <a:avLst/>
          </a:prstGeom>
          <a:noFill/>
          <a:ln/>
        </p:spPr>
        <p:txBody>
          <a:bodyPr wrap="square" lIns="0" tIns="0" rIns="0" bIns="0" rtlCol="0" anchor="ctr"/>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Every value the system supplied rather than heard is flagged in the draft and must be confirmed. This is the single failure we designed hardest against.</a:t>
            </a:r>
            <a:endParaRPr lang="en-US" sz="1050" dirty="0"/>
          </a:p>
        </p:txBody>
      </p:sp>
      <p:sp>
        <p:nvSpPr>
          <p:cNvPr id="15" name="Shape 13"/>
          <p:cNvSpPr/>
          <p:nvPr/>
        </p:nvSpPr>
        <p:spPr>
          <a:xfrm>
            <a:off x="566928" y="4114800"/>
            <a:ext cx="11027664" cy="877824"/>
          </a:xfrm>
          <a:prstGeom prst="roundRect">
            <a:avLst>
              <a:gd name="adj" fmla="val 7292"/>
            </a:avLst>
          </a:prstGeom>
          <a:solidFill>
            <a:srgbClr val="FFFFFF"/>
          </a:solidFill>
          <a:ln w="9525">
            <a:solidFill>
              <a:srgbClr val="D5DFE2"/>
            </a:solidFill>
            <a:prstDash val="solid"/>
          </a:ln>
        </p:spPr>
      </p:sp>
      <p:sp>
        <p:nvSpPr>
          <p:cNvPr id="16" name="Text 14"/>
          <p:cNvSpPr txBox="1"/>
          <p:nvPr/>
        </p:nvSpPr>
        <p:spPr>
          <a:xfrm>
            <a:off x="786384" y="4224528"/>
            <a:ext cx="3931920" cy="658368"/>
          </a:xfrm>
          <a:prstGeom prst="rect">
            <a:avLst/>
          </a:prstGeom>
          <a:noFill/>
          <a:ln/>
        </p:spPr>
        <p:txBody>
          <a:bodyPr wrap="square" lIns="0" tIns="0" rIns="0" bIns="0" rtlCol="0" anchor="ctr"/>
          <a:lstStyle/>
          <a:p>
            <a:pPr indent="0" marL="0">
              <a:lnSpc>
                <a:spcPts val="1400"/>
              </a:lnSpc>
              <a:buNone/>
            </a:pPr>
            <a:r>
              <a:rPr lang="en-US" sz="1150" b="1" dirty="0">
                <a:solidFill>
                  <a:srgbClr val="123A47"/>
                </a:solidFill>
                <a:latin typeface="Calibri" pitchFamily="34" charset="0"/>
                <a:ea typeface="Calibri" pitchFamily="34" charset="-122"/>
                <a:cs typeface="Calibri" pitchFamily="34" charset="-120"/>
              </a:rPr>
              <a:t>Accessibility claims that were never tested with disabled users</a:t>
            </a:r>
            <a:endParaRPr lang="en-US" sz="1150" dirty="0"/>
          </a:p>
        </p:txBody>
      </p:sp>
      <p:sp>
        <p:nvSpPr>
          <p:cNvPr id="17" name="Text 15"/>
          <p:cNvSpPr txBox="1"/>
          <p:nvPr/>
        </p:nvSpPr>
        <p:spPr>
          <a:xfrm>
            <a:off x="4937760" y="4206240"/>
            <a:ext cx="6638544" cy="694944"/>
          </a:xfrm>
          <a:prstGeom prst="rect">
            <a:avLst/>
          </a:prstGeom>
          <a:noFill/>
          <a:ln/>
        </p:spPr>
        <p:txBody>
          <a:bodyPr wrap="square" lIns="0" tIns="0" rIns="0" bIns="0" rtlCol="0" anchor="ctr"/>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We built to WCAG structure and to the interaction patterns the research points to, but we have not yet tested with screen-reader users. That is the first thing we would do next, and we would not claim otherwise.</a:t>
            </a:r>
            <a:endParaRPr lang="en-US" sz="1050" dirty="0"/>
          </a:p>
        </p:txBody>
      </p:sp>
      <p:sp>
        <p:nvSpPr>
          <p:cNvPr id="18" name="Shape 16"/>
          <p:cNvSpPr/>
          <p:nvPr/>
        </p:nvSpPr>
        <p:spPr>
          <a:xfrm>
            <a:off x="566928" y="5084064"/>
            <a:ext cx="11027664" cy="877824"/>
          </a:xfrm>
          <a:prstGeom prst="roundRect">
            <a:avLst>
              <a:gd name="adj" fmla="val 7292"/>
            </a:avLst>
          </a:prstGeom>
          <a:solidFill>
            <a:srgbClr val="EDF2F3"/>
          </a:solidFill>
          <a:ln w="9525">
            <a:solidFill>
              <a:srgbClr val="D5DFE2"/>
            </a:solidFill>
            <a:prstDash val="solid"/>
          </a:ln>
        </p:spPr>
      </p:sp>
      <p:sp>
        <p:nvSpPr>
          <p:cNvPr id="19" name="Text 17"/>
          <p:cNvSpPr txBox="1"/>
          <p:nvPr/>
        </p:nvSpPr>
        <p:spPr>
          <a:xfrm>
            <a:off x="786384" y="5193792"/>
            <a:ext cx="3931920" cy="658368"/>
          </a:xfrm>
          <a:prstGeom prst="rect">
            <a:avLst/>
          </a:prstGeom>
          <a:noFill/>
          <a:ln/>
        </p:spPr>
        <p:txBody>
          <a:bodyPr wrap="square" lIns="0" tIns="0" rIns="0" bIns="0" rtlCol="0" anchor="ctr"/>
          <a:lstStyle/>
          <a:p>
            <a:pPr indent="0" marL="0">
              <a:lnSpc>
                <a:spcPts val="1400"/>
              </a:lnSpc>
              <a:buNone/>
            </a:pPr>
            <a:r>
              <a:rPr lang="en-US" sz="1150" b="1" dirty="0">
                <a:solidFill>
                  <a:srgbClr val="123A47"/>
                </a:solidFill>
                <a:latin typeface="Calibri" pitchFamily="34" charset="0"/>
                <a:ea typeface="Calibri" pitchFamily="34" charset="-122"/>
                <a:cs typeface="Calibri" pitchFamily="34" charset="-120"/>
              </a:rPr>
              <a:t>Our stated business model never materialises</a:t>
            </a:r>
            <a:endParaRPr lang="en-US" sz="1150" dirty="0"/>
          </a:p>
        </p:txBody>
      </p:sp>
      <p:sp>
        <p:nvSpPr>
          <p:cNvPr id="20" name="Text 18"/>
          <p:cNvSpPr txBox="1"/>
          <p:nvPr/>
        </p:nvSpPr>
        <p:spPr>
          <a:xfrm>
            <a:off x="4937760" y="5175504"/>
            <a:ext cx="6638544" cy="694944"/>
          </a:xfrm>
          <a:prstGeom prst="rect">
            <a:avLst/>
          </a:prstGeom>
          <a:noFill/>
          <a:ln/>
        </p:spPr>
        <p:txBody>
          <a:bodyPr wrap="square" lIns="0" tIns="0" rIns="0" bIns="0" rtlCol="0" anchor="ctr"/>
          <a:lstStyle/>
          <a:p>
            <a:pPr indent="0" marL="0">
              <a:lnSpc>
                <a:spcPts val="1300"/>
              </a:lnSpc>
              <a:buNone/>
            </a:pPr>
            <a:r>
              <a:rPr lang="en-US" sz="1050" dirty="0">
                <a:solidFill>
                  <a:srgbClr val="6B7C83"/>
                </a:solidFill>
                <a:latin typeface="Calibri" pitchFamily="34" charset="0"/>
                <a:ea typeface="Calibri" pitchFamily="34" charset="-122"/>
                <a:cs typeface="Calibri" pitchFamily="34" charset="-120"/>
              </a:rPr>
              <a:t>It is presented as a pathway, not as revenue. The founder side is free and stays free; the product remains useful to a founder even if no intermediary ever pays.</a:t>
            </a:r>
            <a:endParaRPr lang="en-US" sz="1050" dirty="0"/>
          </a:p>
        </p:txBody>
      </p:sp>
      <p:sp>
        <p:nvSpPr>
          <p:cNvPr id="21" name="Text 19"/>
          <p:cNvSpPr txBox="1"/>
          <p:nvPr/>
        </p:nvSpPr>
        <p:spPr>
          <a:xfrm>
            <a:off x="566928" y="6382512"/>
            <a:ext cx="11027664" cy="274320"/>
          </a:xfrm>
          <a:prstGeom prst="rect">
            <a:avLst/>
          </a:prstGeom>
          <a:noFill/>
          <a:ln/>
        </p:spPr>
        <p:txBody>
          <a:bodyPr wrap="square" lIns="0" tIns="0" rIns="0" bIns="0" rtlCol="0" anchor="ctr"/>
          <a:lstStyle/>
          <a:p>
            <a:pPr indent="0" marL="0">
              <a:buNone/>
            </a:pPr>
            <a:r>
              <a:rPr lang="en-US" sz="850" i="1" dirty="0">
                <a:solidFill>
                  <a:srgbClr val="6B7C83"/>
                </a:solidFill>
                <a:latin typeface="Calibri" pitchFamily="34" charset="0"/>
                <a:ea typeface="Calibri" pitchFamily="34" charset="-122"/>
                <a:cs typeface="Calibri" pitchFamily="34" charset="-120"/>
              </a:rPr>
              <a:t>We would rather name a limitation than be asked about it. Every row above is a live constraint, not a hypothetical.</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Groundwork</dc:title>
  <dc:subject>PptxGenJS Presentation</dc:subject>
  <dc:creator>Vibe For Good 2026 — Challenge Statement #3</dc:creator>
  <cp:lastModifiedBy>Vibe For Good 2026 — Challenge Statement #3</cp:lastModifiedBy>
  <cp:revision>1</cp:revision>
  <dcterms:created xsi:type="dcterms:W3CDTF">2026-09-09T06:17:31Z</dcterms:created>
  <dcterms:modified xsi:type="dcterms:W3CDTF">2026-09-09T06:17:31Z</dcterms:modified>
</cp:coreProperties>
</file>